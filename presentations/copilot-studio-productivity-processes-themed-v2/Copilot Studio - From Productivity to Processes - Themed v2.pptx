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3.svg" ContentType="image/svg+xml"/>
  <Override PartName="/ppt/media/image16.svg" ContentType="image/svg+xml"/>
  <Override PartName="/ppt/media/image17.svg" ContentType="image/svg+xml"/>
  <Override PartName="/ppt/media/image18.svg" ContentType="image/svg+xml"/>
  <Override PartName="/ppt/media/image29.svg" ContentType="image/svg+xml"/>
  <Override PartName="/ppt/media/image3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96" r:id="rId10"/>
    <p:sldId id="29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81" d="100"/>
          <a:sy n="81" d="100"/>
        </p:scale>
        <p:origin x="80" y="15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talk track:</a:t>
            </a:r>
          </a:p>
          <a:p>
            <a:r>
              <a:t>"What makes Copilot Studio different is that governance isn't bolted on later. It's built into the platform from day one. Administrators can control who builds agents, what data they access, how they're deployed, how they're monitored, and how AI interactions are audited. That allows organizations to move from experimentation to production with confidence."</a:t>
            </a:r>
          </a:p>
          <a:p/>
          <a:p>
            <a:r>
              <a:t>Pillar prompts:</a:t>
            </a:r>
          </a:p>
          <a:p>
            <a:r>
              <a:t>Identity - Not everyone should be able to build, publish, or administer agents. Copilot Studio inherits enterprise identity and access controls through Power Platform.</a:t>
            </a:r>
          </a:p>
          <a:p>
            <a:r>
              <a:t>Security - Administrators decide what data, tools, connectors, and actions an agent can access.</a:t>
            </a:r>
          </a:p>
          <a:p>
            <a:r>
              <a:t>Lifecycle - Agents move through governed environments just like any other enterprise solution.</a:t>
            </a:r>
          </a:p>
          <a:p>
            <a:r>
              <a:t>Operations - Organizations need visibility into adoption, activity, and consumption before they can scale AI.</a:t>
            </a:r>
          </a:p>
          <a:p>
            <a:r>
              <a:t>Compliance - Purview provides the compliance layer for AI, enabling auditability, investigations, data protection, and compliance workflows.</a:t>
            </a:r>
          </a:p>
          <a:p/>
          <a:p>
            <a:r>
              <a:t>Close: You don't need another governance platform. Governance is built in.</a:t>
            </a:r>
          </a:p>
          <a:p/>
          <a:p>
            <a:r>
              <a:t>Sources:</a:t>
            </a:r>
          </a:p>
          <a:p>
            <a:r>
              <a:t>https://learn.microsoft.com/en-us/microsoft-copilot-studio/security-and-governance</a:t>
            </a:r>
          </a:p>
          <a:p>
            <a:r>
              <a:t>https://learn.microsoft.com/en-us/purview/ai-copilot-studio</a:t>
            </a:r>
          </a:p>
          <a:p>
            <a:r>
              <a:t>https://learn.microsoft.com/en-us/microsoft-copilot-studio/admin-logging-copilot-studio</a:t>
            </a:r>
          </a:p>
          <a:p>
            <a:r>
              <a:t>https://microsoft.sharepoint.com/teams/BSWHExternal/Shared%20Documents/Microsoft%20BSWH%20AI%20SWAT%20Team/Copilot%20Studio%20Agent%20Governance%20&amp;%20Security%20Controls%20TDM%20(L300).pdf?web=1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sv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microsoft.github.io/agent-academy/" TargetMode="External"/><Relationship Id="rId3" Type="http://schemas.openxmlformats.org/officeDocument/2006/relationships/hyperlink" Target="https://learn.microsoft.com/microsoft-copilot-studio/" TargetMode="External"/><Relationship Id="rId4" Type="http://schemas.openxmlformats.org/officeDocument/2006/relationships/hyperlink" Target="https://github.com/microsoft/mcs-labs" TargetMode="External"/><Relationship Id="rId5" Type="http://schemas.openxmlformats.org/officeDocument/2006/relationships/hyperlink" Target="https://learn.microsoft.com/training/modules/power-virtual-agents-create-online-workshop/" TargetMode="External"/><Relationship Id="rId6" Type="http://schemas.openxmlformats.org/officeDocument/2006/relationships/hyperlink" Target="https://learn.microsoft.com/training/paths/create-extend-custom-copilots-microsoft-copilot-studio/" TargetMode="External"/><Relationship Id="rId7" Type="http://schemas.openxmlformats.org/officeDocument/2006/relationships/hyperlink" Target="https://adoption.microsoft.com/en-us/ai-agents/copilot-studio/" TargetMode="External"/><Relationship Id="rId8" Type="http://schemas.openxmlformats.org/officeDocument/2006/relationships/hyperlink" Target="https://learn.microsoft.com/microsoft-copilot-studio/guidance/plan-overview" TargetMode="External"/><Relationship Id="rId9" Type="http://schemas.openxmlformats.org/officeDocument/2006/relationships/image" Target="../media/image3.png"/><Relationship Id="rId10" Type="http://schemas.openxmlformats.org/officeDocument/2006/relationships/image" Target="../media/image34.png"/><Relationship Id="rId11" Type="http://schemas.openxmlformats.org/officeDocument/2006/relationships/image" Target="../media/image35.svg"/><Relationship Id="rId12"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VENDOR SUBMISSION</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Illinois Vendor Submission Assistant</a:t>
            </a:r>
            <a:endParaRPr lang="en-US" sz="2400" dirty="0"/>
          </a:p>
        </p:txBody>
      </p:sp>
      <p:sp>
        <p:nvSpPr>
          <p:cNvPr id="4" name="Text 2"/>
          <p:cNvSpPr/>
          <p:nvPr/>
        </p:nvSpPr>
        <p:spPr>
          <a:xfrm>
            <a:off x="777240" y="155448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conversational agent reads vendor documents, validates them against business rules, and files a structured submission automatically.</a:t>
            </a:r>
            <a:endParaRPr lang="en-US" sz="13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
        <p:nvSpPr>
          <p:cNvPr id="8" name="cardbg0"/>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0"/>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cardhead0"/>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Submit</a:t>
            </a:r>
            <a:endParaRPr lang="en-US" sz="1450" dirty="0"/>
          </a:p>
        </p:txBody>
      </p:sp>
      <p:sp>
        <p:nvSpPr>
          <p:cNvPr id="12" name="cardbody0"/>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Upload the proposal packet</a:t>
            </a:r>
            <a:endParaRPr lang="en-US" sz="1100" dirty="0"/>
          </a:p>
          <a:p>
            <a:r>
              <a:rPr lang="en-US" sz="900" b="0" dirty="0">
                <a:solidFill>
                  <a:srgbClr val="5B6672"/>
                </a:solidFill>
                <a:latin typeface="Segoe UI" pitchFamily="34" charset="0"/>
                <a:ea typeface="Segoe UI" pitchFamily="34" charset="-122"/>
                <a:cs typeface="Segoe UI" pitchFamily="34" charset="-120"/>
              </a:rPr>
              <a:t>•  Agent greets the vendor on the website</a:t>
            </a:r>
          </a:p>
          <a:p>
            <a:r>
              <a:rPr lang="en-US" sz="900" b="0" dirty="0">
                <a:solidFill>
                  <a:srgbClr val="5B6672"/>
                </a:solidFill>
                <a:latin typeface="Segoe UI" pitchFamily="34" charset="0"/>
                <a:ea typeface="Segoe UI" pitchFamily="34" charset="-122"/>
                <a:cs typeface="Segoe UI" pitchFamily="34" charset="-120"/>
              </a:rPr>
              <a:t>•  Vendor asks to submit a new proposal</a:t>
            </a:r>
          </a:p>
          <a:p>
            <a:r>
              <a:rPr lang="en-US" sz="900" b="0" dirty="0">
                <a:solidFill>
                  <a:srgbClr val="5B6672"/>
                </a:solidFill>
                <a:latin typeface="Segoe UI" pitchFamily="34" charset="0"/>
                <a:ea typeface="Segoe UI" pitchFamily="34" charset="-122"/>
                <a:cs typeface="Segoe UI" pitchFamily="34" charset="-120"/>
              </a:rPr>
              <a:t>•  Vendor uploads the PDFs</a:t>
            </a:r>
          </a:p>
        </p:txBody>
      </p:sp>
      <p:pic>
        <p:nvPicPr>
          <p:cNvPr id="33" name="Picture 32" descr="image.png"/>
          <p:cNvPicPr>
            <a:picLocks noChangeAspect="1"/>
          </p:cNvPicPr>
          <p:nvPr/>
        </p:nvPicPr>
        <p:blipFill>
          <a:blip r:embed="rId3"/>
          <a:stretch>
            <a:fillRect/>
          </a:stretch>
        </p:blipFill>
        <p:spPr>
          <a:xfrm>
            <a:off x="3145536" y="2715768"/>
            <a:ext cx="502920" cy="502920"/>
          </a:xfrm>
          <a:prstGeom prst="rect">
            <a:avLst/>
          </a:prstGeom>
        </p:spPr>
      </p:pic>
      <p:sp>
        <p:nvSpPr>
          <p:cNvPr id="10" name="cardbg1"/>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3" name="cardnum1"/>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2</a:t>
            </a:r>
            <a:endParaRPr lang="en-US" sz="3000" dirty="0"/>
          </a:p>
        </p:txBody>
      </p:sp>
      <p:sp>
        <p:nvSpPr>
          <p:cNvPr id="14" name="cardhead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Validate</a:t>
            </a:r>
            <a:endParaRPr lang="en-US" sz="1450" dirty="0"/>
          </a:p>
        </p:txBody>
      </p:sp>
      <p:sp>
        <p:nvSpPr>
          <p:cNvPr id="15" name="cardbody1"/>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Extract, summarize, and check</a:t>
            </a:r>
            <a:endParaRPr lang="en-US" sz="1100" dirty="0"/>
          </a:p>
          <a:p>
            <a:r>
              <a:rPr lang="en-US" sz="900" b="0" dirty="0">
                <a:solidFill>
                  <a:srgbClr val="5B6672"/>
                </a:solidFill>
                <a:latin typeface="Segoe UI" pitchFamily="34" charset="0"/>
                <a:ea typeface="Segoe UI" pitchFamily="34" charset="-122"/>
                <a:cs typeface="Segoe UI" pitchFamily="34" charset="-120"/>
              </a:rPr>
              <a:t>•  Reads key fields — vendor, contact, $$$ value</a:t>
            </a:r>
          </a:p>
          <a:p>
            <a:r>
              <a:rPr lang="en-US" sz="900" b="0" dirty="0">
                <a:solidFill>
                  <a:srgbClr val="5B6672"/>
                </a:solidFill>
                <a:latin typeface="Segoe UI" pitchFamily="34" charset="0"/>
                <a:ea typeface="Segoe UI" pitchFamily="34" charset="-122"/>
                <a:cs typeface="Segoe UI" pitchFamily="34" charset="-120"/>
              </a:rPr>
              <a:t>•  Summarizes the details back to the vendor</a:t>
            </a:r>
          </a:p>
          <a:p>
            <a:r>
              <a:rPr lang="en-US" sz="900" b="0" dirty="0">
                <a:solidFill>
                  <a:srgbClr val="5B6672"/>
                </a:solidFill>
                <a:latin typeface="Segoe UI" pitchFamily="34" charset="0"/>
                <a:ea typeface="Segoe UI" pitchFamily="34" charset="-122"/>
                <a:cs typeface="Segoe UI" pitchFamily="34" charset="-120"/>
              </a:rPr>
              <a:t>•  Flags a soon-to-expire insurance certificate</a:t>
            </a:r>
          </a:p>
        </p:txBody>
      </p:sp>
      <p:pic>
        <p:nvPicPr>
          <p:cNvPr id="34" name="Picture 33" descr="power-automate.png"/>
          <p:cNvPicPr>
            <a:picLocks noChangeAspect="1"/>
          </p:cNvPicPr>
          <p:nvPr/>
        </p:nvPicPr>
        <p:blipFill>
          <a:blip r:embed="rId4"/>
          <a:stretch>
            <a:fillRect/>
          </a:stretch>
        </p:blipFill>
        <p:spPr>
          <a:xfrm>
            <a:off x="6839712" y="2705572"/>
            <a:ext cx="502920" cy="502920"/>
          </a:xfrm>
          <a:prstGeom prst="rect">
            <a:avLst/>
          </a:prstGeom>
        </p:spPr>
      </p:pic>
      <p:sp>
        <p:nvSpPr>
          <p:cNvPr id="16" name="cardbg2"/>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7" name="cardnum2"/>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3</a:t>
            </a:r>
            <a:endParaRPr lang="en-US" sz="3000" dirty="0"/>
          </a:p>
        </p:txBody>
      </p:sp>
      <p:sp>
        <p:nvSpPr>
          <p:cNvPr id="18" name="cardhead2"/>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19" name="cardbody2"/>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File a tracked submission</a:t>
            </a:r>
            <a:endParaRPr lang="en-US" sz="1100" dirty="0"/>
          </a:p>
          <a:p>
            <a:r>
              <a:rPr lang="en-US" sz="900" b="0" dirty="0">
                <a:solidFill>
                  <a:srgbClr val="5B6672"/>
                </a:solidFill>
                <a:latin typeface="Segoe UI" pitchFamily="34" charset="0"/>
                <a:ea typeface="Segoe UI" pitchFamily="34" charset="-122"/>
                <a:cs typeface="Segoe UI" pitchFamily="34" charset="-120"/>
              </a:rPr>
              <a:t>•  Vendor uploads an updated certificate</a:t>
            </a:r>
          </a:p>
          <a:p>
            <a:r>
              <a:rPr lang="en-US" sz="900" b="0" dirty="0">
                <a:solidFill>
                  <a:srgbClr val="5B6672"/>
                </a:solidFill>
                <a:latin typeface="Segoe UI" pitchFamily="34" charset="0"/>
                <a:ea typeface="Segoe UI" pitchFamily="34" charset="-122"/>
                <a:cs typeface="Segoe UI" pitchFamily="34" charset="-120"/>
              </a:rPr>
              <a:t>•  Corrected date written to the record</a:t>
            </a:r>
          </a:p>
          <a:p>
            <a:r>
              <a:rPr lang="en-US" sz="900" b="0" dirty="0">
                <a:solidFill>
                  <a:srgbClr val="5B6672"/>
                </a:solidFill>
                <a:latin typeface="Segoe UI" pitchFamily="34" charset="0"/>
                <a:ea typeface="Segoe UI" pitchFamily="34" charset="-122"/>
                <a:cs typeface="Segoe UI" pitchFamily="34" charset="-120"/>
              </a:rPr>
              <a:t>•  Confirms Submission ID VND-2026-##### and status</a:t>
            </a:r>
          </a:p>
        </p:txBody>
      </p:sp>
      <p:pic>
        <p:nvPicPr>
          <p:cNvPr id="35" name="Picture 34" descr="dataverse.png"/>
          <p:cNvPicPr>
            <a:picLocks noChangeAspect="1"/>
          </p:cNvPicPr>
          <p:nvPr/>
        </p:nvPicPr>
        <p:blipFill>
          <a:blip r:embed="rId5"/>
          <a:stretch>
            <a:fillRect/>
          </a:stretch>
        </p:blipFill>
        <p:spPr>
          <a:xfrm>
            <a:off x="10533888" y="2715768"/>
            <a:ext cx="502920" cy="502920"/>
          </a:xfrm>
          <a:prstGeom prst="rect">
            <a:avLst/>
          </a:prstGeom>
        </p:spPr>
      </p:pic>
      <p:sp>
        <p:nvSpPr>
          <p:cNvPr id="23" name="calloutbg"/>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callouttx"/>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document extraction   •   business-rule validation   •   automated filing   •   tracked submission ID</a:t>
            </a:r>
            <a:endParaRPr lang="en-US" sz="1120" dirty="0"/>
          </a:p>
        </p:txBody>
      </p:sp>
      <p:pic>
        <p:nvPicPr>
          <p:cNvPr id="25" name="Image 0" descr="preencoded.png">
            <a:extLst>
              <a:ext uri="{FF2B5EF4-FFF2-40B4-BE49-F238E27FC236}">
                <a16:creationId xmlns:a16="http://schemas.microsoft.com/office/drawing/2014/main" id="{1B5B4354-1106-14E8-4548-F25B2B2703DC}"/>
              </a:ext>
            </a:extLst>
          </p:cNvPr>
          <p:cNvPicPr>
            <a:picLocks noChangeAspect="1"/>
          </p:cNvPicPr>
          <p:nvPr/>
        </p:nvPicPr>
        <p:blipFill>
          <a:blip r:embed="rId6"/>
          <a:stretch>
            <a:fillRect/>
          </a:stretch>
        </p:blipFill>
        <p:spPr>
          <a:xfrm>
            <a:off x="2672638" y="2762540"/>
            <a:ext cx="429768" cy="429768"/>
          </a:xfrm>
          <a:prstGeom prst="rect">
            <a:avLst/>
          </a:prstGeom>
        </p:spPr>
      </p:pic>
      <p:pic>
        <p:nvPicPr>
          <p:cNvPr id="27" name="Picture 26" descr="image.png">
            <a:extLst>
              <a:ext uri="{FF2B5EF4-FFF2-40B4-BE49-F238E27FC236}">
                <a16:creationId xmlns:a16="http://schemas.microsoft.com/office/drawing/2014/main" id="{0A2B537D-792E-8A61-5AEA-EA5E1F690400}"/>
              </a:ext>
            </a:extLst>
          </p:cNvPr>
          <p:cNvPicPr>
            <a:picLocks noChangeAspect="1"/>
          </p:cNvPicPr>
          <p:nvPr/>
        </p:nvPicPr>
        <p:blipFill>
          <a:blip r:embed="rId3"/>
          <a:stretch>
            <a:fillRect/>
          </a:stretch>
        </p:blipFill>
        <p:spPr>
          <a:xfrm>
            <a:off x="10885932" y="436444"/>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NEXT STEPS</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r>
              <a:rPr lang="en-US" sz="2500" b="1" dirty="0">
                <a:solidFill>
                  <a:srgbClr val="091F2C"/>
                </a:solidFill>
                <a:latin typeface="Segoe UI Semibold" pitchFamily="34" charset="0"/>
                <a:ea typeface="Segoe UI Semibold" pitchFamily="34" charset="-122"/>
                <a:cs typeface="Segoe UI Semibold" pitchFamily="34" charset="-120"/>
              </a:rPr>
              <a:t>Where to Start Learning with </a:t>
            </a:r>
            <a:r>
              <a:rPr lang="en-US" sz="2500" b="1" dirty="0">
                <a:solidFill>
                  <a:srgbClr val="8661C5"/>
                </a:solidFill>
                <a:latin typeface="Segoe UI Semibold" pitchFamily="34" charset="0"/>
                <a:ea typeface="Segoe UI Semibold" pitchFamily="34" charset="-122"/>
                <a:cs typeface="Segoe UI Semibold" pitchFamily="34" charset="-120"/>
              </a:rPr>
              <a:t>Copilot Studio </a:t>
            </a:r>
            <a:endParaRPr lang="en-US" sz="2500" dirty="0"/>
          </a:p>
        </p:txBody>
      </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10</a:t>
            </a:r>
            <a:endParaRPr lang="en-US" sz="900" dirty="0"/>
          </a:p>
        </p:txBody>
      </p:sp>
      <p:sp>
        <p:nvSpPr>
          <p:cNvPr id="8" name="Shape 5"/>
          <p:cNvSpPr/>
          <p:nvPr/>
        </p:nvSpPr>
        <p:spPr>
          <a:xfrm>
            <a:off x="685800"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9" name="TextBox 28"/>
          <p:cNvSpPr txBox="1"/>
          <p:nvPr/>
        </p:nvSpPr>
        <p:spPr>
          <a:xfrm>
            <a:off x="868680" y="3675887"/>
            <a:ext cx="1965960" cy="230832"/>
          </a:xfrm>
          <a:prstGeom prst="rect">
            <a:avLst/>
          </a:prstGeom>
          <a:noFill/>
        </p:spPr>
        <p:txBody>
          <a:bodyPr wrap="square" lIns="0" tIns="0" rIns="0" bIns="0" anchor="t">
            <a:spAutoFit/>
          </a:bodyPr>
          <a:lstStyle/>
          <a:p>
            <a:pPr algn="ctr"/>
            <a:r>
              <a:rPr lang="en-US" sz="1500" b="1" dirty="0">
                <a:solidFill>
                  <a:srgbClr val="201F33"/>
                </a:solidFill>
                <a:latin typeface="Segoe UI Semibold"/>
              </a:rPr>
              <a:t>Agent Academy</a:t>
            </a:r>
            <a:endParaRPr sz="1500" b="1" u="none" dirty="0">
              <a:solidFill>
                <a:srgbClr val="201F33"/>
              </a:solidFill>
              <a:latin typeface="Segoe UI Semibold"/>
            </a:endParaRPr>
          </a:p>
        </p:txBody>
      </p:sp>
      <p:sp>
        <p:nvSpPr>
          <p:cNvPr id="30" name="TextBox 29"/>
          <p:cNvSpPr txBox="1"/>
          <p:nvPr/>
        </p:nvSpPr>
        <p:spPr>
          <a:xfrm>
            <a:off x="886968" y="4041648"/>
            <a:ext cx="1929384" cy="530915"/>
          </a:xfrm>
          <a:prstGeom prst="rect">
            <a:avLst/>
          </a:prstGeom>
          <a:noFill/>
        </p:spPr>
        <p:txBody>
          <a:bodyPr wrap="square" lIns="0" tIns="0" rIns="0" bIns="0" anchor="t">
            <a:spAutoFit/>
          </a:bodyPr>
          <a:lstStyle/>
          <a:p>
            <a:pPr algn="ctr"/>
            <a:r>
              <a:rPr lang="en-US" sz="1150" dirty="0">
                <a:solidFill>
                  <a:srgbClr val="44445A"/>
                </a:solidFill>
                <a:latin typeface="Segoe UI"/>
              </a:rPr>
              <a:t>E</a:t>
            </a:r>
            <a:r>
              <a:rPr lang="en-US" sz="1150" b="0" u="none" dirty="0">
                <a:solidFill>
                  <a:srgbClr val="44445A"/>
                </a:solidFill>
                <a:latin typeface="Segoe UI"/>
              </a:rPr>
              <a:t>nterprise deployment, governance, security, and operational considerations</a:t>
            </a:r>
            <a:endParaRPr sz="1150" b="0" u="none" dirty="0">
              <a:solidFill>
                <a:srgbClr val="44445A"/>
              </a:solidFill>
              <a:latin typeface="Segoe UI"/>
            </a:endParaRPr>
          </a:p>
        </p:txBody>
      </p:sp>
      <p:sp>
        <p:nvSpPr>
          <p:cNvPr id="31" name="TextBox 30"/>
          <p:cNvSpPr txBox="1"/>
          <p:nvPr/>
        </p:nvSpPr>
        <p:spPr>
          <a:xfrm>
            <a:off x="868680" y="4773168"/>
            <a:ext cx="1965960" cy="161583"/>
          </a:xfrm>
          <a:prstGeom prst="rect">
            <a:avLst/>
          </a:prstGeom>
          <a:noFill/>
        </p:spPr>
        <p:txBody>
          <a:bodyPr wrap="square" lIns="0" tIns="0" rIns="0" bIns="0" anchor="t">
            <a:spAutoFit/>
          </a:bodyPr>
          <a:lstStyle/>
          <a:p>
            <a:pPr algn="ctr"/>
            <a:r>
              <a:rPr lang="en-US" sz="1050" b="0" u="sng" dirty="0">
                <a:solidFill>
                  <a:srgbClr val="464FEB"/>
                </a:solidFill>
                <a:latin typeface="Segoe UI Semibold"/>
                <a:hlinkClick r:id="rId2"/>
              </a:rPr>
              <a:t>Agent Academy</a:t>
            </a:r>
            <a:endParaRPr sz="1050" b="0" u="sng" dirty="0">
              <a:solidFill>
                <a:srgbClr val="464FEB"/>
              </a:solidFill>
              <a:latin typeface="Segoe UI Semibold"/>
              <a:hlinkClick r:id="rId3"/>
            </a:endParaRPr>
          </a:p>
        </p:txBody>
      </p:sp>
      <p:sp>
        <p:nvSpPr>
          <p:cNvPr id="5" name="Shape 5"/>
          <p:cNvSpPr/>
          <p:nvPr/>
        </p:nvSpPr>
        <p:spPr>
          <a:xfrm>
            <a:off x="357530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33" name="TextBox 32"/>
          <p:cNvSpPr txBox="1"/>
          <p:nvPr/>
        </p:nvSpPr>
        <p:spPr>
          <a:xfrm>
            <a:off x="3758184"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Labs</a:t>
            </a:r>
            <a:endParaRPr sz="1500" b="1" u="none" dirty="0">
              <a:solidFill>
                <a:srgbClr val="201F33"/>
              </a:solidFill>
              <a:latin typeface="Segoe UI Semibold"/>
            </a:endParaRPr>
          </a:p>
        </p:txBody>
      </p:sp>
      <p:sp>
        <p:nvSpPr>
          <p:cNvPr id="34" name="TextBox 33"/>
          <p:cNvSpPr txBox="1"/>
          <p:nvPr/>
        </p:nvSpPr>
        <p:spPr>
          <a:xfrm>
            <a:off x="3776472" y="4041648"/>
            <a:ext cx="1929384" cy="353943"/>
          </a:xfrm>
          <a:prstGeom prst="rect">
            <a:avLst/>
          </a:prstGeom>
          <a:noFill/>
        </p:spPr>
        <p:txBody>
          <a:bodyPr wrap="square" lIns="0" tIns="0" rIns="0" bIns="0" anchor="t">
            <a:spAutoFit/>
          </a:bodyPr>
          <a:lstStyle/>
          <a:p>
            <a:pPr algn="ctr"/>
            <a:r>
              <a:rPr sz="1150" b="0" u="none" dirty="0">
                <a:solidFill>
                  <a:srgbClr val="44445A"/>
                </a:solidFill>
                <a:latin typeface="Segoe UI"/>
              </a:rPr>
              <a:t>Hands-on workshops to create your first agent</a:t>
            </a:r>
            <a:r>
              <a:rPr lang="en-US" sz="1150" b="0" u="none" dirty="0">
                <a:solidFill>
                  <a:srgbClr val="44445A"/>
                </a:solidFill>
                <a:latin typeface="Segoe UI"/>
              </a:rPr>
              <a:t>s</a:t>
            </a:r>
            <a:endParaRPr sz="1150" b="0" u="none" dirty="0">
              <a:solidFill>
                <a:srgbClr val="44445A"/>
              </a:solidFill>
              <a:latin typeface="Segoe UI"/>
            </a:endParaRPr>
          </a:p>
        </p:txBody>
      </p:sp>
      <p:sp>
        <p:nvSpPr>
          <p:cNvPr id="35" name="TextBox 34"/>
          <p:cNvSpPr txBox="1"/>
          <p:nvPr/>
        </p:nvSpPr>
        <p:spPr>
          <a:xfrm>
            <a:off x="3758184" y="4773168"/>
            <a:ext cx="1965960" cy="161583"/>
          </a:xfrm>
          <a:prstGeom prst="rect">
            <a:avLst/>
          </a:prstGeom>
          <a:noFill/>
        </p:spPr>
        <p:txBody>
          <a:bodyPr wrap="square" lIns="0" tIns="0" rIns="0" bIns="0" anchor="t">
            <a:spAutoFit/>
          </a:bodyPr>
          <a:lstStyle/>
          <a:p>
            <a:pPr algn="ctr"/>
            <a:r>
              <a:rPr lang="en-US" sz="1050" b="0" u="sng" dirty="0">
                <a:solidFill>
                  <a:srgbClr val="464FEB"/>
                </a:solidFill>
                <a:latin typeface="Segoe UI Semibold"/>
                <a:hlinkClick r:id="rId4"/>
              </a:rPr>
              <a:t>Copilot Studio Labs</a:t>
            </a:r>
            <a:endParaRPr sz="1050" b="0" u="sng" dirty="0">
              <a:solidFill>
                <a:srgbClr val="464FEB"/>
              </a:solidFill>
              <a:latin typeface="Segoe UI Semibold"/>
              <a:hlinkClick r:id="rId5"/>
            </a:endParaRPr>
          </a:p>
        </p:txBody>
      </p:sp>
      <p:sp>
        <p:nvSpPr>
          <p:cNvPr id="6" name="Shape 5"/>
          <p:cNvSpPr/>
          <p:nvPr/>
        </p:nvSpPr>
        <p:spPr>
          <a:xfrm>
            <a:off x="6473952"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37" name="TextBox 36"/>
          <p:cNvSpPr txBox="1"/>
          <p:nvPr/>
        </p:nvSpPr>
        <p:spPr>
          <a:xfrm>
            <a:off x="6656832"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Learn</a:t>
            </a:r>
            <a:endParaRPr sz="1500" b="1" u="none" dirty="0">
              <a:solidFill>
                <a:srgbClr val="201F33"/>
              </a:solidFill>
              <a:latin typeface="Segoe UI Semibold"/>
            </a:endParaRPr>
          </a:p>
        </p:txBody>
      </p:sp>
      <p:sp>
        <p:nvSpPr>
          <p:cNvPr id="38" name="TextBox 37"/>
          <p:cNvSpPr txBox="1"/>
          <p:nvPr/>
        </p:nvSpPr>
        <p:spPr>
          <a:xfrm>
            <a:off x="6675120"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Structured training for agent design and development</a:t>
            </a:r>
          </a:p>
        </p:txBody>
      </p:sp>
      <p:sp>
        <p:nvSpPr>
          <p:cNvPr id="39" name="TextBox 38"/>
          <p:cNvSpPr txBox="1"/>
          <p:nvPr/>
        </p:nvSpPr>
        <p:spPr>
          <a:xfrm>
            <a:off x="6656832" y="4773168"/>
            <a:ext cx="1965960" cy="161583"/>
          </a:xfrm>
          <a:prstGeom prst="rect">
            <a:avLst/>
          </a:prstGeom>
          <a:noFill/>
        </p:spPr>
        <p:txBody>
          <a:bodyPr wrap="square" lIns="0" tIns="0" rIns="0" bIns="0" anchor="t">
            <a:spAutoFit/>
          </a:bodyPr>
          <a:lstStyle/>
          <a:p>
            <a:pPr algn="ctr"/>
            <a:r>
              <a:rPr sz="1050" b="0" u="sng" dirty="0">
                <a:solidFill>
                  <a:srgbClr val="464FEB"/>
                </a:solidFill>
                <a:latin typeface="Segoe UI Semibold"/>
                <a:hlinkClick r:id="rId6"/>
              </a:rPr>
              <a:t>Training </a:t>
            </a:r>
            <a:r>
              <a:rPr lang="en-US" sz="1050" b="0" u="sng" dirty="0">
                <a:solidFill>
                  <a:srgbClr val="464FEB"/>
                </a:solidFill>
                <a:latin typeface="Segoe UI Semibold"/>
                <a:hlinkClick r:id="rId6"/>
              </a:rPr>
              <a:t>P</a:t>
            </a:r>
            <a:r>
              <a:rPr sz="1050" b="0" u="sng" dirty="0">
                <a:solidFill>
                  <a:srgbClr val="464FEB"/>
                </a:solidFill>
                <a:latin typeface="Segoe UI Semibold"/>
                <a:hlinkClick r:id="rId6"/>
              </a:rPr>
              <a:t>ath</a:t>
            </a:r>
          </a:p>
        </p:txBody>
      </p:sp>
      <p:sp>
        <p:nvSpPr>
          <p:cNvPr id="7" name="Shape 5"/>
          <p:cNvSpPr/>
          <p:nvPr/>
        </p:nvSpPr>
        <p:spPr>
          <a:xfrm>
            <a:off x="938174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41" name="TextBox 40"/>
          <p:cNvSpPr txBox="1"/>
          <p:nvPr/>
        </p:nvSpPr>
        <p:spPr>
          <a:xfrm>
            <a:off x="9564624"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Adoption</a:t>
            </a:r>
            <a:endParaRPr sz="1500" b="1" u="none" dirty="0">
              <a:solidFill>
                <a:srgbClr val="201F33"/>
              </a:solidFill>
              <a:latin typeface="Segoe UI Semibold"/>
            </a:endParaRPr>
          </a:p>
        </p:txBody>
      </p:sp>
      <p:sp>
        <p:nvSpPr>
          <p:cNvPr id="42" name="TextBox 41"/>
          <p:cNvSpPr txBox="1"/>
          <p:nvPr/>
        </p:nvSpPr>
        <p:spPr>
          <a:xfrm>
            <a:off x="9582912"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Guidance and scenarios for organizational adoption</a:t>
            </a:r>
          </a:p>
        </p:txBody>
      </p:sp>
      <p:sp>
        <p:nvSpPr>
          <p:cNvPr id="43" name="TextBox 42"/>
          <p:cNvSpPr txBox="1"/>
          <p:nvPr/>
        </p:nvSpPr>
        <p:spPr>
          <a:xfrm>
            <a:off x="9564624" y="4773168"/>
            <a:ext cx="1965960" cy="161583"/>
          </a:xfrm>
          <a:prstGeom prst="rect">
            <a:avLst/>
          </a:prstGeom>
          <a:noFill/>
        </p:spPr>
        <p:txBody>
          <a:bodyPr wrap="square" lIns="0" tIns="0" rIns="0" bIns="0" anchor="t">
            <a:spAutoFit/>
          </a:bodyPr>
          <a:lstStyle/>
          <a:p>
            <a:pPr algn="ctr"/>
            <a:r>
              <a:rPr sz="1050" b="0" u="sng" dirty="0">
                <a:solidFill>
                  <a:srgbClr val="464FEB"/>
                </a:solidFill>
                <a:latin typeface="Segoe UI Semibold"/>
                <a:hlinkClick r:id="rId7"/>
              </a:rPr>
              <a:t>Adoption </a:t>
            </a:r>
            <a:r>
              <a:rPr lang="en-US" sz="1050" b="0" u="sng" dirty="0">
                <a:solidFill>
                  <a:srgbClr val="464FEB"/>
                </a:solidFill>
                <a:latin typeface="Segoe UI Semibold"/>
                <a:hlinkClick r:id="rId7"/>
              </a:rPr>
              <a:t>R</a:t>
            </a:r>
            <a:r>
              <a:rPr sz="1050" b="0" u="sng" dirty="0">
                <a:solidFill>
                  <a:srgbClr val="464FEB"/>
                </a:solidFill>
                <a:latin typeface="Segoe UI Semibold"/>
                <a:hlinkClick r:id="rId7"/>
              </a:rPr>
              <a:t>esources</a:t>
            </a:r>
            <a:endParaRPr sz="1050" b="0" u="sng" dirty="0">
              <a:solidFill>
                <a:srgbClr val="464FEB"/>
              </a:solidFill>
              <a:latin typeface="Segoe UI Semibold"/>
              <a:hlinkClick r:id="rId8"/>
            </a:endParaRPr>
          </a:p>
        </p:txBody>
      </p:sp>
      <p:sp>
        <p:nvSpPr>
          <p:cNvPr id="10" name="TextBox 9">
            <a:extLst>
              <a:ext uri="{FF2B5EF4-FFF2-40B4-BE49-F238E27FC236}">
                <a16:creationId xmlns:a16="http://schemas.microsoft.com/office/drawing/2014/main" id="{3C550C75-7216-8543-AA41-4C123DC3CEC1}"/>
              </a:ext>
            </a:extLst>
          </p:cNvPr>
          <p:cNvSpPr txBox="1"/>
          <p:nvPr/>
        </p:nvSpPr>
        <p:spPr>
          <a:xfrm>
            <a:off x="710546" y="1545035"/>
            <a:ext cx="6095276" cy="295466"/>
          </a:xfrm>
          <a:prstGeom prst="rect">
            <a:avLst/>
          </a:prstGeom>
          <a:noFill/>
        </p:spPr>
        <p:txBody>
          <a:bodyPr wrap="square">
            <a:sp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Curated resources to help your organization learn, build, and scale.</a:t>
            </a:r>
          </a:p>
        </p:txBody>
      </p:sp>
      <p:pic>
        <p:nvPicPr>
          <p:cNvPr id="14" name="Picture 13" descr="image.png">
            <a:extLst>
              <a:ext uri="{FF2B5EF4-FFF2-40B4-BE49-F238E27FC236}">
                <a16:creationId xmlns:a16="http://schemas.microsoft.com/office/drawing/2014/main" id="{8AFB681A-9930-7FEA-4158-4D345C894BA9}"/>
              </a:ext>
            </a:extLst>
          </p:cNvPr>
          <p:cNvPicPr>
            <a:picLocks noChangeAspect="1"/>
          </p:cNvPicPr>
          <p:nvPr/>
        </p:nvPicPr>
        <p:blipFill>
          <a:blip r:embed="rId9"/>
          <a:stretch>
            <a:fillRect/>
          </a:stretch>
        </p:blipFill>
        <p:spPr>
          <a:xfrm>
            <a:off x="10885932" y="436444"/>
            <a:ext cx="502920" cy="502920"/>
          </a:xfrm>
          <a:prstGeom prst="rect">
            <a:avLst/>
          </a:prstGeom>
        </p:spPr>
      </p:pic>
      <p:pic>
        <p:nvPicPr>
          <p:cNvPr id="9" name="Picture 8">
            <a:extLst>
              <a:ext uri="{FF2B5EF4-FFF2-40B4-BE49-F238E27FC236}">
                <a16:creationId xmlns:a16="http://schemas.microsoft.com/office/drawing/2014/main" id="{654F90CB-19DF-A2E7-363F-FA9D6DC7737F}"/>
              </a:ext>
            </a:extLst>
          </p:cNvPr>
          <p:cNvPicPr>
            <a:picLocks noChangeAspect="1"/>
          </p:cNvPicPr>
          <p:nvPr/>
        </p:nvPicPr>
        <p:blipFill>
          <a:blip r:embed="rId10"/>
          <a:stretch>
            <a:fillRect/>
          </a:stretch>
        </p:blipFill>
        <p:spPr>
          <a:xfrm>
            <a:off x="1522475" y="2795777"/>
            <a:ext cx="658369" cy="662941"/>
          </a:xfrm>
          <a:prstGeom prst="roundRect">
            <a:avLst>
              <a:gd name="adj" fmla="val 8594"/>
            </a:avLst>
          </a:prstGeom>
          <a:solidFill>
            <a:srgbClr val="FFFFFF">
              <a:shade val="85000"/>
            </a:srgbClr>
          </a:solidFill>
          <a:ln>
            <a:noFill/>
          </a:ln>
          <a:effectLst/>
        </p:spPr>
      </p:pic>
      <p:sp>
        <p:nvSpPr>
          <p:cNvPr id="12" name="TextBox 11">
            <a:extLst>
              <a:ext uri="{FF2B5EF4-FFF2-40B4-BE49-F238E27FC236}">
                <a16:creationId xmlns:a16="http://schemas.microsoft.com/office/drawing/2014/main" id="{21410EE6-E361-3EFE-563B-729A61DEF70A}"/>
              </a:ext>
            </a:extLst>
          </p:cNvPr>
          <p:cNvSpPr txBox="1"/>
          <p:nvPr/>
        </p:nvSpPr>
        <p:spPr>
          <a:xfrm>
            <a:off x="4290590" y="2773305"/>
            <a:ext cx="901147" cy="707886"/>
          </a:xfrm>
          <a:prstGeom prst="rect">
            <a:avLst/>
          </a:prstGeom>
          <a:noFill/>
        </p:spPr>
        <p:txBody>
          <a:bodyPr wrap="square">
            <a:spAutoFit/>
          </a:bodyPr>
          <a:lstStyle/>
          <a:p>
            <a:pPr marL="0" marR="0" indent="0" algn="l">
              <a:spcAft>
                <a:spcPts val="1200"/>
              </a:spcAft>
              <a:buNone/>
            </a:pPr>
            <a:r>
              <a:rPr lang="en-US" sz="4000" b="1" i="0" dirty="0">
                <a:solidFill>
                  <a:srgbClr val="F0F6FC"/>
                </a:solidFill>
                <a:effectLst/>
                <a:latin typeface="Mona Sans VF"/>
              </a:rPr>
              <a:t>🤖</a:t>
            </a:r>
          </a:p>
        </p:txBody>
      </p:sp>
      <p:pic>
        <p:nvPicPr>
          <p:cNvPr id="13" name="Graphic 12">
            <a:extLst>
              <a:ext uri="{FF2B5EF4-FFF2-40B4-BE49-F238E27FC236}">
                <a16:creationId xmlns:a16="http://schemas.microsoft.com/office/drawing/2014/main" id="{0F8D53F1-253A-3B3C-F209-75C1655A3EA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21215" y="2798064"/>
            <a:ext cx="628049" cy="662941"/>
          </a:xfrm>
          <a:prstGeom prst="rect">
            <a:avLst/>
          </a:prstGeom>
        </p:spPr>
      </p:pic>
      <p:pic>
        <p:nvPicPr>
          <p:cNvPr id="18" name="Picture 17">
            <a:extLst>
              <a:ext uri="{FF2B5EF4-FFF2-40B4-BE49-F238E27FC236}">
                <a16:creationId xmlns:a16="http://schemas.microsoft.com/office/drawing/2014/main" id="{A2914EC9-76E5-FF46-9BFF-A3D4F871ECDC}"/>
              </a:ext>
            </a:extLst>
          </p:cNvPr>
          <p:cNvPicPr>
            <a:picLocks noChangeAspect="1"/>
          </p:cNvPicPr>
          <p:nvPr/>
        </p:nvPicPr>
        <p:blipFill>
          <a:blip r:embed="rId12"/>
          <a:stretch>
            <a:fillRect/>
          </a:stretch>
        </p:blipFill>
        <p:spPr>
          <a:xfrm>
            <a:off x="10225197" y="2791860"/>
            <a:ext cx="644813" cy="666858"/>
          </a:xfrm>
          <a:prstGeom prst="roundRect">
            <a:avLst>
              <a:gd name="adj" fmla="val 8594"/>
            </a:avLst>
          </a:prstGeom>
          <a:solidFill>
            <a:srgbClr val="FFFFFF">
              <a:shade val="85000"/>
            </a:srgbClr>
          </a:solidFill>
          <a:ln>
            <a:noFill/>
          </a:ln>
          <a:effectLst/>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Govern agents with confidence">
    <p:spTree>
      <p:nvGrpSpPr>
        <p:cNvPr id="1" name=""/>
        <p:cNvGrpSpPr/>
        <p:nvPr/>
      </p:nvGrpSpPr>
      <p:grpSpPr/>
      <p:sp>
        <p:nvSpPr>
          <p:cNvPr id="2" name="TextBox 1"/>
          <p:cNvSpPr txBox="1"/>
          <p:nvPr/>
        </p:nvSpPr>
        <p:spPr>
          <a:xfrm>
            <a:off x="777240" y="438912"/>
            <a:ext cx="3840480" cy="228600"/>
          </a:xfrm>
          <a:prstGeom prst="rect">
            <a:avLst/>
          </a:prstGeom>
          <a:noFill/>
        </p:spPr>
        <p:txBody>
          <a:bodyPr wrap="none" lIns="0" rIns="0" tIns="0" bIns="0" anchor="t">
            <a:spAutoFit/>
          </a:bodyPr>
          <a:lstStyle/>
          <a:p>
            <a:pPr algn="l">
              <a:lnSpc>
                <a:spcPct val="100000"/>
              </a:lnSpc>
              <a:spcBef>
                <a:spcPts val="0"/>
              </a:spcBef>
              <a:spcAft>
                <a:spcPts val="0"/>
              </a:spcAft>
            </a:pPr>
            <a:r>
              <a:rPr sz="1080" b="1" i="0">
                <a:solidFill>
                  <a:srgbClr val="0078D4"/>
                </a:solidFill>
                <a:latin typeface="Segoe UI Semibold"/>
              </a:rPr>
              <a:t>ENTERPRISE GOVERNANCE</a:t>
            </a:r>
          </a:p>
        </p:txBody>
      </p:sp>
      <p:sp>
        <p:nvSpPr>
          <p:cNvPr id="3" name="TextBox 2"/>
          <p:cNvSpPr txBox="1"/>
          <p:nvPr/>
        </p:nvSpPr>
        <p:spPr>
          <a:xfrm>
            <a:off x="777240" y="749808"/>
            <a:ext cx="8046720" cy="438912"/>
          </a:xfrm>
          <a:prstGeom prst="rect">
            <a:avLst/>
          </a:prstGeom>
          <a:noFill/>
        </p:spPr>
        <p:txBody>
          <a:bodyPr wrap="none" lIns="0" rIns="0" tIns="0" bIns="0" anchor="ctr">
            <a:spAutoFit/>
          </a:bodyPr>
          <a:lstStyle/>
          <a:p>
            <a:pPr algn="l">
              <a:lnSpc>
                <a:spcPct val="100000"/>
              </a:lnSpc>
              <a:spcBef>
                <a:spcPts val="0"/>
              </a:spcBef>
              <a:spcAft>
                <a:spcPts val="0"/>
              </a:spcAft>
            </a:pPr>
            <a:r>
              <a:rPr sz="2650" b="1" i="0">
                <a:solidFill>
                  <a:srgbClr val="091F2C"/>
                </a:solidFill>
                <a:latin typeface="Segoe UI Semibold"/>
              </a:rPr>
              <a:t>Govern agents with confidence</a:t>
            </a:r>
          </a:p>
        </p:txBody>
      </p:sp>
      <p:sp>
        <p:nvSpPr>
          <p:cNvPr id="4" name="TextBox 3"/>
          <p:cNvSpPr txBox="1"/>
          <p:nvPr/>
        </p:nvSpPr>
        <p:spPr>
          <a:xfrm>
            <a:off x="777240" y="1261872"/>
            <a:ext cx="10744200" cy="310896"/>
          </a:xfrm>
          <a:prstGeom prst="rect">
            <a:avLst/>
          </a:prstGeom>
          <a:noFill/>
        </p:spPr>
        <p:txBody>
          <a:bodyPr wrap="none" lIns="0" rIns="0" tIns="0" bIns="0" anchor="ctr">
            <a:spAutoFit/>
          </a:bodyPr>
          <a:lstStyle/>
          <a:p>
            <a:pPr algn="l">
              <a:lnSpc>
                <a:spcPct val="100000"/>
              </a:lnSpc>
              <a:spcBef>
                <a:spcPts val="0"/>
              </a:spcBef>
              <a:spcAft>
                <a:spcPts val="0"/>
              </a:spcAft>
            </a:pPr>
            <a:r>
              <a:rPr sz="1240" b="1" i="0">
                <a:solidFill>
                  <a:srgbClr val="5B6672"/>
                </a:solidFill>
                <a:latin typeface="Segoe UI Semibold"/>
              </a:rPr>
              <a:t>One platform for security, governance, compliance, lifecycle management, and operational visibility.</a:t>
            </a:r>
          </a:p>
        </p:txBody>
      </p:sp>
      <p:sp>
        <p:nvSpPr>
          <p:cNvPr id="5" name="Copilot Studio governance halo"/>
          <p:cNvSpPr/>
          <p:nvPr/>
        </p:nvSpPr>
        <p:spPr>
          <a:xfrm>
            <a:off x="3977639" y="1901952"/>
            <a:ext cx="4233672" cy="1508760"/>
          </a:xfrm>
          <a:prstGeom prst="roundRect">
            <a:avLst/>
          </a:prstGeom>
          <a:solidFill>
            <a:srgbClr val="ECEAF6"/>
          </a:solidFill>
          <a:ln w="12700">
            <a:solidFill>
              <a:srgbClr val="ECEA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3822191" y="2496312"/>
            <a:ext cx="338329" cy="164592"/>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822191" y="3017520"/>
            <a:ext cx="338329" cy="1143000"/>
          </a:xfrm>
          <a:prstGeom prst="line">
            <a:avLst/>
          </a:prstGeom>
          <a:ln w="19050">
            <a:solidFill>
              <a:srgbClr val="8661C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8028431" y="2496312"/>
            <a:ext cx="338329" cy="164592"/>
          </a:xfrm>
          <a:prstGeom prst="line">
            <a:avLst/>
          </a:prstGeom>
          <a:ln w="19050">
            <a:solidFill>
              <a:srgbClr val="C03BC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8028431" y="3017520"/>
            <a:ext cx="338329" cy="1143000"/>
          </a:xfrm>
          <a:prstGeom prst="line">
            <a:avLst/>
          </a:prstGeom>
          <a:ln w="19050">
            <a:solidFill>
              <a:srgbClr val="FF5C3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4476" y="3355848"/>
            <a:ext cx="0" cy="100584"/>
          </a:xfrm>
          <a:prstGeom prst="line">
            <a:avLst/>
          </a:prstGeom>
          <a:ln w="22860">
            <a:solidFill>
              <a:srgbClr val="008272"/>
            </a:solidFill>
          </a:ln>
        </p:spPr>
        <p:style>
          <a:lnRef idx="2">
            <a:schemeClr val="accent1"/>
          </a:lnRef>
          <a:fillRef idx="0">
            <a:schemeClr val="accent1"/>
          </a:fillRef>
          <a:effectRef idx="1">
            <a:schemeClr val="accent1"/>
          </a:effectRef>
          <a:fontRef idx="minor">
            <a:schemeClr val="tx1"/>
          </a:fontRef>
        </p:style>
      </p:cxnSp>
      <p:sp>
        <p:nvSpPr>
          <p:cNvPr id="11" name="Copilot Studio governance hub"/>
          <p:cNvSpPr/>
          <p:nvPr/>
        </p:nvSpPr>
        <p:spPr>
          <a:xfrm>
            <a:off x="4160520" y="2148840"/>
            <a:ext cx="3867912" cy="1207008"/>
          </a:xfrm>
          <a:prstGeom prst="roundRect">
            <a:avLst/>
          </a:prstGeom>
          <a:solidFill>
            <a:srgbClr val="091F2C"/>
          </a:solidFill>
          <a:ln w="1524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overn label"/>
          <p:cNvSpPr/>
          <p:nvPr/>
        </p:nvSpPr>
        <p:spPr>
          <a:xfrm>
            <a:off x="5340096" y="1947672"/>
            <a:ext cx="1508760" cy="320040"/>
          </a:xfrm>
          <a:prstGeom prst="roundRect">
            <a:avLst/>
          </a:prstGeom>
          <a:solidFill>
            <a:srgbClr val="8661C5"/>
          </a:solidFill>
          <a:ln w="12700">
            <a:solidFill>
              <a:srgbClr val="866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0096" y="1947672"/>
            <a:ext cx="1508760" cy="320040"/>
          </a:xfrm>
          <a:prstGeom prst="rect">
            <a:avLst/>
          </a:prstGeom>
          <a:noFill/>
        </p:spPr>
        <p:txBody>
          <a:bodyPr wrap="none" lIns="0" rIns="0" tIns="0" bIns="0" anchor="ctr">
            <a:spAutoFit/>
          </a:bodyPr>
          <a:lstStyle/>
          <a:p>
            <a:pPr algn="ctr">
              <a:lnSpc>
                <a:spcPct val="100000"/>
              </a:lnSpc>
              <a:spcBef>
                <a:spcPts val="0"/>
              </a:spcBef>
              <a:spcAft>
                <a:spcPts val="0"/>
              </a:spcAft>
            </a:pPr>
            <a:r>
              <a:rPr sz="940" b="1" i="0">
                <a:solidFill>
                  <a:srgbClr val="FFFFFF"/>
                </a:solidFill>
                <a:latin typeface="Segoe UI Semibold"/>
              </a:rPr>
              <a:t>GOVERN</a:t>
            </a:r>
          </a:p>
        </p:txBody>
      </p:sp>
      <p:pic>
        <p:nvPicPr>
          <p:cNvPr id="14" name="Picture 13" descr="image.png"/>
          <p:cNvPicPr>
            <a:picLocks noChangeAspect="1"/>
          </p:cNvPicPr>
          <p:nvPr/>
        </p:nvPicPr>
        <p:blipFill>
          <a:blip r:embed="rId2"/>
          <a:stretch>
            <a:fillRect/>
          </a:stretch>
        </p:blipFill>
        <p:spPr>
          <a:xfrm>
            <a:off x="4507992" y="2450592"/>
            <a:ext cx="612648" cy="612648"/>
          </a:xfrm>
          <a:prstGeom prst="rect">
            <a:avLst/>
          </a:prstGeom>
        </p:spPr>
      </p:pic>
      <p:sp>
        <p:nvSpPr>
          <p:cNvPr id="15" name="TextBox 14"/>
          <p:cNvSpPr txBox="1"/>
          <p:nvPr/>
        </p:nvSpPr>
        <p:spPr>
          <a:xfrm>
            <a:off x="5330952" y="2414016"/>
            <a:ext cx="2331720" cy="365760"/>
          </a:xfrm>
          <a:prstGeom prst="rect">
            <a:avLst/>
          </a:prstGeom>
          <a:noFill/>
        </p:spPr>
        <p:txBody>
          <a:bodyPr wrap="none" lIns="0" rIns="0" tIns="0" bIns="0" anchor="ctr">
            <a:spAutoFit/>
          </a:bodyPr>
          <a:lstStyle/>
          <a:p>
            <a:pPr algn="l">
              <a:lnSpc>
                <a:spcPct val="100000"/>
              </a:lnSpc>
              <a:spcBef>
                <a:spcPts val="0"/>
              </a:spcBef>
              <a:spcAft>
                <a:spcPts val="0"/>
              </a:spcAft>
            </a:pPr>
            <a:r>
              <a:rPr sz="1850" b="1" i="0">
                <a:solidFill>
                  <a:srgbClr val="FFFFFF"/>
                </a:solidFill>
                <a:latin typeface="Segoe UI Semibold"/>
              </a:rPr>
              <a:t>COPILOT STUDIO</a:t>
            </a:r>
          </a:p>
        </p:txBody>
      </p:sp>
      <p:sp>
        <p:nvSpPr>
          <p:cNvPr id="16" name="TextBox 15"/>
          <p:cNvSpPr txBox="1"/>
          <p:nvPr/>
        </p:nvSpPr>
        <p:spPr>
          <a:xfrm>
            <a:off x="5330952" y="2816352"/>
            <a:ext cx="2331720" cy="274320"/>
          </a:xfrm>
          <a:prstGeom prst="rect">
            <a:avLst/>
          </a:prstGeom>
          <a:noFill/>
        </p:spPr>
        <p:txBody>
          <a:bodyPr wrap="none" lIns="0" rIns="0" tIns="0" bIns="0" anchor="ctr">
            <a:spAutoFit/>
          </a:bodyPr>
          <a:lstStyle/>
          <a:p>
            <a:pPr algn="l">
              <a:lnSpc>
                <a:spcPct val="100000"/>
              </a:lnSpc>
              <a:spcBef>
                <a:spcPts val="0"/>
              </a:spcBef>
              <a:spcAft>
                <a:spcPts val="0"/>
              </a:spcAft>
            </a:pPr>
            <a:r>
              <a:rPr sz="1019" b="1" i="0">
                <a:solidFill>
                  <a:srgbClr val="8DC8E8"/>
                </a:solidFill>
                <a:latin typeface="Segoe UI Semibold"/>
              </a:rPr>
              <a:t>Secure by design. Governed at scale.</a:t>
            </a:r>
          </a:p>
        </p:txBody>
      </p:sp>
      <p:sp>
        <p:nvSpPr>
          <p:cNvPr id="17" name="Rounded Rectangle 16"/>
          <p:cNvSpPr/>
          <p:nvPr/>
        </p:nvSpPr>
        <p:spPr>
          <a:xfrm>
            <a:off x="717804" y="1796795"/>
            <a:ext cx="313639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llar - Identity"/>
          <p:cNvSpPr/>
          <p:nvPr/>
        </p:nvSpPr>
        <p:spPr>
          <a:xfrm>
            <a:off x="685800" y="1755648"/>
            <a:ext cx="313639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 y="1755648"/>
            <a:ext cx="2898648" cy="502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0392" y="1920240"/>
            <a:ext cx="347472"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1920240"/>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1450" b="0" i="0">
                <a:solidFill>
                  <a:srgbClr val="FFFFFF"/>
                </a:solidFill>
                <a:latin typeface="Segoe MDL2 Assets"/>
              </a:rPr>
              <a:t></a:t>
            </a:r>
          </a:p>
        </p:txBody>
      </p:sp>
      <p:sp>
        <p:nvSpPr>
          <p:cNvPr id="22" name="TextBox 21"/>
          <p:cNvSpPr txBox="1"/>
          <p:nvPr/>
        </p:nvSpPr>
        <p:spPr>
          <a:xfrm>
            <a:off x="1298448" y="1929384"/>
            <a:ext cx="234086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IDENTITY</a:t>
            </a:r>
          </a:p>
        </p:txBody>
      </p:sp>
      <p:sp>
        <p:nvSpPr>
          <p:cNvPr id="23" name="TextBox 22"/>
          <p:cNvSpPr txBox="1"/>
          <p:nvPr/>
        </p:nvSpPr>
        <p:spPr>
          <a:xfrm>
            <a:off x="850392" y="2286000"/>
            <a:ext cx="2807208" cy="310896"/>
          </a:xfrm>
          <a:prstGeom prst="rect">
            <a:avLst/>
          </a:prstGeom>
          <a:noFill/>
        </p:spPr>
        <p:txBody>
          <a:bodyPr wrap="none" lIns="0" rIns="0" tIns="0" bIns="0" anchor="ctr">
            <a:spAutoFit/>
          </a:bodyPr>
          <a:lstStyle/>
          <a:p>
            <a:pPr algn="l">
              <a:lnSpc>
                <a:spcPct val="100000"/>
              </a:lnSpc>
              <a:spcBef>
                <a:spcPts val="0"/>
              </a:spcBef>
              <a:spcAft>
                <a:spcPts val="0"/>
              </a:spcAft>
            </a:pPr>
            <a:r>
              <a:rPr sz="960" b="1" i="0">
                <a:solidFill>
                  <a:srgbClr val="091F2C"/>
                </a:solidFill>
                <a:latin typeface="Segoe UI Semibold"/>
              </a:rPr>
              <a:t>Control who can build, publish, and use agents</a:t>
            </a:r>
          </a:p>
        </p:txBody>
      </p:sp>
      <p:sp>
        <p:nvSpPr>
          <p:cNvPr id="24" name="Oval 23"/>
          <p:cNvSpPr/>
          <p:nvPr/>
        </p:nvSpPr>
        <p:spPr>
          <a:xfrm>
            <a:off x="868680" y="2749600"/>
            <a:ext cx="54864" cy="5486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2670048"/>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Entra ID</a:t>
            </a:r>
          </a:p>
        </p:txBody>
      </p:sp>
      <p:sp>
        <p:nvSpPr>
          <p:cNvPr id="26" name="Oval 25"/>
          <p:cNvSpPr/>
          <p:nvPr/>
        </p:nvSpPr>
        <p:spPr>
          <a:xfrm>
            <a:off x="2299716" y="2749600"/>
            <a:ext cx="54864" cy="5486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8588" y="2670048"/>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Authentication</a:t>
            </a:r>
          </a:p>
        </p:txBody>
      </p:sp>
      <p:sp>
        <p:nvSpPr>
          <p:cNvPr id="28" name="Oval 27"/>
          <p:cNvSpPr/>
          <p:nvPr/>
        </p:nvSpPr>
        <p:spPr>
          <a:xfrm>
            <a:off x="868680" y="2996488"/>
            <a:ext cx="54864" cy="5486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 y="2916936"/>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RBAC</a:t>
            </a:r>
          </a:p>
        </p:txBody>
      </p:sp>
      <p:sp>
        <p:nvSpPr>
          <p:cNvPr id="30" name="Oval 29"/>
          <p:cNvSpPr/>
          <p:nvPr/>
        </p:nvSpPr>
        <p:spPr>
          <a:xfrm>
            <a:off x="2299716" y="2996488"/>
            <a:ext cx="54864" cy="5486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18588" y="2916936"/>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Environment security</a:t>
            </a:r>
          </a:p>
        </p:txBody>
      </p:sp>
      <p:sp>
        <p:nvSpPr>
          <p:cNvPr id="32" name="Rounded Rectangle 31"/>
          <p:cNvSpPr/>
          <p:nvPr/>
        </p:nvSpPr>
        <p:spPr>
          <a:xfrm>
            <a:off x="717804" y="3497579"/>
            <a:ext cx="313639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ar - Security"/>
          <p:cNvSpPr/>
          <p:nvPr/>
        </p:nvSpPr>
        <p:spPr>
          <a:xfrm>
            <a:off x="685800" y="3456432"/>
            <a:ext cx="313639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 y="3456432"/>
            <a:ext cx="2898648" cy="50292"/>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50392" y="3621024"/>
            <a:ext cx="347472" cy="347472"/>
          </a:xfrm>
          <a:prstGeom prst="round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 y="3621024"/>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1450" b="0" i="0">
                <a:solidFill>
                  <a:srgbClr val="FFFFFF"/>
                </a:solidFill>
                <a:latin typeface="Segoe MDL2 Assets"/>
              </a:rPr>
              <a:t></a:t>
            </a:r>
          </a:p>
        </p:txBody>
      </p:sp>
      <p:sp>
        <p:nvSpPr>
          <p:cNvPr id="37" name="TextBox 36"/>
          <p:cNvSpPr txBox="1"/>
          <p:nvPr/>
        </p:nvSpPr>
        <p:spPr>
          <a:xfrm>
            <a:off x="1298448" y="3630168"/>
            <a:ext cx="234086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SECURITY</a:t>
            </a:r>
          </a:p>
        </p:txBody>
      </p:sp>
      <p:sp>
        <p:nvSpPr>
          <p:cNvPr id="38" name="TextBox 37"/>
          <p:cNvSpPr txBox="1"/>
          <p:nvPr/>
        </p:nvSpPr>
        <p:spPr>
          <a:xfrm>
            <a:off x="850392" y="3986783"/>
            <a:ext cx="2807208" cy="310896"/>
          </a:xfrm>
          <a:prstGeom prst="rect">
            <a:avLst/>
          </a:prstGeom>
          <a:noFill/>
        </p:spPr>
        <p:txBody>
          <a:bodyPr wrap="none" lIns="0" rIns="0" tIns="0" bIns="0" anchor="ctr">
            <a:spAutoFit/>
          </a:bodyPr>
          <a:lstStyle/>
          <a:p>
            <a:pPr algn="l">
              <a:lnSpc>
                <a:spcPct val="100000"/>
              </a:lnSpc>
              <a:spcBef>
                <a:spcPts val="0"/>
              </a:spcBef>
              <a:spcAft>
                <a:spcPts val="0"/>
              </a:spcAft>
            </a:pPr>
            <a:r>
              <a:rPr sz="960" b="1" i="0">
                <a:solidFill>
                  <a:srgbClr val="091F2C"/>
                </a:solidFill>
                <a:latin typeface="Segoe UI Semibold"/>
              </a:rPr>
              <a:t>Control what agents can access</a:t>
            </a:r>
          </a:p>
        </p:txBody>
      </p:sp>
      <p:sp>
        <p:nvSpPr>
          <p:cNvPr id="39" name="Oval 38"/>
          <p:cNvSpPr/>
          <p:nvPr/>
        </p:nvSpPr>
        <p:spPr>
          <a:xfrm>
            <a:off x="868680" y="4450384"/>
            <a:ext cx="54864" cy="54864"/>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7552" y="4370831"/>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DLP Policies</a:t>
            </a:r>
          </a:p>
        </p:txBody>
      </p:sp>
      <p:sp>
        <p:nvSpPr>
          <p:cNvPr id="41" name="Oval 40"/>
          <p:cNvSpPr/>
          <p:nvPr/>
        </p:nvSpPr>
        <p:spPr>
          <a:xfrm>
            <a:off x="2299716" y="4450384"/>
            <a:ext cx="54864" cy="54864"/>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18588" y="4370831"/>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Connector governance</a:t>
            </a:r>
          </a:p>
        </p:txBody>
      </p:sp>
      <p:sp>
        <p:nvSpPr>
          <p:cNvPr id="43" name="Oval 42"/>
          <p:cNvSpPr/>
          <p:nvPr/>
        </p:nvSpPr>
        <p:spPr>
          <a:xfrm>
            <a:off x="868680" y="4697272"/>
            <a:ext cx="54864" cy="54864"/>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7552" y="4617719"/>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Environment isolation</a:t>
            </a:r>
          </a:p>
        </p:txBody>
      </p:sp>
      <p:sp>
        <p:nvSpPr>
          <p:cNvPr id="45" name="Oval 44"/>
          <p:cNvSpPr/>
          <p:nvPr/>
        </p:nvSpPr>
        <p:spPr>
          <a:xfrm>
            <a:off x="2299716" y="4697272"/>
            <a:ext cx="54864" cy="54864"/>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418588" y="4617719"/>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Data boundaries</a:t>
            </a:r>
          </a:p>
        </p:txBody>
      </p:sp>
      <p:sp>
        <p:nvSpPr>
          <p:cNvPr id="47" name="Rounded Rectangle 46"/>
          <p:cNvSpPr/>
          <p:nvPr/>
        </p:nvSpPr>
        <p:spPr>
          <a:xfrm>
            <a:off x="8398764" y="1796795"/>
            <a:ext cx="313639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illar - Compliance"/>
          <p:cNvSpPr/>
          <p:nvPr/>
        </p:nvSpPr>
        <p:spPr>
          <a:xfrm>
            <a:off x="8366760" y="1755648"/>
            <a:ext cx="313639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85632" y="1755648"/>
            <a:ext cx="2898648" cy="50292"/>
          </a:xfrm>
          <a:prstGeom prst="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531352" y="1920240"/>
            <a:ext cx="347472" cy="347472"/>
          </a:xfrm>
          <a:prstGeom prst="round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31352" y="1920240"/>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1450" b="0" i="0">
                <a:solidFill>
                  <a:srgbClr val="FFFFFF"/>
                </a:solidFill>
                <a:latin typeface="Segoe MDL2 Assets"/>
              </a:rPr>
              <a:t></a:t>
            </a:r>
          </a:p>
        </p:txBody>
      </p:sp>
      <p:sp>
        <p:nvSpPr>
          <p:cNvPr id="52" name="TextBox 51"/>
          <p:cNvSpPr txBox="1"/>
          <p:nvPr/>
        </p:nvSpPr>
        <p:spPr>
          <a:xfrm>
            <a:off x="8979408" y="1929384"/>
            <a:ext cx="234086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COMPLIANCE</a:t>
            </a:r>
          </a:p>
        </p:txBody>
      </p:sp>
      <p:sp>
        <p:nvSpPr>
          <p:cNvPr id="53" name="TextBox 52"/>
          <p:cNvSpPr txBox="1"/>
          <p:nvPr/>
        </p:nvSpPr>
        <p:spPr>
          <a:xfrm>
            <a:off x="8531352" y="2286000"/>
            <a:ext cx="2807208" cy="310896"/>
          </a:xfrm>
          <a:prstGeom prst="rect">
            <a:avLst/>
          </a:prstGeom>
          <a:noFill/>
        </p:spPr>
        <p:txBody>
          <a:bodyPr wrap="none" lIns="0" rIns="0" tIns="0" bIns="0" anchor="ctr">
            <a:spAutoFit/>
          </a:bodyPr>
          <a:lstStyle/>
          <a:p>
            <a:pPr algn="l">
              <a:lnSpc>
                <a:spcPct val="100000"/>
              </a:lnSpc>
              <a:spcBef>
                <a:spcPts val="0"/>
              </a:spcBef>
              <a:spcAft>
                <a:spcPts val="0"/>
              </a:spcAft>
            </a:pPr>
            <a:r>
              <a:rPr sz="960" b="1" i="0">
                <a:solidFill>
                  <a:srgbClr val="091F2C"/>
                </a:solidFill>
                <a:latin typeface="Segoe UI Semibold"/>
              </a:rPr>
              <a:t>Audit and investigate AI interactions</a:t>
            </a:r>
          </a:p>
        </p:txBody>
      </p:sp>
      <p:sp>
        <p:nvSpPr>
          <p:cNvPr id="54" name="Oval 53"/>
          <p:cNvSpPr/>
          <p:nvPr/>
        </p:nvSpPr>
        <p:spPr>
          <a:xfrm>
            <a:off x="8549640" y="2749600"/>
            <a:ext cx="54864" cy="54864"/>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68512" y="2670048"/>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Microsoft Purview</a:t>
            </a:r>
          </a:p>
        </p:txBody>
      </p:sp>
      <p:sp>
        <p:nvSpPr>
          <p:cNvPr id="56" name="Oval 55"/>
          <p:cNvSpPr/>
          <p:nvPr/>
        </p:nvSpPr>
        <p:spPr>
          <a:xfrm>
            <a:off x="9980676" y="2749600"/>
            <a:ext cx="54864" cy="54864"/>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99548" y="2670048"/>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Audit logs</a:t>
            </a:r>
          </a:p>
        </p:txBody>
      </p:sp>
      <p:sp>
        <p:nvSpPr>
          <p:cNvPr id="58" name="Oval 57"/>
          <p:cNvSpPr/>
          <p:nvPr/>
        </p:nvSpPr>
        <p:spPr>
          <a:xfrm>
            <a:off x="8549640" y="2996488"/>
            <a:ext cx="54864" cy="54864"/>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68512" y="2916936"/>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eDiscovery</a:t>
            </a:r>
          </a:p>
        </p:txBody>
      </p:sp>
      <p:sp>
        <p:nvSpPr>
          <p:cNvPr id="60" name="Oval 59"/>
          <p:cNvSpPr/>
          <p:nvPr/>
        </p:nvSpPr>
        <p:spPr>
          <a:xfrm>
            <a:off x="9980676" y="2996488"/>
            <a:ext cx="54864" cy="54864"/>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099548" y="2916936"/>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DLP &amp; DSPM</a:t>
            </a:r>
          </a:p>
        </p:txBody>
      </p:sp>
      <p:sp>
        <p:nvSpPr>
          <p:cNvPr id="62" name="Rounded Rectangle 61"/>
          <p:cNvSpPr/>
          <p:nvPr/>
        </p:nvSpPr>
        <p:spPr>
          <a:xfrm>
            <a:off x="8398764" y="3497579"/>
            <a:ext cx="313639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illar - Operations"/>
          <p:cNvSpPr/>
          <p:nvPr/>
        </p:nvSpPr>
        <p:spPr>
          <a:xfrm>
            <a:off x="8366760" y="3456432"/>
            <a:ext cx="313639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485632" y="3456432"/>
            <a:ext cx="2898648" cy="50292"/>
          </a:xfrm>
          <a:prstGeom prst="rect">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8531352" y="3621024"/>
            <a:ext cx="347472" cy="347472"/>
          </a:xfrm>
          <a:prstGeom prst="roundRect">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31352" y="3621024"/>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1450" b="0" i="0">
                <a:solidFill>
                  <a:srgbClr val="FFFFFF"/>
                </a:solidFill>
                <a:latin typeface="Segoe MDL2 Assets"/>
              </a:rPr>
              <a:t></a:t>
            </a:r>
          </a:p>
        </p:txBody>
      </p:sp>
      <p:sp>
        <p:nvSpPr>
          <p:cNvPr id="67" name="TextBox 66"/>
          <p:cNvSpPr txBox="1"/>
          <p:nvPr/>
        </p:nvSpPr>
        <p:spPr>
          <a:xfrm>
            <a:off x="8979408" y="3630168"/>
            <a:ext cx="234086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OPERATIONS</a:t>
            </a:r>
          </a:p>
        </p:txBody>
      </p:sp>
      <p:sp>
        <p:nvSpPr>
          <p:cNvPr id="68" name="TextBox 67"/>
          <p:cNvSpPr txBox="1"/>
          <p:nvPr/>
        </p:nvSpPr>
        <p:spPr>
          <a:xfrm>
            <a:off x="8531352" y="3986783"/>
            <a:ext cx="2807208" cy="310896"/>
          </a:xfrm>
          <a:prstGeom prst="rect">
            <a:avLst/>
          </a:prstGeom>
          <a:noFill/>
        </p:spPr>
        <p:txBody>
          <a:bodyPr wrap="none" lIns="0" rIns="0" tIns="0" bIns="0" anchor="ctr">
            <a:spAutoFit/>
          </a:bodyPr>
          <a:lstStyle/>
          <a:p>
            <a:pPr algn="l">
              <a:lnSpc>
                <a:spcPct val="100000"/>
              </a:lnSpc>
              <a:spcBef>
                <a:spcPts val="0"/>
              </a:spcBef>
              <a:spcAft>
                <a:spcPts val="0"/>
              </a:spcAft>
            </a:pPr>
            <a:r>
              <a:rPr sz="960" b="1" i="0">
                <a:solidFill>
                  <a:srgbClr val="091F2C"/>
                </a:solidFill>
                <a:latin typeface="Segoe UI Semibold"/>
              </a:rPr>
              <a:t>Measure usage, cost, and performance</a:t>
            </a:r>
          </a:p>
        </p:txBody>
      </p:sp>
      <p:sp>
        <p:nvSpPr>
          <p:cNvPr id="69" name="Oval 68"/>
          <p:cNvSpPr/>
          <p:nvPr/>
        </p:nvSpPr>
        <p:spPr>
          <a:xfrm>
            <a:off x="8549640" y="4450384"/>
            <a:ext cx="54864" cy="54864"/>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668512" y="4370831"/>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Analytics</a:t>
            </a:r>
          </a:p>
        </p:txBody>
      </p:sp>
      <p:sp>
        <p:nvSpPr>
          <p:cNvPr id="71" name="Oval 70"/>
          <p:cNvSpPr/>
          <p:nvPr/>
        </p:nvSpPr>
        <p:spPr>
          <a:xfrm>
            <a:off x="9980676" y="4450384"/>
            <a:ext cx="54864" cy="54864"/>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099548" y="4370831"/>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Consumption monitoring</a:t>
            </a:r>
          </a:p>
        </p:txBody>
      </p:sp>
      <p:sp>
        <p:nvSpPr>
          <p:cNvPr id="73" name="Oval 72"/>
          <p:cNvSpPr/>
          <p:nvPr/>
        </p:nvSpPr>
        <p:spPr>
          <a:xfrm>
            <a:off x="8549640" y="4697272"/>
            <a:ext cx="54864" cy="54864"/>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68512" y="4617719"/>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Agent inventory</a:t>
            </a:r>
          </a:p>
        </p:txBody>
      </p:sp>
      <p:sp>
        <p:nvSpPr>
          <p:cNvPr id="75" name="Oval 74"/>
          <p:cNvSpPr/>
          <p:nvPr/>
        </p:nvSpPr>
        <p:spPr>
          <a:xfrm>
            <a:off x="9980676" y="4697272"/>
            <a:ext cx="54864" cy="54864"/>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099548" y="4617719"/>
            <a:ext cx="122072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Runtime insights</a:t>
            </a:r>
          </a:p>
        </p:txBody>
      </p:sp>
      <p:sp>
        <p:nvSpPr>
          <p:cNvPr id="77" name="Rounded Rectangle 76"/>
          <p:cNvSpPr/>
          <p:nvPr/>
        </p:nvSpPr>
        <p:spPr>
          <a:xfrm>
            <a:off x="4192524" y="3497579"/>
            <a:ext cx="386791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llar - Lifecycle"/>
          <p:cNvSpPr/>
          <p:nvPr/>
        </p:nvSpPr>
        <p:spPr>
          <a:xfrm>
            <a:off x="4160520" y="3456432"/>
            <a:ext cx="386791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279392" y="3456432"/>
            <a:ext cx="3630168" cy="50292"/>
          </a:xfrm>
          <a:prstGeom prst="rect">
            <a:avLst/>
          </a:prstGeom>
          <a:solidFill>
            <a:srgbClr val="00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4325112" y="3621024"/>
            <a:ext cx="347472" cy="347472"/>
          </a:xfrm>
          <a:prstGeom prst="roundRect">
            <a:avLst/>
          </a:prstGeom>
          <a:solidFill>
            <a:srgbClr val="00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325112" y="3621024"/>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1450" b="0" i="0">
                <a:solidFill>
                  <a:srgbClr val="FFFFFF"/>
                </a:solidFill>
                <a:latin typeface="Segoe MDL2 Assets"/>
              </a:rPr>
              <a:t></a:t>
            </a:r>
          </a:p>
        </p:txBody>
      </p:sp>
      <p:sp>
        <p:nvSpPr>
          <p:cNvPr id="82" name="TextBox 81"/>
          <p:cNvSpPr txBox="1"/>
          <p:nvPr/>
        </p:nvSpPr>
        <p:spPr>
          <a:xfrm>
            <a:off x="4773168" y="3630168"/>
            <a:ext cx="307238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LIFECYCLE</a:t>
            </a:r>
          </a:p>
        </p:txBody>
      </p:sp>
      <p:sp>
        <p:nvSpPr>
          <p:cNvPr id="83" name="TextBox 82"/>
          <p:cNvSpPr txBox="1"/>
          <p:nvPr/>
        </p:nvSpPr>
        <p:spPr>
          <a:xfrm>
            <a:off x="4325112" y="3986783"/>
            <a:ext cx="3538728" cy="310896"/>
          </a:xfrm>
          <a:prstGeom prst="rect">
            <a:avLst/>
          </a:prstGeom>
          <a:noFill/>
        </p:spPr>
        <p:txBody>
          <a:bodyPr wrap="none" lIns="0" rIns="0" tIns="0" bIns="0" anchor="ctr">
            <a:spAutoFit/>
          </a:bodyPr>
          <a:lstStyle/>
          <a:p>
            <a:pPr algn="l">
              <a:lnSpc>
                <a:spcPct val="100000"/>
              </a:lnSpc>
              <a:spcBef>
                <a:spcPts val="0"/>
              </a:spcBef>
              <a:spcAft>
                <a:spcPts val="0"/>
              </a:spcAft>
            </a:pPr>
            <a:r>
              <a:rPr sz="960" b="1" i="0">
                <a:solidFill>
                  <a:srgbClr val="091F2C"/>
                </a:solidFill>
                <a:latin typeface="Segoe UI Semibold"/>
              </a:rPr>
              <a:t>Manage agents like enterprise applications</a:t>
            </a:r>
          </a:p>
        </p:txBody>
      </p:sp>
      <p:sp>
        <p:nvSpPr>
          <p:cNvPr id="84" name="Oval 83"/>
          <p:cNvSpPr/>
          <p:nvPr/>
        </p:nvSpPr>
        <p:spPr>
          <a:xfrm>
            <a:off x="4343400" y="4450384"/>
            <a:ext cx="54864" cy="54864"/>
          </a:xfrm>
          <a:prstGeom prst="ellipse">
            <a:avLst/>
          </a:prstGeom>
          <a:solidFill>
            <a:srgbClr val="00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62272" y="4370831"/>
            <a:ext cx="158648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Solutions</a:t>
            </a:r>
          </a:p>
        </p:txBody>
      </p:sp>
      <p:sp>
        <p:nvSpPr>
          <p:cNvPr id="86" name="Oval 85"/>
          <p:cNvSpPr/>
          <p:nvPr/>
        </p:nvSpPr>
        <p:spPr>
          <a:xfrm>
            <a:off x="6140196" y="4450384"/>
            <a:ext cx="54864" cy="54864"/>
          </a:xfrm>
          <a:prstGeom prst="ellipse">
            <a:avLst/>
          </a:prstGeom>
          <a:solidFill>
            <a:srgbClr val="00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59068" y="4370831"/>
            <a:ext cx="158648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Dev/Test/Prod</a:t>
            </a:r>
          </a:p>
        </p:txBody>
      </p:sp>
      <p:sp>
        <p:nvSpPr>
          <p:cNvPr id="88" name="Oval 87"/>
          <p:cNvSpPr/>
          <p:nvPr/>
        </p:nvSpPr>
        <p:spPr>
          <a:xfrm>
            <a:off x="4343400" y="4697272"/>
            <a:ext cx="54864" cy="54864"/>
          </a:xfrm>
          <a:prstGeom prst="ellipse">
            <a:avLst/>
          </a:prstGeom>
          <a:solidFill>
            <a:srgbClr val="00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2272" y="4617719"/>
            <a:ext cx="158648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ALM</a:t>
            </a:r>
          </a:p>
        </p:txBody>
      </p:sp>
      <p:sp>
        <p:nvSpPr>
          <p:cNvPr id="90" name="Oval 89"/>
          <p:cNvSpPr/>
          <p:nvPr/>
        </p:nvSpPr>
        <p:spPr>
          <a:xfrm>
            <a:off x="6140196" y="4697272"/>
            <a:ext cx="54864" cy="54864"/>
          </a:xfrm>
          <a:prstGeom prst="ellipse">
            <a:avLst/>
          </a:prstGeom>
          <a:solidFill>
            <a:srgbClr val="00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259068" y="4617719"/>
            <a:ext cx="1586484" cy="210312"/>
          </a:xfrm>
          <a:prstGeom prst="rect">
            <a:avLst/>
          </a:prstGeom>
          <a:noFill/>
        </p:spPr>
        <p:txBody>
          <a:bodyPr wrap="none" lIns="0" rIns="0" tIns="0" bIns="0" anchor="ctr">
            <a:spAutoFit/>
          </a:bodyPr>
          <a:lstStyle/>
          <a:p>
            <a:pPr algn="l">
              <a:lnSpc>
                <a:spcPct val="100000"/>
              </a:lnSpc>
              <a:spcBef>
                <a:spcPts val="0"/>
              </a:spcBef>
              <a:spcAft>
                <a:spcPts val="0"/>
              </a:spcAft>
            </a:pPr>
            <a:r>
              <a:rPr sz="850" b="0" i="0">
                <a:solidFill>
                  <a:srgbClr val="5B6672"/>
                </a:solidFill>
                <a:latin typeface="Segoe UI"/>
              </a:rPr>
              <a:t>Managed deployment</a:t>
            </a:r>
          </a:p>
        </p:txBody>
      </p:sp>
      <p:sp>
        <p:nvSpPr>
          <p:cNvPr id="92" name="Money statement"/>
          <p:cNvSpPr/>
          <p:nvPr/>
        </p:nvSpPr>
        <p:spPr>
          <a:xfrm>
            <a:off x="685800" y="5084064"/>
            <a:ext cx="11027664" cy="438912"/>
          </a:xfrm>
          <a:prstGeom prst="roundRect">
            <a:avLst/>
          </a:prstGeom>
          <a:solidFill>
            <a:srgbClr val="EAF4FB"/>
          </a:solidFill>
          <a:ln w="12700">
            <a:solidFill>
              <a:srgbClr val="EA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841248" y="5152644"/>
            <a:ext cx="1627632" cy="301752"/>
          </a:xfrm>
          <a:prstGeom prst="roundRect">
            <a:avLst/>
          </a:prstGeom>
          <a:solidFill>
            <a:srgbClr val="091F2C"/>
          </a:solidFill>
          <a:ln w="12700">
            <a:solidFill>
              <a:srgbClr val="09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41248" y="5152644"/>
            <a:ext cx="1627632" cy="301752"/>
          </a:xfrm>
          <a:prstGeom prst="rect">
            <a:avLst/>
          </a:prstGeom>
          <a:noFill/>
        </p:spPr>
        <p:txBody>
          <a:bodyPr wrap="none" lIns="0" rIns="0" tIns="0" bIns="0" anchor="ctr">
            <a:spAutoFit/>
          </a:bodyPr>
          <a:lstStyle/>
          <a:p>
            <a:pPr algn="ctr">
              <a:lnSpc>
                <a:spcPct val="100000"/>
              </a:lnSpc>
              <a:spcBef>
                <a:spcPts val="0"/>
              </a:spcBef>
              <a:spcAft>
                <a:spcPts val="0"/>
              </a:spcAft>
            </a:pPr>
            <a:r>
              <a:rPr sz="900" b="1" i="0">
                <a:solidFill>
                  <a:srgbClr val="FFFFFF"/>
                </a:solidFill>
                <a:latin typeface="Segoe UI Semibold"/>
              </a:rPr>
              <a:t>ONE PLATFORM</a:t>
            </a:r>
          </a:p>
        </p:txBody>
      </p:sp>
      <p:sp>
        <p:nvSpPr>
          <p:cNvPr id="95" name="TextBox 94"/>
          <p:cNvSpPr txBox="1"/>
          <p:nvPr/>
        </p:nvSpPr>
        <p:spPr>
          <a:xfrm>
            <a:off x="2706624" y="5129784"/>
            <a:ext cx="8558784" cy="338328"/>
          </a:xfrm>
          <a:prstGeom prst="rect">
            <a:avLst/>
          </a:prstGeom>
          <a:noFill/>
        </p:spPr>
        <p:txBody>
          <a:bodyPr wrap="none" lIns="0" rIns="0" tIns="0" bIns="0" anchor="ctr">
            <a:spAutoFit/>
          </a:bodyPr>
          <a:lstStyle/>
          <a:p>
            <a:pPr algn="l">
              <a:lnSpc>
                <a:spcPct val="100000"/>
              </a:lnSpc>
              <a:spcBef>
                <a:spcPts val="0"/>
              </a:spcBef>
              <a:spcAft>
                <a:spcPts val="0"/>
              </a:spcAft>
            </a:pPr>
            <a:r>
              <a:rPr sz="1310" b="1" i="0">
                <a:solidFill>
                  <a:srgbClr val="091F2C"/>
                </a:solidFill>
                <a:latin typeface="Segoe UI Semibold"/>
              </a:rPr>
              <a:t>Move from experimentation to production with the same platform.</a:t>
            </a:r>
          </a:p>
        </p:txBody>
      </p:sp>
      <p:sp>
        <p:nvSpPr>
          <p:cNvPr id="96" name="Power Platform foundation"/>
          <p:cNvSpPr/>
          <p:nvPr/>
        </p:nvSpPr>
        <p:spPr>
          <a:xfrm>
            <a:off x="685800" y="5669280"/>
            <a:ext cx="10817352" cy="557784"/>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85800" y="5669280"/>
            <a:ext cx="3605479" cy="502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291279" y="5669280"/>
            <a:ext cx="3605479" cy="50292"/>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896758" y="5669280"/>
            <a:ext cx="3606393" cy="50292"/>
          </a:xfrm>
          <a:prstGeom prst="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417320" y="5769864"/>
            <a:ext cx="2487168" cy="320040"/>
          </a:xfrm>
          <a:prstGeom prst="rect">
            <a:avLst/>
          </a:prstGeom>
          <a:noFill/>
        </p:spPr>
        <p:txBody>
          <a:bodyPr wrap="none" lIns="0" rIns="0" tIns="0" bIns="0" anchor="ctr">
            <a:spAutoFit/>
          </a:bodyPr>
          <a:lstStyle/>
          <a:p>
            <a:pPr algn="l">
              <a:lnSpc>
                <a:spcPct val="100000"/>
              </a:lnSpc>
              <a:spcBef>
                <a:spcPts val="0"/>
              </a:spcBef>
              <a:spcAft>
                <a:spcPts val="0"/>
              </a:spcAft>
            </a:pPr>
            <a:r>
              <a:rPr sz="1070" b="1" i="0">
                <a:solidFill>
                  <a:srgbClr val="091F2C"/>
                </a:solidFill>
                <a:latin typeface="Segoe UI Semibold"/>
              </a:rPr>
              <a:t>Built on Microsoft Power Platform</a:t>
            </a:r>
          </a:p>
        </p:txBody>
      </p:sp>
      <p:sp>
        <p:nvSpPr>
          <p:cNvPr id="101" name="Oval 100"/>
          <p:cNvSpPr/>
          <p:nvPr/>
        </p:nvSpPr>
        <p:spPr>
          <a:xfrm>
            <a:off x="4078224" y="5843016"/>
            <a:ext cx="246888" cy="24688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078224" y="5843016"/>
            <a:ext cx="246888" cy="246888"/>
          </a:xfrm>
          <a:prstGeom prst="rect">
            <a:avLst/>
          </a:prstGeom>
          <a:noFill/>
        </p:spPr>
        <p:txBody>
          <a:bodyPr wrap="none" lIns="0" rIns="0" tIns="0" bIns="0" anchor="ctr">
            <a:spAutoFit/>
          </a:bodyPr>
          <a:lstStyle/>
          <a:p>
            <a:pPr algn="ctr">
              <a:lnSpc>
                <a:spcPct val="100000"/>
              </a:lnSpc>
              <a:spcBef>
                <a:spcPts val="0"/>
              </a:spcBef>
              <a:spcAft>
                <a:spcPts val="0"/>
              </a:spcAft>
            </a:pPr>
            <a:r>
              <a:rPr sz="1030" b="0" i="0">
                <a:solidFill>
                  <a:srgbClr val="FFFFFF"/>
                </a:solidFill>
                <a:latin typeface="Segoe MDL2 Assets"/>
              </a:rPr>
              <a:t></a:t>
            </a:r>
          </a:p>
        </p:txBody>
      </p:sp>
      <p:sp>
        <p:nvSpPr>
          <p:cNvPr id="103" name="TextBox 102"/>
          <p:cNvSpPr txBox="1"/>
          <p:nvPr/>
        </p:nvSpPr>
        <p:spPr>
          <a:xfrm>
            <a:off x="4407408" y="5843016"/>
            <a:ext cx="960120" cy="246888"/>
          </a:xfrm>
          <a:prstGeom prst="rect">
            <a:avLst/>
          </a:prstGeom>
          <a:noFill/>
        </p:spPr>
        <p:txBody>
          <a:bodyPr wrap="none" lIns="0" rIns="0" tIns="0" bIns="0" anchor="ctr">
            <a:spAutoFit/>
          </a:bodyPr>
          <a:lstStyle/>
          <a:p>
            <a:pPr algn="l">
              <a:lnSpc>
                <a:spcPct val="100000"/>
              </a:lnSpc>
              <a:spcBef>
                <a:spcPts val="0"/>
              </a:spcBef>
              <a:spcAft>
                <a:spcPts val="0"/>
              </a:spcAft>
            </a:pPr>
            <a:r>
              <a:rPr sz="900" b="1" i="0">
                <a:solidFill>
                  <a:srgbClr val="5B6672"/>
                </a:solidFill>
                <a:latin typeface="Segoe UI Semibold"/>
              </a:rPr>
              <a:t>Identity</a:t>
            </a:r>
          </a:p>
        </p:txBody>
      </p:sp>
      <p:sp>
        <p:nvSpPr>
          <p:cNvPr id="104" name="Oval 103"/>
          <p:cNvSpPr/>
          <p:nvPr/>
        </p:nvSpPr>
        <p:spPr>
          <a:xfrm>
            <a:off x="5422392" y="5843016"/>
            <a:ext cx="246888" cy="24688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22392" y="5843016"/>
            <a:ext cx="246888" cy="246888"/>
          </a:xfrm>
          <a:prstGeom prst="rect">
            <a:avLst/>
          </a:prstGeom>
          <a:noFill/>
        </p:spPr>
        <p:txBody>
          <a:bodyPr wrap="none" lIns="0" rIns="0" tIns="0" bIns="0" anchor="ctr">
            <a:spAutoFit/>
          </a:bodyPr>
          <a:lstStyle/>
          <a:p>
            <a:pPr algn="ctr">
              <a:lnSpc>
                <a:spcPct val="100000"/>
              </a:lnSpc>
              <a:spcBef>
                <a:spcPts val="0"/>
              </a:spcBef>
              <a:spcAft>
                <a:spcPts val="0"/>
              </a:spcAft>
            </a:pPr>
            <a:r>
              <a:rPr sz="1030" b="0" i="0">
                <a:solidFill>
                  <a:srgbClr val="FFFFFF"/>
                </a:solidFill>
                <a:latin typeface="Segoe MDL2 Assets"/>
              </a:rPr>
              <a:t></a:t>
            </a:r>
          </a:p>
        </p:txBody>
      </p:sp>
      <p:sp>
        <p:nvSpPr>
          <p:cNvPr id="106" name="TextBox 105"/>
          <p:cNvSpPr txBox="1"/>
          <p:nvPr/>
        </p:nvSpPr>
        <p:spPr>
          <a:xfrm>
            <a:off x="5751576" y="5843016"/>
            <a:ext cx="960120" cy="246888"/>
          </a:xfrm>
          <a:prstGeom prst="rect">
            <a:avLst/>
          </a:prstGeom>
          <a:noFill/>
        </p:spPr>
        <p:txBody>
          <a:bodyPr wrap="none" lIns="0" rIns="0" tIns="0" bIns="0" anchor="ctr">
            <a:spAutoFit/>
          </a:bodyPr>
          <a:lstStyle/>
          <a:p>
            <a:pPr algn="l">
              <a:lnSpc>
                <a:spcPct val="100000"/>
              </a:lnSpc>
              <a:spcBef>
                <a:spcPts val="0"/>
              </a:spcBef>
              <a:spcAft>
                <a:spcPts val="0"/>
              </a:spcAft>
            </a:pPr>
            <a:r>
              <a:rPr sz="900" b="1" i="0">
                <a:solidFill>
                  <a:srgbClr val="5B6672"/>
                </a:solidFill>
                <a:latin typeface="Segoe UI Semibold"/>
              </a:rPr>
              <a:t>Security</a:t>
            </a:r>
          </a:p>
        </p:txBody>
      </p:sp>
      <p:sp>
        <p:nvSpPr>
          <p:cNvPr id="107" name="Oval 106"/>
          <p:cNvSpPr/>
          <p:nvPr/>
        </p:nvSpPr>
        <p:spPr>
          <a:xfrm>
            <a:off x="6784848" y="5843016"/>
            <a:ext cx="246888" cy="246888"/>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784848" y="5843016"/>
            <a:ext cx="246888" cy="246888"/>
          </a:xfrm>
          <a:prstGeom prst="rect">
            <a:avLst/>
          </a:prstGeom>
          <a:noFill/>
        </p:spPr>
        <p:txBody>
          <a:bodyPr wrap="none" lIns="0" rIns="0" tIns="0" bIns="0" anchor="ctr">
            <a:spAutoFit/>
          </a:bodyPr>
          <a:lstStyle/>
          <a:p>
            <a:pPr algn="ctr">
              <a:lnSpc>
                <a:spcPct val="100000"/>
              </a:lnSpc>
              <a:spcBef>
                <a:spcPts val="0"/>
              </a:spcBef>
              <a:spcAft>
                <a:spcPts val="0"/>
              </a:spcAft>
            </a:pPr>
            <a:r>
              <a:rPr sz="1030" b="0" i="0">
                <a:solidFill>
                  <a:srgbClr val="FFFFFF"/>
                </a:solidFill>
                <a:latin typeface="Segoe MDL2 Assets"/>
              </a:rPr>
              <a:t></a:t>
            </a:r>
          </a:p>
        </p:txBody>
      </p:sp>
      <p:sp>
        <p:nvSpPr>
          <p:cNvPr id="109" name="TextBox 108"/>
          <p:cNvSpPr txBox="1"/>
          <p:nvPr/>
        </p:nvSpPr>
        <p:spPr>
          <a:xfrm>
            <a:off x="7114032" y="5843016"/>
            <a:ext cx="960120" cy="246888"/>
          </a:xfrm>
          <a:prstGeom prst="rect">
            <a:avLst/>
          </a:prstGeom>
          <a:noFill/>
        </p:spPr>
        <p:txBody>
          <a:bodyPr wrap="none" lIns="0" rIns="0" tIns="0" bIns="0" anchor="ctr">
            <a:spAutoFit/>
          </a:bodyPr>
          <a:lstStyle/>
          <a:p>
            <a:pPr algn="l">
              <a:lnSpc>
                <a:spcPct val="100000"/>
              </a:lnSpc>
              <a:spcBef>
                <a:spcPts val="0"/>
              </a:spcBef>
              <a:spcAft>
                <a:spcPts val="0"/>
              </a:spcAft>
            </a:pPr>
            <a:r>
              <a:rPr sz="900" b="1" i="0">
                <a:solidFill>
                  <a:srgbClr val="5B6672"/>
                </a:solidFill>
                <a:latin typeface="Segoe UI Semibold"/>
              </a:rPr>
              <a:t>Governance</a:t>
            </a:r>
          </a:p>
        </p:txBody>
      </p:sp>
      <p:sp>
        <p:nvSpPr>
          <p:cNvPr id="110" name="Oval 109"/>
          <p:cNvSpPr/>
          <p:nvPr/>
        </p:nvSpPr>
        <p:spPr>
          <a:xfrm>
            <a:off x="8458200" y="5843016"/>
            <a:ext cx="246888" cy="246888"/>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458200" y="5843016"/>
            <a:ext cx="246888" cy="246888"/>
          </a:xfrm>
          <a:prstGeom prst="rect">
            <a:avLst/>
          </a:prstGeom>
          <a:noFill/>
        </p:spPr>
        <p:txBody>
          <a:bodyPr wrap="none" lIns="0" rIns="0" tIns="0" bIns="0" anchor="ctr">
            <a:spAutoFit/>
          </a:bodyPr>
          <a:lstStyle/>
          <a:p>
            <a:pPr algn="ctr">
              <a:lnSpc>
                <a:spcPct val="100000"/>
              </a:lnSpc>
              <a:spcBef>
                <a:spcPts val="0"/>
              </a:spcBef>
              <a:spcAft>
                <a:spcPts val="0"/>
              </a:spcAft>
            </a:pPr>
            <a:r>
              <a:rPr sz="1030" b="0" i="0">
                <a:solidFill>
                  <a:srgbClr val="FFFFFF"/>
                </a:solidFill>
                <a:latin typeface="Segoe MDL2 Assets"/>
              </a:rPr>
              <a:t></a:t>
            </a:r>
          </a:p>
        </p:txBody>
      </p:sp>
      <p:sp>
        <p:nvSpPr>
          <p:cNvPr id="112" name="TextBox 111"/>
          <p:cNvSpPr txBox="1"/>
          <p:nvPr/>
        </p:nvSpPr>
        <p:spPr>
          <a:xfrm>
            <a:off x="8787384" y="5843016"/>
            <a:ext cx="960120" cy="246888"/>
          </a:xfrm>
          <a:prstGeom prst="rect">
            <a:avLst/>
          </a:prstGeom>
          <a:noFill/>
        </p:spPr>
        <p:txBody>
          <a:bodyPr wrap="none" lIns="0" rIns="0" tIns="0" bIns="0" anchor="ctr">
            <a:spAutoFit/>
          </a:bodyPr>
          <a:lstStyle/>
          <a:p>
            <a:pPr algn="l">
              <a:lnSpc>
                <a:spcPct val="100000"/>
              </a:lnSpc>
              <a:spcBef>
                <a:spcPts val="0"/>
              </a:spcBef>
              <a:spcAft>
                <a:spcPts val="0"/>
              </a:spcAft>
            </a:pPr>
            <a:r>
              <a:rPr sz="900" b="1" i="0">
                <a:solidFill>
                  <a:srgbClr val="5B6672"/>
                </a:solidFill>
                <a:latin typeface="Segoe UI Semibold"/>
              </a:rPr>
              <a:t>ALM</a:t>
            </a:r>
          </a:p>
        </p:txBody>
      </p:sp>
      <p:sp>
        <p:nvSpPr>
          <p:cNvPr id="113" name="Oval 112"/>
          <p:cNvSpPr/>
          <p:nvPr/>
        </p:nvSpPr>
        <p:spPr>
          <a:xfrm>
            <a:off x="9537192" y="5843016"/>
            <a:ext cx="246888" cy="246888"/>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537192" y="5843016"/>
            <a:ext cx="246888" cy="246888"/>
          </a:xfrm>
          <a:prstGeom prst="rect">
            <a:avLst/>
          </a:prstGeom>
          <a:noFill/>
        </p:spPr>
        <p:txBody>
          <a:bodyPr wrap="none" lIns="0" rIns="0" tIns="0" bIns="0" anchor="ctr">
            <a:spAutoFit/>
          </a:bodyPr>
          <a:lstStyle/>
          <a:p>
            <a:pPr algn="ctr">
              <a:lnSpc>
                <a:spcPct val="100000"/>
              </a:lnSpc>
              <a:spcBef>
                <a:spcPts val="0"/>
              </a:spcBef>
              <a:spcAft>
                <a:spcPts val="0"/>
              </a:spcAft>
            </a:pPr>
            <a:r>
              <a:rPr sz="1030" b="0" i="0">
                <a:solidFill>
                  <a:srgbClr val="FFFFFF"/>
                </a:solidFill>
                <a:latin typeface="Segoe MDL2 Assets"/>
              </a:rPr>
              <a:t></a:t>
            </a:r>
          </a:p>
        </p:txBody>
      </p:sp>
      <p:sp>
        <p:nvSpPr>
          <p:cNvPr id="115" name="TextBox 114"/>
          <p:cNvSpPr txBox="1"/>
          <p:nvPr/>
        </p:nvSpPr>
        <p:spPr>
          <a:xfrm>
            <a:off x="9866376" y="5843016"/>
            <a:ext cx="960120" cy="246888"/>
          </a:xfrm>
          <a:prstGeom prst="rect">
            <a:avLst/>
          </a:prstGeom>
          <a:noFill/>
        </p:spPr>
        <p:txBody>
          <a:bodyPr wrap="none" lIns="0" rIns="0" tIns="0" bIns="0" anchor="ctr">
            <a:spAutoFit/>
          </a:bodyPr>
          <a:lstStyle/>
          <a:p>
            <a:pPr algn="l">
              <a:lnSpc>
                <a:spcPct val="100000"/>
              </a:lnSpc>
              <a:spcBef>
                <a:spcPts val="0"/>
              </a:spcBef>
              <a:spcAft>
                <a:spcPts val="0"/>
              </a:spcAft>
            </a:pPr>
            <a:r>
              <a:rPr sz="900" b="1" i="0">
                <a:solidFill>
                  <a:srgbClr val="5B6672"/>
                </a:solidFill>
                <a:latin typeface="Segoe UI Semibold"/>
              </a:rPr>
              <a:t>Analytics</a:t>
            </a:r>
          </a:p>
        </p:txBody>
      </p:sp>
      <p:sp>
        <p:nvSpPr>
          <p:cNvPr id="116" name="TextBox 115"/>
          <p:cNvSpPr txBox="1"/>
          <p:nvPr/>
        </p:nvSpPr>
        <p:spPr>
          <a:xfrm>
            <a:off x="777240" y="6510528"/>
            <a:ext cx="1828800" cy="155448"/>
          </a:xfrm>
          <a:prstGeom prst="rect">
            <a:avLst/>
          </a:prstGeom>
          <a:noFill/>
        </p:spPr>
        <p:txBody>
          <a:bodyPr wrap="none" lIns="0" rIns="0" tIns="0" bIns="0" anchor="t">
            <a:spAutoFit/>
          </a:bodyPr>
          <a:lstStyle/>
          <a:p>
            <a:pPr algn="l">
              <a:lnSpc>
                <a:spcPct val="100000"/>
              </a:lnSpc>
              <a:spcBef>
                <a:spcPts val="0"/>
              </a:spcBef>
              <a:spcAft>
                <a:spcPts val="0"/>
              </a:spcAft>
            </a:pPr>
            <a:r>
              <a:rPr sz="850" b="0" i="0">
                <a:solidFill>
                  <a:srgbClr val="9AA3AD"/>
                </a:solidFill>
                <a:latin typeface="Segoe UI"/>
              </a:rPr>
              <a:t>Copilot Studio</a:t>
            </a:r>
          </a:p>
        </p:txBody>
      </p:sp>
      <p:sp>
        <p:nvSpPr>
          <p:cNvPr id="117" name="TextBox 116"/>
          <p:cNvSpPr txBox="1"/>
          <p:nvPr/>
        </p:nvSpPr>
        <p:spPr>
          <a:xfrm>
            <a:off x="11228832" y="6473952"/>
            <a:ext cx="320040" cy="164592"/>
          </a:xfrm>
          <a:prstGeom prst="rect">
            <a:avLst/>
          </a:prstGeom>
          <a:noFill/>
        </p:spPr>
        <p:txBody>
          <a:bodyPr wrap="none" lIns="0" rIns="0" tIns="0" bIns="0" anchor="t">
            <a:spAutoFit/>
          </a:bodyPr>
          <a:lstStyle/>
          <a:p>
            <a:pPr algn="r">
              <a:lnSpc>
                <a:spcPct val="100000"/>
              </a:lnSpc>
              <a:spcBef>
                <a:spcPts val="0"/>
              </a:spcBef>
              <a:spcAft>
                <a:spcPts val="0"/>
              </a:spcAft>
            </a:pPr>
            <a:r>
              <a:rPr sz="900" b="0" i="0">
                <a:solidFill>
                  <a:srgbClr val="9AA3AD"/>
                </a:solidFill>
                <a:latin typeface="Segoe U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3799</TotalTime>
  <Words>1528</Words>
  <Application>Microsoft Office PowerPoint</Application>
  <PresentationFormat>Widescreen</PresentationFormat>
  <Paragraphs>208</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Mona Sans VF</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27</cp:revision>
  <dcterms:created xsi:type="dcterms:W3CDTF">2026-07-29T22:18:20Z</dcterms:created>
  <dcterms:modified xsi:type="dcterms:W3CDTF">2026-08-03T15:52:09Z</dcterms:modified>
</cp:coreProperties>
</file>