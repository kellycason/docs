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147" d="100"/>
          <a:sy n="147" d="100"/>
        </p:scale>
        <p:origin x="792" y="80"/>
      </p:cViewPr>
      <p:guideLst/>
    </p:cSldViewPr>
  </p:slideViewPr>
  <p:notesTextViewPr>
    <p:cViewPr>
      <p:scale>
        <a:sx n="1" d="1"/>
        <a:sy n="1" d="1"/>
      </p:scale>
      <p:origin x="0" y="-61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owns the conversation and orchestration; AI Builder performs a focused task inside an agent flow, app, or automation. Use the four examples to show document processing, classification and extraction, prediction, and controlled prompts. Validate the selected model and feature in the target GCC environment before the customer session.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 the discussion by audience rather than reciting every channel. Employees use M365 Copilot and Teams; authenticated users can use Power Pages or custom applications; public users can receive anonymous website self-service over public knowledge; service scenarios can add messaging, voice, and live handoff with applicable Dynamics 365 capabilities.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 — an expansion, not a replacement.</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623560" y="4114800"/>
            <a:ext cx="960120" cy="0"/>
          </a:xfrm>
          <a:prstGeom prst="line">
            <a:avLst/>
          </a:prstGeom>
          <a:noFill/>
          <a:ln w="31750">
            <a:solidFill>
              <a:srgbClr val="8661C5"/>
            </a:solidFill>
            <a:prstDash val="solid"/>
            <a:headEnd type="none"/>
            <a:tailEnd type="triangle"/>
          </a:ln>
        </p:spPr>
        <p:txBody>
          <a:bodyPr/>
          <a:lstStyle/>
          <a:p>
            <a:endParaRPr lang="en-US"/>
          </a:p>
        </p:txBody>
      </p:sp>
      <p:sp>
        <p:nvSpPr>
          <p:cNvPr id="21" name="Text 15"/>
          <p:cNvSpPr/>
          <p:nvPr/>
        </p:nvSpPr>
        <p:spPr>
          <a:xfrm>
            <a:off x="5513832" y="4195506"/>
            <a:ext cx="1188720" cy="274320"/>
          </a:xfrm>
          <a:prstGeom prst="rect">
            <a:avLst/>
          </a:prstGeom>
          <a:noFill/>
          <a:ln/>
        </p:spPr>
        <p:txBody>
          <a:bodyPr wrap="square" lIns="0" tIns="0" rIns="0" bIns="0" rtlCol="0" anchor="ctr">
            <a:normAutofit/>
          </a:bodyPr>
          <a:lstStyle/>
          <a:p>
            <a:pPr marL="0" indent="0" algn="ctr">
              <a:buNone/>
            </a:pPr>
            <a:r>
              <a:rPr lang="en-US" sz="980" b="1" dirty="0">
                <a:solidFill>
                  <a:srgbClr val="5B6672"/>
                </a:solidFill>
                <a:latin typeface="Segoe UI Semibold" pitchFamily="34" charset="0"/>
                <a:ea typeface="Segoe UI Semibold" pitchFamily="34" charset="-122"/>
                <a:cs typeface="Segoe UI Semibold" pitchFamily="34" charset="-120"/>
              </a:rPr>
              <a:t>EXTEND</a:t>
            </a:r>
            <a:endParaRPr lang="en-US" sz="980" dirty="0">
              <a:solidFill>
                <a:srgbClr val="5B6672"/>
              </a:solidFill>
            </a:endParaRPr>
          </a:p>
        </p:txBody>
      </p:sp>
      <p:sp>
        <p:nvSpPr>
          <p:cNvPr id="22" name="Text 16"/>
          <p:cNvSpPr/>
          <p:nvPr/>
        </p:nvSpPr>
        <p:spPr>
          <a:xfrm>
            <a:off x="1920240" y="5806440"/>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dirty="0">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dirty="0">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4</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749641"/>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8910" y="2809643"/>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EXTEND M365 COPILOT</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From a grounded answer to a governed business action — inside M365 Copilot.</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agent moves past the FAQ: it cites approved knowledge, then takes the next step.</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1005840"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pic>
        <p:nvPicPr>
          <p:cNvPr id="10" name="Image 1" descr="preencoded.png"/>
          <p:cNvPicPr>
            <a:picLocks noChangeAspect="1"/>
          </p:cNvPicPr>
          <p:nvPr/>
        </p:nvPicPr>
        <p:blipFill>
          <a:blip r:embed="rId4"/>
          <a:stretch>
            <a:fillRect/>
          </a:stretch>
        </p:blipFill>
        <p:spPr>
          <a:xfrm>
            <a:off x="3172968" y="3136392"/>
            <a:ext cx="530352" cy="530352"/>
          </a:xfrm>
          <a:prstGeom prst="rect">
            <a:avLst/>
          </a:prstGeom>
        </p:spPr>
      </p:pic>
      <p:sp>
        <p:nvSpPr>
          <p:cNvPr id="11" name="Text 7"/>
          <p:cNvSpPr/>
          <p:nvPr/>
        </p:nvSpPr>
        <p:spPr>
          <a:xfrm>
            <a:off x="1005840"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 in the flow of work</a:t>
            </a:r>
            <a:endParaRPr lang="en-US" sz="1450" dirty="0"/>
          </a:p>
        </p:txBody>
      </p:sp>
      <p:sp>
        <p:nvSpPr>
          <p:cNvPr id="12" name="Text 8"/>
          <p:cNvSpPr/>
          <p:nvPr/>
        </p:nvSpPr>
        <p:spPr>
          <a:xfrm>
            <a:off x="1005840"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An employee invokes the agent right inside M365 Copilot</a:t>
            </a:r>
            <a:endParaRPr lang="en-US" sz="1100" dirty="0"/>
          </a:p>
        </p:txBody>
      </p:sp>
      <p:sp>
        <p:nvSpPr>
          <p:cNvPr id="13" name="Shape 9"/>
          <p:cNvSpPr/>
          <p:nvPr/>
        </p:nvSpPr>
        <p:spPr>
          <a:xfrm>
            <a:off x="4379976"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700016"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pic>
        <p:nvPicPr>
          <p:cNvPr id="15" name="Image 2" descr="preencoded.png"/>
          <p:cNvPicPr>
            <a:picLocks noChangeAspect="1"/>
          </p:cNvPicPr>
          <p:nvPr/>
        </p:nvPicPr>
        <p:blipFill>
          <a:blip r:embed="rId5"/>
          <a:stretch>
            <a:fillRect/>
          </a:stretch>
        </p:blipFill>
        <p:spPr>
          <a:xfrm>
            <a:off x="6867144" y="3136392"/>
            <a:ext cx="530352" cy="530352"/>
          </a:xfrm>
          <a:prstGeom prst="rect">
            <a:avLst/>
          </a:prstGeom>
        </p:spPr>
      </p:pic>
      <p:sp>
        <p:nvSpPr>
          <p:cNvPr id="16" name="Text 11"/>
          <p:cNvSpPr/>
          <p:nvPr/>
        </p:nvSpPr>
        <p:spPr>
          <a:xfrm>
            <a:off x="4700016"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Ground the answer</a:t>
            </a:r>
            <a:endParaRPr lang="en-US" sz="1450" dirty="0"/>
          </a:p>
        </p:txBody>
      </p:sp>
      <p:sp>
        <p:nvSpPr>
          <p:cNvPr id="17" name="Text 12"/>
          <p:cNvSpPr/>
          <p:nvPr/>
        </p:nvSpPr>
        <p:spPr>
          <a:xfrm>
            <a:off x="4700016"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Approved knowledge returns a focused, cited response</a:t>
            </a:r>
            <a:endParaRPr lang="en-US" sz="1100" dirty="0"/>
          </a:p>
        </p:txBody>
      </p:sp>
      <p:sp>
        <p:nvSpPr>
          <p:cNvPr id="18" name="Shape 13"/>
          <p:cNvSpPr/>
          <p:nvPr/>
        </p:nvSpPr>
        <p:spPr>
          <a:xfrm>
            <a:off x="8074152" y="2880360"/>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94192" y="3182112"/>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pic>
        <p:nvPicPr>
          <p:cNvPr id="20" name="Image 3" descr="preencoded.png"/>
          <p:cNvPicPr>
            <a:picLocks noChangeAspect="1"/>
          </p:cNvPicPr>
          <p:nvPr/>
        </p:nvPicPr>
        <p:blipFill>
          <a:blip r:embed="rId6"/>
          <a:stretch>
            <a:fillRect/>
          </a:stretch>
        </p:blipFill>
        <p:spPr>
          <a:xfrm>
            <a:off x="10561320" y="3136392"/>
            <a:ext cx="530352" cy="530352"/>
          </a:xfrm>
          <a:prstGeom prst="rect">
            <a:avLst/>
          </a:prstGeom>
        </p:spPr>
      </p:pic>
      <p:sp>
        <p:nvSpPr>
          <p:cNvPr id="21" name="Text 15"/>
          <p:cNvSpPr/>
          <p:nvPr/>
        </p:nvSpPr>
        <p:spPr>
          <a:xfrm>
            <a:off x="8394192" y="3950208"/>
            <a:ext cx="2697480" cy="5029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Complete the next step</a:t>
            </a:r>
            <a:endParaRPr lang="en-US" sz="1450" dirty="0"/>
          </a:p>
        </p:txBody>
      </p:sp>
      <p:sp>
        <p:nvSpPr>
          <p:cNvPr id="22" name="Text 16"/>
          <p:cNvSpPr/>
          <p:nvPr/>
        </p:nvSpPr>
        <p:spPr>
          <a:xfrm>
            <a:off x="8394192" y="4572000"/>
            <a:ext cx="2697480" cy="594360"/>
          </a:xfrm>
          <a:prstGeom prst="rect">
            <a:avLst/>
          </a:prstGeom>
          <a:noFill/>
          <a:ln/>
        </p:spPr>
        <p:txBody>
          <a:bodyPr wrap="square" lIns="0" tIns="0" rIns="0" bIns="0" rtlCol="0" anchor="ctr">
            <a:normAutofit/>
          </a:bodyPr>
          <a:lstStyle/>
          <a:p>
            <a:pPr marL="0" indent="0">
              <a:buNone/>
            </a:pPr>
            <a:r>
              <a:rPr lang="en-US" sz="1100" dirty="0">
                <a:solidFill>
                  <a:srgbClr val="5B6672"/>
                </a:solidFill>
                <a:latin typeface="Segoe UI" pitchFamily="34" charset="0"/>
                <a:ea typeface="Segoe UI" pitchFamily="34" charset="-122"/>
                <a:cs typeface="Segoe UI" pitchFamily="34" charset="-120"/>
              </a:rPr>
              <a:t>A connector or agent flow acts — and confirms the result</a:t>
            </a:r>
            <a:endParaRPr lang="en-US" sz="1100" dirty="0"/>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buNone/>
            </a:pPr>
            <a:r>
              <a:rPr lang="en-US" sz="1120" b="1" dirty="0">
                <a:solidFill>
                  <a:srgbClr val="174E7E"/>
                </a:solidFill>
                <a:latin typeface="Segoe UI Semibold" pitchFamily="34" charset="0"/>
                <a:ea typeface="Segoe UI Semibold" pitchFamily="34" charset="-122"/>
                <a:cs typeface="Segoe UI Semibold" pitchFamily="34" charset="-120"/>
              </a:rPr>
              <a:t>Watch for:  specialized scope  ·  cited knowledge  ·  a real tool call  ·  confirmation</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AI BUILDER IN THE PROCESS</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Copilot Studio owns the conversation; </a:t>
            </a:r>
            <a:r>
              <a:rPr lang="en-US" sz="2400" b="1" dirty="0">
                <a:solidFill>
                  <a:srgbClr val="C03BC4"/>
                </a:solidFill>
                <a:latin typeface="Segoe UI Semibold" pitchFamily="34" charset="0"/>
                <a:ea typeface="Segoe UI Semibold" pitchFamily="34" charset="-122"/>
                <a:cs typeface="Segoe UI Semibold" pitchFamily="34" charset="-120"/>
              </a:rPr>
              <a:t>AI Builder does the specialized task.</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focused AI capability inside an agent flow — not a second agent platform.</a:t>
            </a:r>
            <a:endParaRPr lang="en-US" sz="1320" dirty="0"/>
          </a:p>
        </p:txBody>
      </p:sp>
      <p:sp>
        <p:nvSpPr>
          <p:cNvPr id="5" name="Shape 3"/>
          <p:cNvSpPr/>
          <p:nvPr/>
        </p:nvSpPr>
        <p:spPr>
          <a:xfrm>
            <a:off x="685800" y="2770632"/>
            <a:ext cx="4160520" cy="2788920"/>
          </a:xfrm>
          <a:prstGeom prst="roundRect">
            <a:avLst>
              <a:gd name="adj" fmla="val 2951"/>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33272" y="3108960"/>
            <a:ext cx="566928" cy="566928"/>
          </a:xfrm>
          <a:prstGeom prst="rect">
            <a:avLst/>
          </a:prstGeom>
        </p:spPr>
      </p:pic>
      <p:sp>
        <p:nvSpPr>
          <p:cNvPr id="8" name="Text 4"/>
          <p:cNvSpPr/>
          <p:nvPr/>
        </p:nvSpPr>
        <p:spPr>
          <a:xfrm>
            <a:off x="1783080" y="3246120"/>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9" name="Text 5"/>
          <p:cNvSpPr/>
          <p:nvPr/>
        </p:nvSpPr>
        <p:spPr>
          <a:xfrm>
            <a:off x="1033272" y="3822192"/>
            <a:ext cx="2834640" cy="347472"/>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Owns the interaction</a:t>
            </a:r>
            <a:endParaRPr lang="en-US" sz="1700" dirty="0"/>
          </a:p>
        </p:txBody>
      </p:sp>
      <p:sp>
        <p:nvSpPr>
          <p:cNvPr id="10" name="Text 6"/>
          <p:cNvSpPr/>
          <p:nvPr/>
        </p:nvSpPr>
        <p:spPr>
          <a:xfrm>
            <a:off x="1033272" y="4370832"/>
            <a:ext cx="2926080" cy="960120"/>
          </a:xfrm>
          <a:prstGeom prst="rect">
            <a:avLst/>
          </a:prstGeom>
          <a:noFill/>
          <a:ln/>
        </p:spPr>
        <p:txBody>
          <a:bodyPr wrap="square" lIns="0" tIns="0" rIns="0" bIns="0" rtlCol="0" anchor="ctr">
            <a:normAutofit/>
          </a:bodyPr>
          <a:lstStyle/>
          <a:p>
            <a:pPr marL="0" indent="0">
              <a:buNone/>
            </a:pPr>
            <a:r>
              <a:rPr lang="en-US" sz="1180" dirty="0">
                <a:solidFill>
                  <a:srgbClr val="C8D8E5"/>
                </a:solidFill>
                <a:latin typeface="Segoe UI" pitchFamily="34" charset="0"/>
                <a:ea typeface="Segoe UI" pitchFamily="34" charset="-122"/>
                <a:cs typeface="Segoe UI" pitchFamily="34" charset="-120"/>
              </a:rPr>
              <a:t>Understands intent</a:t>
            </a:r>
            <a:endParaRPr lang="en-US" sz="1180" dirty="0"/>
          </a:p>
          <a:p>
            <a:pPr marL="0" indent="0">
              <a:buNone/>
            </a:pPr>
            <a:r>
              <a:rPr lang="en-US" sz="1180" dirty="0">
                <a:solidFill>
                  <a:srgbClr val="C8D8E5"/>
                </a:solidFill>
                <a:latin typeface="Segoe UI" pitchFamily="34" charset="0"/>
                <a:ea typeface="Segoe UI" pitchFamily="34" charset="-122"/>
                <a:cs typeface="Segoe UI" pitchFamily="34" charset="-120"/>
              </a:rPr>
              <a:t>Chooses knowledge &amp; tools</a:t>
            </a:r>
            <a:endParaRPr lang="en-US" sz="1180" dirty="0"/>
          </a:p>
          <a:p>
            <a:pPr marL="0" indent="0">
              <a:buNone/>
            </a:pPr>
            <a:r>
              <a:rPr lang="en-US" sz="1180" dirty="0">
                <a:solidFill>
                  <a:srgbClr val="C8D8E5"/>
                </a:solidFill>
                <a:latin typeface="Segoe UI" pitchFamily="34" charset="0"/>
                <a:ea typeface="Segoe UI" pitchFamily="34" charset="-122"/>
                <a:cs typeface="Segoe UI" pitchFamily="34" charset="-120"/>
              </a:rPr>
              <a:t>Manages the conversation</a:t>
            </a:r>
            <a:endParaRPr lang="en-US" sz="1180" dirty="0"/>
          </a:p>
          <a:p>
            <a:pPr marL="0" indent="0">
              <a:buNone/>
            </a:pPr>
            <a:r>
              <a:rPr lang="en-US" sz="1180" dirty="0">
                <a:solidFill>
                  <a:srgbClr val="C8D8E5"/>
                </a:solidFill>
                <a:latin typeface="Segoe UI" pitchFamily="34" charset="0"/>
                <a:ea typeface="Segoe UI" pitchFamily="34" charset="-122"/>
                <a:cs typeface="Segoe UI" pitchFamily="34" charset="-120"/>
              </a:rPr>
              <a:t>Returns the result</a:t>
            </a:r>
            <a:endParaRPr lang="en-US" sz="1180" dirty="0"/>
          </a:p>
        </p:txBody>
      </p:sp>
      <p:sp>
        <p:nvSpPr>
          <p:cNvPr id="11" name="Shape 7"/>
          <p:cNvSpPr/>
          <p:nvPr/>
        </p:nvSpPr>
        <p:spPr>
          <a:xfrm>
            <a:off x="5010912" y="3182112"/>
            <a:ext cx="548640" cy="0"/>
          </a:xfrm>
          <a:prstGeom prst="line">
            <a:avLst/>
          </a:prstGeom>
          <a:noFill/>
          <a:ln w="31750">
            <a:solidFill>
              <a:srgbClr val="C03BC4"/>
            </a:solidFill>
            <a:prstDash val="solid"/>
            <a:headEnd type="none"/>
            <a:tailEnd type="triangle"/>
          </a:ln>
        </p:spPr>
        <p:txBody>
          <a:bodyPr/>
          <a:lstStyle/>
          <a:p>
            <a:endParaRPr lang="en-US"/>
          </a:p>
        </p:txBody>
      </p:sp>
      <p:pic>
        <p:nvPicPr>
          <p:cNvPr id="12" name="Image 2" descr="preencoded.png"/>
          <p:cNvPicPr>
            <a:picLocks noChangeAspect="1"/>
          </p:cNvPicPr>
          <p:nvPr/>
        </p:nvPicPr>
        <p:blipFill>
          <a:blip r:embed="rId4"/>
          <a:stretch>
            <a:fillRect/>
          </a:stretch>
        </p:blipFill>
        <p:spPr>
          <a:xfrm>
            <a:off x="5760720" y="2788920"/>
            <a:ext cx="566928" cy="566928"/>
          </a:xfrm>
          <a:prstGeom prst="rect">
            <a:avLst/>
          </a:prstGeom>
        </p:spPr>
      </p:pic>
      <p:sp>
        <p:nvSpPr>
          <p:cNvPr id="13" name="Text 8"/>
          <p:cNvSpPr/>
          <p:nvPr/>
        </p:nvSpPr>
        <p:spPr>
          <a:xfrm>
            <a:off x="6492240" y="2926080"/>
            <a:ext cx="4114800" cy="274320"/>
          </a:xfrm>
          <a:prstGeom prst="rect">
            <a:avLst/>
          </a:prstGeom>
          <a:noFill/>
          <a:ln/>
        </p:spPr>
        <p:txBody>
          <a:bodyPr wrap="square" lIns="0" tIns="0" rIns="0" bIns="0" rtlCol="0" anchor="ctr">
            <a:normAutofit/>
          </a:bodyPr>
          <a:lstStyle/>
          <a:p>
            <a:pPr marL="0" indent="0">
              <a:buNone/>
            </a:pPr>
            <a:r>
              <a:rPr lang="en-US" sz="1200" b="1" dirty="0">
                <a:solidFill>
                  <a:srgbClr val="C03BC4"/>
                </a:solidFill>
                <a:latin typeface="Segoe UI Semibold" pitchFamily="34" charset="0"/>
                <a:ea typeface="Segoe UI Semibold" pitchFamily="34" charset="-122"/>
                <a:cs typeface="Segoe UI Semibold" pitchFamily="34" charset="-120"/>
              </a:rPr>
              <a:t>AI BUILDER  ·  THE FOCUSED TASK</a:t>
            </a:r>
            <a:endParaRPr lang="en-US" sz="1200" dirty="0"/>
          </a:p>
        </p:txBody>
      </p:sp>
      <p:sp>
        <p:nvSpPr>
          <p:cNvPr id="14" name="Shape 9"/>
          <p:cNvSpPr/>
          <p:nvPr/>
        </p:nvSpPr>
        <p:spPr>
          <a:xfrm>
            <a:off x="5760720" y="3493008"/>
            <a:ext cx="2578608" cy="960120"/>
          </a:xfrm>
          <a:prstGeom prst="roundRect">
            <a:avLst>
              <a:gd name="adj" fmla="val 8571"/>
            </a:avLst>
          </a:prstGeom>
          <a:solidFill>
            <a:srgbClr val="FFFFFF"/>
          </a:solidFill>
          <a:ln w="12700">
            <a:solidFill>
              <a:srgbClr val="E7E5F0"/>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5925312" y="3694176"/>
            <a:ext cx="457200" cy="457200"/>
          </a:xfrm>
          <a:prstGeom prst="rect">
            <a:avLst/>
          </a:prstGeom>
        </p:spPr>
      </p:pic>
      <p:sp>
        <p:nvSpPr>
          <p:cNvPr id="16" name="Text 10"/>
          <p:cNvSpPr/>
          <p:nvPr/>
        </p:nvSpPr>
        <p:spPr>
          <a:xfrm>
            <a:off x="6510528" y="3675888"/>
            <a:ext cx="1600200" cy="256032"/>
          </a:xfrm>
          <a:prstGeom prst="rect">
            <a:avLst/>
          </a:prstGeom>
          <a:noFill/>
          <a:ln/>
        </p:spPr>
        <p:txBody>
          <a:bodyPr wrap="square" lIns="0" tIns="0" rIns="0" bIns="0" rtlCol="0" anchor="ctr">
            <a:normAutofit/>
          </a:bodyPr>
          <a:lstStyle/>
          <a:p>
            <a:pPr marL="0" indent="0">
              <a:buNone/>
            </a:pPr>
            <a:r>
              <a:rPr lang="en-US" sz="1220" b="1" dirty="0">
                <a:solidFill>
                  <a:srgbClr val="091F2C"/>
                </a:solidFill>
                <a:latin typeface="Segoe UI Semibold" pitchFamily="34" charset="0"/>
                <a:ea typeface="Segoe UI Semibold" pitchFamily="34" charset="-122"/>
                <a:cs typeface="Segoe UI Semibold" pitchFamily="34" charset="-120"/>
              </a:rPr>
              <a:t>Process documents</a:t>
            </a:r>
            <a:endParaRPr lang="en-US" sz="1220" dirty="0"/>
          </a:p>
        </p:txBody>
      </p:sp>
      <p:sp>
        <p:nvSpPr>
          <p:cNvPr id="17" name="Text 11"/>
          <p:cNvSpPr/>
          <p:nvPr/>
        </p:nvSpPr>
        <p:spPr>
          <a:xfrm>
            <a:off x="6510528" y="3968496"/>
            <a:ext cx="1627632" cy="365760"/>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Read and structure incoming files</a:t>
            </a:r>
            <a:endParaRPr lang="en-US" sz="1080" dirty="0"/>
          </a:p>
        </p:txBody>
      </p:sp>
      <p:sp>
        <p:nvSpPr>
          <p:cNvPr id="18" name="Shape 12"/>
          <p:cNvSpPr/>
          <p:nvPr/>
        </p:nvSpPr>
        <p:spPr>
          <a:xfrm>
            <a:off x="8668512" y="3493008"/>
            <a:ext cx="2578608" cy="960120"/>
          </a:xfrm>
          <a:prstGeom prst="roundRect">
            <a:avLst>
              <a:gd name="adj" fmla="val 8571"/>
            </a:avLst>
          </a:prstGeom>
          <a:solidFill>
            <a:srgbClr val="FFFFFF"/>
          </a:solidFill>
          <a:ln w="12700">
            <a:solidFill>
              <a:srgbClr val="E7E5F0"/>
            </a:solidFill>
            <a:prstDash val="solid"/>
          </a:ln>
        </p:spPr>
        <p:txBody>
          <a:bodyPr/>
          <a:lstStyle/>
          <a:p>
            <a:endParaRPr lang="en-US"/>
          </a:p>
        </p:txBody>
      </p:sp>
      <p:pic>
        <p:nvPicPr>
          <p:cNvPr id="19" name="Image 4" descr="preencoded.png"/>
          <p:cNvPicPr>
            <a:picLocks noChangeAspect="1"/>
          </p:cNvPicPr>
          <p:nvPr/>
        </p:nvPicPr>
        <p:blipFill>
          <a:blip r:embed="rId6"/>
          <a:stretch>
            <a:fillRect/>
          </a:stretch>
        </p:blipFill>
        <p:spPr>
          <a:xfrm>
            <a:off x="8833104" y="3694176"/>
            <a:ext cx="457200" cy="457200"/>
          </a:xfrm>
          <a:prstGeom prst="rect">
            <a:avLst/>
          </a:prstGeom>
        </p:spPr>
      </p:pic>
      <p:sp>
        <p:nvSpPr>
          <p:cNvPr id="20" name="Text 13"/>
          <p:cNvSpPr/>
          <p:nvPr/>
        </p:nvSpPr>
        <p:spPr>
          <a:xfrm>
            <a:off x="9418320" y="3675888"/>
            <a:ext cx="1600200" cy="256032"/>
          </a:xfrm>
          <a:prstGeom prst="rect">
            <a:avLst/>
          </a:prstGeom>
          <a:noFill/>
          <a:ln/>
        </p:spPr>
        <p:txBody>
          <a:bodyPr wrap="square" lIns="0" tIns="0" rIns="0" bIns="0" rtlCol="0" anchor="ctr">
            <a:normAutofit/>
          </a:bodyPr>
          <a:lstStyle/>
          <a:p>
            <a:pPr marL="0" indent="0">
              <a:buNone/>
            </a:pPr>
            <a:r>
              <a:rPr lang="en-US" sz="1220" b="1" dirty="0">
                <a:solidFill>
                  <a:srgbClr val="091F2C"/>
                </a:solidFill>
                <a:latin typeface="Segoe UI Semibold" pitchFamily="34" charset="0"/>
                <a:ea typeface="Segoe UI Semibold" pitchFamily="34" charset="-122"/>
                <a:cs typeface="Segoe UI Semibold" pitchFamily="34" charset="-120"/>
              </a:rPr>
              <a:t>Classify &amp; extract</a:t>
            </a:r>
            <a:endParaRPr lang="en-US" sz="1220" dirty="0"/>
          </a:p>
        </p:txBody>
      </p:sp>
      <p:sp>
        <p:nvSpPr>
          <p:cNvPr id="21" name="Text 14"/>
          <p:cNvSpPr/>
          <p:nvPr/>
        </p:nvSpPr>
        <p:spPr>
          <a:xfrm>
            <a:off x="9418320" y="3968496"/>
            <a:ext cx="1627632" cy="365760"/>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Categories, entities, sentiment, fields</a:t>
            </a:r>
            <a:endParaRPr lang="en-US" sz="1080" dirty="0"/>
          </a:p>
        </p:txBody>
      </p:sp>
      <p:sp>
        <p:nvSpPr>
          <p:cNvPr id="22" name="Shape 15"/>
          <p:cNvSpPr/>
          <p:nvPr/>
        </p:nvSpPr>
        <p:spPr>
          <a:xfrm>
            <a:off x="5760720" y="4599432"/>
            <a:ext cx="2578608" cy="960120"/>
          </a:xfrm>
          <a:prstGeom prst="roundRect">
            <a:avLst>
              <a:gd name="adj" fmla="val 8571"/>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7"/>
          <a:stretch>
            <a:fillRect/>
          </a:stretch>
        </p:blipFill>
        <p:spPr>
          <a:xfrm>
            <a:off x="5925312" y="4800600"/>
            <a:ext cx="457200" cy="457200"/>
          </a:xfrm>
          <a:prstGeom prst="rect">
            <a:avLst/>
          </a:prstGeom>
        </p:spPr>
      </p:pic>
      <p:sp>
        <p:nvSpPr>
          <p:cNvPr id="24" name="Text 16"/>
          <p:cNvSpPr/>
          <p:nvPr/>
        </p:nvSpPr>
        <p:spPr>
          <a:xfrm>
            <a:off x="6510528" y="4782312"/>
            <a:ext cx="1600200" cy="256032"/>
          </a:xfrm>
          <a:prstGeom prst="rect">
            <a:avLst/>
          </a:prstGeom>
          <a:noFill/>
          <a:ln/>
        </p:spPr>
        <p:txBody>
          <a:bodyPr wrap="square" lIns="0" tIns="0" rIns="0" bIns="0" rtlCol="0" anchor="ctr">
            <a:normAutofit/>
          </a:bodyPr>
          <a:lstStyle/>
          <a:p>
            <a:pPr marL="0" indent="0">
              <a:buNone/>
            </a:pPr>
            <a:r>
              <a:rPr lang="en-US" sz="1220" b="1" dirty="0">
                <a:solidFill>
                  <a:srgbClr val="091F2C"/>
                </a:solidFill>
                <a:latin typeface="Segoe UI Semibold" pitchFamily="34" charset="0"/>
                <a:ea typeface="Segoe UI Semibold" pitchFamily="34" charset="-122"/>
                <a:cs typeface="Segoe UI Semibold" pitchFamily="34" charset="-120"/>
              </a:rPr>
              <a:t>Predict</a:t>
            </a:r>
            <a:endParaRPr lang="en-US" sz="1220" dirty="0"/>
          </a:p>
        </p:txBody>
      </p:sp>
      <p:sp>
        <p:nvSpPr>
          <p:cNvPr id="25" name="Text 17"/>
          <p:cNvSpPr/>
          <p:nvPr/>
        </p:nvSpPr>
        <p:spPr>
          <a:xfrm>
            <a:off x="6510528" y="5074920"/>
            <a:ext cx="1627632" cy="365760"/>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Score a likely business outcome</a:t>
            </a:r>
            <a:endParaRPr lang="en-US" sz="1080" dirty="0"/>
          </a:p>
        </p:txBody>
      </p:sp>
      <p:sp>
        <p:nvSpPr>
          <p:cNvPr id="26" name="Shape 18"/>
          <p:cNvSpPr/>
          <p:nvPr/>
        </p:nvSpPr>
        <p:spPr>
          <a:xfrm>
            <a:off x="8668512" y="4599432"/>
            <a:ext cx="2578608" cy="960120"/>
          </a:xfrm>
          <a:prstGeom prst="roundRect">
            <a:avLst>
              <a:gd name="adj" fmla="val 8571"/>
            </a:avLst>
          </a:prstGeom>
          <a:solidFill>
            <a:srgbClr val="FFFFFF"/>
          </a:solidFill>
          <a:ln w="12700">
            <a:solidFill>
              <a:srgbClr val="E7E5F0"/>
            </a:solidFill>
            <a:prstDash val="solid"/>
          </a:ln>
        </p:spPr>
        <p:txBody>
          <a:bodyPr/>
          <a:lstStyle/>
          <a:p>
            <a:endParaRPr lang="en-US"/>
          </a:p>
        </p:txBody>
      </p:sp>
      <p:pic>
        <p:nvPicPr>
          <p:cNvPr id="27" name="Image 6" descr="preencoded.png"/>
          <p:cNvPicPr>
            <a:picLocks noChangeAspect="1"/>
          </p:cNvPicPr>
          <p:nvPr/>
        </p:nvPicPr>
        <p:blipFill>
          <a:blip r:embed="rId8"/>
          <a:stretch>
            <a:fillRect/>
          </a:stretch>
        </p:blipFill>
        <p:spPr>
          <a:xfrm>
            <a:off x="8833104" y="4800600"/>
            <a:ext cx="457200" cy="457200"/>
          </a:xfrm>
          <a:prstGeom prst="rect">
            <a:avLst/>
          </a:prstGeom>
        </p:spPr>
      </p:pic>
      <p:sp>
        <p:nvSpPr>
          <p:cNvPr id="28" name="Text 19"/>
          <p:cNvSpPr/>
          <p:nvPr/>
        </p:nvSpPr>
        <p:spPr>
          <a:xfrm>
            <a:off x="9418320" y="4782312"/>
            <a:ext cx="1600200" cy="256032"/>
          </a:xfrm>
          <a:prstGeom prst="rect">
            <a:avLst/>
          </a:prstGeom>
          <a:noFill/>
          <a:ln/>
        </p:spPr>
        <p:txBody>
          <a:bodyPr wrap="square" lIns="0" tIns="0" rIns="0" bIns="0" rtlCol="0" anchor="ctr">
            <a:normAutofit/>
          </a:bodyPr>
          <a:lstStyle/>
          <a:p>
            <a:pPr marL="0" indent="0">
              <a:buNone/>
            </a:pPr>
            <a:r>
              <a:rPr lang="en-US" sz="1220" b="1" dirty="0">
                <a:solidFill>
                  <a:srgbClr val="091F2C"/>
                </a:solidFill>
                <a:latin typeface="Segoe UI Semibold" pitchFamily="34" charset="0"/>
                <a:ea typeface="Segoe UI Semibold" pitchFamily="34" charset="-122"/>
                <a:cs typeface="Segoe UI Semibold" pitchFamily="34" charset="-120"/>
              </a:rPr>
              <a:t>Run a prompt</a:t>
            </a:r>
            <a:endParaRPr lang="en-US" sz="1220" dirty="0"/>
          </a:p>
        </p:txBody>
      </p:sp>
      <p:sp>
        <p:nvSpPr>
          <p:cNvPr id="29" name="Text 20"/>
          <p:cNvSpPr/>
          <p:nvPr/>
        </p:nvSpPr>
        <p:spPr>
          <a:xfrm>
            <a:off x="9418320" y="5074920"/>
            <a:ext cx="1627632" cy="365760"/>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Controlled, structured GenAI output</a:t>
            </a:r>
            <a:endParaRPr lang="en-US" sz="1080" dirty="0"/>
          </a:p>
        </p:txBody>
      </p:sp>
      <p:sp>
        <p:nvSpPr>
          <p:cNvPr id="30" name="Text 21"/>
          <p:cNvSpPr/>
          <p:nvPr/>
        </p:nvSpPr>
        <p:spPr>
          <a:xfrm>
            <a:off x="1828800" y="5879592"/>
            <a:ext cx="8869680" cy="274320"/>
          </a:xfrm>
          <a:prstGeom prst="rect">
            <a:avLst/>
          </a:prstGeom>
          <a:noFill/>
          <a:ln/>
        </p:spPr>
        <p:txBody>
          <a:bodyPr wrap="square" lIns="0" tIns="0" rIns="0" bIns="0" rtlCol="0" anchor="ctr">
            <a:normAutofit/>
          </a:bodyPr>
          <a:lstStyle/>
          <a:p>
            <a:pPr marL="0" indent="0" algn="ctr">
              <a:buNone/>
            </a:pPr>
            <a:r>
              <a:rPr lang="en-US" sz="1100" dirty="0">
                <a:solidFill>
                  <a:srgbClr val="5B6672"/>
                </a:solidFill>
                <a:latin typeface="Segoe UI" pitchFamily="34" charset="0"/>
                <a:ea typeface="Segoe UI" pitchFamily="34" charset="-122"/>
                <a:cs typeface="Segoe UI" pitchFamily="34" charset="-120"/>
              </a:rPr>
              <a:t>Multiple prebuilt and custom models are available — validate the model and feature in your target environment.</a:t>
            </a:r>
            <a:endParaRPr lang="en-US" sz="1100" dirty="0"/>
          </a:p>
        </p:txBody>
      </p:sp>
      <p:sp>
        <p:nvSpPr>
          <p:cNvPr id="31"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authenticated users, citizens, and service channels.</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5" name="Shape 3"/>
          <p:cNvSpPr/>
          <p:nvPr/>
        </p:nvSpPr>
        <p:spPr>
          <a:xfrm>
            <a:off x="685800" y="2816352"/>
            <a:ext cx="2331720" cy="274320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508760" y="3072384"/>
            <a:ext cx="676656" cy="676656"/>
          </a:xfrm>
          <a:prstGeom prst="rect">
            <a:avLst/>
          </a:prstGeom>
        </p:spPr>
      </p:pic>
      <p:sp>
        <p:nvSpPr>
          <p:cNvPr id="7" name="Text 4"/>
          <p:cNvSpPr/>
          <p:nvPr/>
        </p:nvSpPr>
        <p:spPr>
          <a:xfrm>
            <a:off x="868680" y="3977640"/>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Employees</a:t>
            </a:r>
            <a:endParaRPr lang="en-US" sz="1500" dirty="0"/>
          </a:p>
        </p:txBody>
      </p:sp>
      <p:sp>
        <p:nvSpPr>
          <p:cNvPr id="8" name="Text 5"/>
          <p:cNvSpPr/>
          <p:nvPr/>
        </p:nvSpPr>
        <p:spPr>
          <a:xfrm>
            <a:off x="813816" y="4489704"/>
            <a:ext cx="2075688" cy="365760"/>
          </a:xfrm>
          <a:prstGeom prst="rect">
            <a:avLst/>
          </a:prstGeom>
          <a:noFill/>
          <a:ln/>
        </p:spPr>
        <p:txBody>
          <a:bodyPr wrap="square" lIns="0" tIns="0" rIns="0" bIns="0" rtlCol="0" anchor="ctr">
            <a:normAutofit/>
          </a:bodyPr>
          <a:lstStyle/>
          <a:p>
            <a:pPr marL="0" indent="0" algn="ctr">
              <a:buNone/>
            </a:pPr>
            <a:r>
              <a:rPr lang="en-US" sz="1130" b="1" dirty="0">
                <a:solidFill>
                  <a:srgbClr val="0078D4"/>
                </a:solidFill>
                <a:latin typeface="Segoe UI Semibold" pitchFamily="34" charset="0"/>
                <a:ea typeface="Segoe UI Semibold" pitchFamily="34" charset="-122"/>
                <a:cs typeface="Segoe UI Semibold" pitchFamily="34" charset="-120"/>
              </a:rPr>
              <a:t>M365 Copilot  ·  Teams</a:t>
            </a:r>
            <a:endParaRPr lang="en-US" sz="1130" dirty="0"/>
          </a:p>
        </p:txBody>
      </p:sp>
      <p:sp>
        <p:nvSpPr>
          <p:cNvPr id="9" name="Text 6"/>
          <p:cNvSpPr/>
          <p:nvPr/>
        </p:nvSpPr>
        <p:spPr>
          <a:xfrm>
            <a:off x="868680" y="4965192"/>
            <a:ext cx="1965960" cy="493776"/>
          </a:xfrm>
          <a:prstGeom prst="rect">
            <a:avLst/>
          </a:prstGeom>
          <a:noFill/>
          <a:ln/>
        </p:spPr>
        <p:txBody>
          <a:bodyPr wrap="square" lIns="0" tIns="0" rIns="0" bIns="0" rtlCol="0" anchor="ctr">
            <a:normAutofit/>
          </a:bodyPr>
          <a:lstStyle/>
          <a:p>
            <a:pPr marL="0" indent="0" algn="ctr">
              <a:buNone/>
            </a:pPr>
            <a:r>
              <a:rPr lang="en-US" sz="1100" dirty="0">
                <a:solidFill>
                  <a:srgbClr val="5B6672"/>
                </a:solidFill>
                <a:latin typeface="Segoe UI" pitchFamily="34" charset="0"/>
                <a:ea typeface="Segoe UI" pitchFamily="34" charset="-122"/>
                <a:cs typeface="Segoe UI" pitchFamily="34" charset="-120"/>
              </a:rPr>
              <a:t>Internal identity; connectors and agent flows</a:t>
            </a:r>
            <a:endParaRPr lang="en-US" sz="1100" dirty="0"/>
          </a:p>
        </p:txBody>
      </p:sp>
      <p:sp>
        <p:nvSpPr>
          <p:cNvPr id="10" name="Shape 7"/>
          <p:cNvSpPr/>
          <p:nvPr/>
        </p:nvSpPr>
        <p:spPr>
          <a:xfrm>
            <a:off x="3584448" y="2816352"/>
            <a:ext cx="2331720" cy="274320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407408" y="3072384"/>
            <a:ext cx="676656" cy="676656"/>
          </a:xfrm>
          <a:prstGeom prst="rect">
            <a:avLst/>
          </a:prstGeom>
        </p:spPr>
      </p:pic>
      <p:sp>
        <p:nvSpPr>
          <p:cNvPr id="12" name="Text 8"/>
          <p:cNvSpPr/>
          <p:nvPr/>
        </p:nvSpPr>
        <p:spPr>
          <a:xfrm>
            <a:off x="3767328" y="3977640"/>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Authenticated</a:t>
            </a:r>
            <a:endParaRPr lang="en-US" sz="1500" dirty="0"/>
          </a:p>
        </p:txBody>
      </p:sp>
      <p:sp>
        <p:nvSpPr>
          <p:cNvPr id="13" name="Text 9"/>
          <p:cNvSpPr/>
          <p:nvPr/>
        </p:nvSpPr>
        <p:spPr>
          <a:xfrm>
            <a:off x="3712464" y="4489704"/>
            <a:ext cx="2075688" cy="365760"/>
          </a:xfrm>
          <a:prstGeom prst="rect">
            <a:avLst/>
          </a:prstGeom>
          <a:noFill/>
          <a:ln/>
        </p:spPr>
        <p:txBody>
          <a:bodyPr wrap="square" lIns="0" tIns="0" rIns="0" bIns="0" rtlCol="0" anchor="ctr">
            <a:normAutofit/>
          </a:bodyPr>
          <a:lstStyle/>
          <a:p>
            <a:pPr marL="0" indent="0" algn="ctr">
              <a:buNone/>
            </a:pPr>
            <a:r>
              <a:rPr lang="en-US" sz="1130" b="1" dirty="0">
                <a:solidFill>
                  <a:srgbClr val="0078D4"/>
                </a:solidFill>
                <a:latin typeface="Segoe UI Semibold" pitchFamily="34" charset="0"/>
                <a:ea typeface="Segoe UI Semibold" pitchFamily="34" charset="-122"/>
                <a:cs typeface="Segoe UI Semibold" pitchFamily="34" charset="-120"/>
              </a:rPr>
              <a:t>Power Pages  ·  custom app</a:t>
            </a:r>
            <a:endParaRPr lang="en-US" sz="1130" dirty="0"/>
          </a:p>
        </p:txBody>
      </p:sp>
      <p:sp>
        <p:nvSpPr>
          <p:cNvPr id="14" name="Text 10"/>
          <p:cNvSpPr/>
          <p:nvPr/>
        </p:nvSpPr>
        <p:spPr>
          <a:xfrm>
            <a:off x="3767328" y="4965192"/>
            <a:ext cx="1965960" cy="493776"/>
          </a:xfrm>
          <a:prstGeom prst="rect">
            <a:avLst/>
          </a:prstGeom>
          <a:noFill/>
          <a:ln/>
        </p:spPr>
        <p:txBody>
          <a:bodyPr wrap="square" lIns="0" tIns="0" rIns="0" bIns="0" rtlCol="0" anchor="ctr">
            <a:normAutofit/>
          </a:bodyPr>
          <a:lstStyle/>
          <a:p>
            <a:pPr marL="0" indent="0" algn="ctr">
              <a:buNone/>
            </a:pPr>
            <a:r>
              <a:rPr lang="en-US" sz="1100" dirty="0">
                <a:solidFill>
                  <a:srgbClr val="5B6672"/>
                </a:solidFill>
                <a:latin typeface="Segoe UI" pitchFamily="34" charset="0"/>
                <a:ea typeface="Segoe UI" pitchFamily="34" charset="-122"/>
                <a:cs typeface="Segoe UI" pitchFamily="34" charset="-120"/>
              </a:rPr>
              <a:t>Signed-in users; scoped data and actions</a:t>
            </a:r>
            <a:endParaRPr lang="en-US" sz="1100" dirty="0"/>
          </a:p>
        </p:txBody>
      </p:sp>
      <p:sp>
        <p:nvSpPr>
          <p:cNvPr id="15" name="Shape 11"/>
          <p:cNvSpPr/>
          <p:nvPr/>
        </p:nvSpPr>
        <p:spPr>
          <a:xfrm>
            <a:off x="6483096" y="2816352"/>
            <a:ext cx="2331720" cy="274320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7306056" y="3072384"/>
            <a:ext cx="676656" cy="676656"/>
          </a:xfrm>
          <a:prstGeom prst="rect">
            <a:avLst/>
          </a:prstGeom>
        </p:spPr>
      </p:pic>
      <p:sp>
        <p:nvSpPr>
          <p:cNvPr id="17" name="Text 12"/>
          <p:cNvSpPr/>
          <p:nvPr/>
        </p:nvSpPr>
        <p:spPr>
          <a:xfrm>
            <a:off x="6665976" y="3977640"/>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Public</a:t>
            </a:r>
            <a:endParaRPr lang="en-US" sz="1500" dirty="0"/>
          </a:p>
        </p:txBody>
      </p:sp>
      <p:sp>
        <p:nvSpPr>
          <p:cNvPr id="18" name="Text 13"/>
          <p:cNvSpPr/>
          <p:nvPr/>
        </p:nvSpPr>
        <p:spPr>
          <a:xfrm>
            <a:off x="6611112" y="4489704"/>
            <a:ext cx="2075688" cy="365760"/>
          </a:xfrm>
          <a:prstGeom prst="rect">
            <a:avLst/>
          </a:prstGeom>
          <a:noFill/>
          <a:ln/>
        </p:spPr>
        <p:txBody>
          <a:bodyPr wrap="square" lIns="0" tIns="0" rIns="0" bIns="0" rtlCol="0" anchor="ctr">
            <a:normAutofit/>
          </a:bodyPr>
          <a:lstStyle/>
          <a:p>
            <a:pPr marL="0" indent="0" algn="ctr">
              <a:buNone/>
            </a:pPr>
            <a:r>
              <a:rPr lang="en-US" sz="1130" b="1" dirty="0">
                <a:solidFill>
                  <a:srgbClr val="0078D4"/>
                </a:solidFill>
                <a:latin typeface="Segoe UI Semibold" pitchFamily="34" charset="0"/>
                <a:ea typeface="Segoe UI Semibold" pitchFamily="34" charset="-122"/>
                <a:cs typeface="Segoe UI Semibold" pitchFamily="34" charset="-120"/>
              </a:rPr>
              <a:t>Website self-service</a:t>
            </a:r>
            <a:endParaRPr lang="en-US" sz="1130" dirty="0"/>
          </a:p>
        </p:txBody>
      </p:sp>
      <p:sp>
        <p:nvSpPr>
          <p:cNvPr id="19" name="Text 14"/>
          <p:cNvSpPr/>
          <p:nvPr/>
        </p:nvSpPr>
        <p:spPr>
          <a:xfrm>
            <a:off x="6665976" y="4965192"/>
            <a:ext cx="1965960" cy="493776"/>
          </a:xfrm>
          <a:prstGeom prst="rect">
            <a:avLst/>
          </a:prstGeom>
          <a:noFill/>
          <a:ln/>
        </p:spPr>
        <p:txBody>
          <a:bodyPr wrap="square" lIns="0" tIns="0" rIns="0" bIns="0" rtlCol="0" anchor="ctr">
            <a:normAutofit/>
          </a:bodyPr>
          <a:lstStyle/>
          <a:p>
            <a:pPr marL="0" indent="0" algn="ctr">
              <a:buNone/>
            </a:pPr>
            <a:r>
              <a:rPr lang="en-US" sz="1100" dirty="0">
                <a:solidFill>
                  <a:srgbClr val="5B6672"/>
                </a:solidFill>
                <a:latin typeface="Segoe UI" pitchFamily="34" charset="0"/>
                <a:ea typeface="Segoe UI" pitchFamily="34" charset="-122"/>
                <a:cs typeface="Segoe UI" pitchFamily="34" charset="-120"/>
              </a:rPr>
              <a:t>Anonymous; public knowledge only</a:t>
            </a:r>
            <a:endParaRPr lang="en-US" sz="1100" dirty="0"/>
          </a:p>
        </p:txBody>
      </p:sp>
      <p:sp>
        <p:nvSpPr>
          <p:cNvPr id="20" name="Shape 15"/>
          <p:cNvSpPr/>
          <p:nvPr/>
        </p:nvSpPr>
        <p:spPr>
          <a:xfrm>
            <a:off x="9381744" y="2816352"/>
            <a:ext cx="2331720" cy="274320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10204704" y="3072384"/>
            <a:ext cx="676656" cy="676656"/>
          </a:xfrm>
          <a:prstGeom prst="rect">
            <a:avLst/>
          </a:prstGeom>
        </p:spPr>
      </p:pic>
      <p:sp>
        <p:nvSpPr>
          <p:cNvPr id="22" name="Text 16"/>
          <p:cNvSpPr/>
          <p:nvPr/>
        </p:nvSpPr>
        <p:spPr>
          <a:xfrm>
            <a:off x="9564624" y="3977640"/>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Service</a:t>
            </a:r>
            <a:endParaRPr lang="en-US" sz="1500" dirty="0"/>
          </a:p>
        </p:txBody>
      </p:sp>
      <p:sp>
        <p:nvSpPr>
          <p:cNvPr id="23" name="Text 17"/>
          <p:cNvSpPr/>
          <p:nvPr/>
        </p:nvSpPr>
        <p:spPr>
          <a:xfrm>
            <a:off x="9509760" y="4489704"/>
            <a:ext cx="2075688" cy="365760"/>
          </a:xfrm>
          <a:prstGeom prst="rect">
            <a:avLst/>
          </a:prstGeom>
          <a:noFill/>
          <a:ln/>
        </p:spPr>
        <p:txBody>
          <a:bodyPr wrap="square" lIns="0" tIns="0" rIns="0" bIns="0" rtlCol="0" anchor="ctr">
            <a:normAutofit/>
          </a:bodyPr>
          <a:lstStyle/>
          <a:p>
            <a:pPr marL="0" indent="0" algn="ctr">
              <a:buNone/>
            </a:pPr>
            <a:r>
              <a:rPr lang="en-US" sz="1130" b="1" dirty="0">
                <a:solidFill>
                  <a:srgbClr val="0078D4"/>
                </a:solidFill>
                <a:latin typeface="Segoe UI Semibold" pitchFamily="34" charset="0"/>
                <a:ea typeface="Segoe UI Semibold" pitchFamily="34" charset="-122"/>
                <a:cs typeface="Segoe UI Semibold" pitchFamily="34" charset="-120"/>
              </a:rPr>
              <a:t>Messaging  ·  voice</a:t>
            </a:r>
            <a:endParaRPr lang="en-US" sz="1130" dirty="0"/>
          </a:p>
        </p:txBody>
      </p:sp>
      <p:sp>
        <p:nvSpPr>
          <p:cNvPr id="24" name="Text 18"/>
          <p:cNvSpPr/>
          <p:nvPr/>
        </p:nvSpPr>
        <p:spPr>
          <a:xfrm>
            <a:off x="9564624" y="4965192"/>
            <a:ext cx="1965960" cy="493776"/>
          </a:xfrm>
          <a:prstGeom prst="rect">
            <a:avLst/>
          </a:prstGeom>
          <a:noFill/>
          <a:ln/>
        </p:spPr>
        <p:txBody>
          <a:bodyPr wrap="square" lIns="0" tIns="0" rIns="0" bIns="0" rtlCol="0" anchor="ctr">
            <a:normAutofit/>
          </a:bodyPr>
          <a:lstStyle/>
          <a:p>
            <a:pPr marL="0" indent="0" algn="ctr">
              <a:buNone/>
            </a:pPr>
            <a:r>
              <a:rPr lang="en-US" sz="1100" dirty="0">
                <a:solidFill>
                  <a:srgbClr val="5B6672"/>
                </a:solidFill>
                <a:latin typeface="Segoe UI" pitchFamily="34" charset="0"/>
                <a:ea typeface="Segoe UI" pitchFamily="34" charset="-122"/>
                <a:cs typeface="Segoe UI" pitchFamily="34" charset="-120"/>
              </a:rPr>
              <a:t>Live handoff and voice via Dynamics 365</a:t>
            </a:r>
            <a:endParaRPr lang="en-US" sz="1100" dirty="0"/>
          </a:p>
        </p:txBody>
      </p:sp>
      <p:sp>
        <p:nvSpPr>
          <p:cNvPr id="25" name="Text 19"/>
          <p:cNvSpPr/>
          <p:nvPr/>
        </p:nvSpPr>
        <p:spPr>
          <a:xfrm>
            <a:off x="2926080" y="5916168"/>
            <a:ext cx="6309360" cy="274320"/>
          </a:xfrm>
          <a:prstGeom prst="rect">
            <a:avLst/>
          </a:prstGeom>
          <a:noFill/>
          <a:ln/>
        </p:spPr>
        <p:txBody>
          <a:bodyPr wrap="square" lIns="0" tIns="0" rIns="0" bIns="0" rtlCol="0" anchor="ctr">
            <a:normAutofit/>
          </a:bodyPr>
          <a:lstStyle/>
          <a:p>
            <a:pPr marL="0" indent="0" algn="ctr">
              <a:buNone/>
            </a:pPr>
            <a:r>
              <a:rPr lang="en-US" sz="1250" b="1" dirty="0">
                <a:solidFill>
                  <a:srgbClr val="091F2C"/>
                </a:solidFill>
                <a:latin typeface="Segoe UI Semibold" pitchFamily="34" charset="0"/>
                <a:ea typeface="Segoe UI Semibold" pitchFamily="34" charset="-122"/>
                <a:cs typeface="Segoe UI Semibold" pitchFamily="34" charset="-120"/>
              </a:rPr>
              <a:t>One platform  ·  one governance model  ·  four audiences</a:t>
            </a:r>
            <a:endParaRPr lang="en-US" sz="1250" dirty="0"/>
          </a:p>
        </p:txBody>
      </p:sp>
      <p:sp>
        <p:nvSpPr>
          <p:cNvPr id="26" name="Text 2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CITIZEN SELF-SERVICE</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A governed public agent guides a resident from question to a confirmed request.</a:t>
            </a:r>
            <a:endParaRPr lang="en-US" sz="24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Same platform patterns as the employee agent — a different, carefully drawn audience boundary.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8" name="Shape 5"/>
          <p:cNvSpPr/>
          <p:nvPr/>
        </p:nvSpPr>
        <p:spPr>
          <a:xfrm>
            <a:off x="685800"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1832"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0078D4"/>
                </a:solidFill>
                <a:latin typeface="Segoe UI Semibold" pitchFamily="34" charset="0"/>
                <a:ea typeface="Segoe UI Semibold" pitchFamily="34" charset="-122"/>
                <a:cs typeface="Segoe UI Semibold" pitchFamily="34" charset="-120"/>
              </a:rPr>
              <a:t>1</a:t>
            </a:r>
            <a:endParaRPr lang="en-US" sz="2800" dirty="0"/>
          </a:p>
        </p:txBody>
      </p:sp>
      <p:pic>
        <p:nvPicPr>
          <p:cNvPr id="10" name="Image 1" descr="preencoded.png"/>
          <p:cNvPicPr>
            <a:picLocks noChangeAspect="1"/>
          </p:cNvPicPr>
          <p:nvPr/>
        </p:nvPicPr>
        <p:blipFill>
          <a:blip r:embed="rId4"/>
          <a:stretch>
            <a:fillRect/>
          </a:stretch>
        </p:blipFill>
        <p:spPr>
          <a:xfrm>
            <a:off x="2221992" y="3127248"/>
            <a:ext cx="530352" cy="530352"/>
          </a:xfrm>
          <a:prstGeom prst="rect">
            <a:avLst/>
          </a:prstGeom>
        </p:spPr>
      </p:pic>
      <p:sp>
        <p:nvSpPr>
          <p:cNvPr id="11" name="Text 7"/>
          <p:cNvSpPr/>
          <p:nvPr/>
        </p:nvSpPr>
        <p:spPr>
          <a:xfrm>
            <a:off x="941832"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Describe the need</a:t>
            </a:r>
            <a:endParaRPr lang="en-US" sz="1420" dirty="0"/>
          </a:p>
        </p:txBody>
      </p:sp>
      <p:sp>
        <p:nvSpPr>
          <p:cNvPr id="12" name="Text 8"/>
          <p:cNvSpPr/>
          <p:nvPr/>
        </p:nvSpPr>
        <p:spPr>
          <a:xfrm>
            <a:off x="941832"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explains it in plain language</a:t>
            </a:r>
            <a:endParaRPr lang="en-US" sz="1150" dirty="0"/>
          </a:p>
        </p:txBody>
      </p:sp>
      <p:sp>
        <p:nvSpPr>
          <p:cNvPr id="13" name="Shape 9"/>
          <p:cNvSpPr/>
          <p:nvPr/>
        </p:nvSpPr>
        <p:spPr>
          <a:xfrm>
            <a:off x="3584448"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3840480"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8661C5"/>
                </a:solidFill>
                <a:latin typeface="Segoe UI Semibold" pitchFamily="34" charset="0"/>
                <a:ea typeface="Segoe UI Semibold" pitchFamily="34" charset="-122"/>
                <a:cs typeface="Segoe UI Semibold" pitchFamily="34" charset="-120"/>
              </a:rPr>
              <a:t>2</a:t>
            </a:r>
            <a:endParaRPr lang="en-US" sz="2800" dirty="0"/>
          </a:p>
        </p:txBody>
      </p:sp>
      <p:pic>
        <p:nvPicPr>
          <p:cNvPr id="15" name="Image 2" descr="preencoded.png"/>
          <p:cNvPicPr>
            <a:picLocks noChangeAspect="1"/>
          </p:cNvPicPr>
          <p:nvPr/>
        </p:nvPicPr>
        <p:blipFill>
          <a:blip r:embed="rId5"/>
          <a:stretch>
            <a:fillRect/>
          </a:stretch>
        </p:blipFill>
        <p:spPr>
          <a:xfrm>
            <a:off x="5120640" y="3127248"/>
            <a:ext cx="530352" cy="530352"/>
          </a:xfrm>
          <a:prstGeom prst="rect">
            <a:avLst/>
          </a:prstGeom>
        </p:spPr>
      </p:pic>
      <p:sp>
        <p:nvSpPr>
          <p:cNvPr id="16" name="Text 11"/>
          <p:cNvSpPr/>
          <p:nvPr/>
        </p:nvSpPr>
        <p:spPr>
          <a:xfrm>
            <a:off x="3840480"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Navigate the service</a:t>
            </a:r>
            <a:endParaRPr lang="en-US" sz="1420" dirty="0"/>
          </a:p>
        </p:txBody>
      </p:sp>
      <p:sp>
        <p:nvSpPr>
          <p:cNvPr id="17" name="Text 12"/>
          <p:cNvSpPr/>
          <p:nvPr/>
        </p:nvSpPr>
        <p:spPr>
          <a:xfrm>
            <a:off x="3840480"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Approved public guidance finds the next step</a:t>
            </a:r>
            <a:endParaRPr lang="en-US" sz="1150" dirty="0"/>
          </a:p>
        </p:txBody>
      </p:sp>
      <p:sp>
        <p:nvSpPr>
          <p:cNvPr id="18" name="Shape 13"/>
          <p:cNvSpPr/>
          <p:nvPr/>
        </p:nvSpPr>
        <p:spPr>
          <a:xfrm>
            <a:off x="6483096"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6739128"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C03BC4"/>
                </a:solidFill>
                <a:latin typeface="Segoe UI Semibold" pitchFamily="34" charset="0"/>
                <a:ea typeface="Segoe UI Semibold" pitchFamily="34" charset="-122"/>
                <a:cs typeface="Segoe UI Semibold" pitchFamily="34" charset="-120"/>
              </a:rPr>
              <a:t>3</a:t>
            </a:r>
            <a:endParaRPr lang="en-US" sz="2800" dirty="0"/>
          </a:p>
        </p:txBody>
      </p:sp>
      <p:pic>
        <p:nvPicPr>
          <p:cNvPr id="20" name="Image 3" descr="preencoded.png"/>
          <p:cNvPicPr>
            <a:picLocks noChangeAspect="1"/>
          </p:cNvPicPr>
          <p:nvPr/>
        </p:nvPicPr>
        <p:blipFill>
          <a:blip r:embed="rId6"/>
          <a:stretch>
            <a:fillRect/>
          </a:stretch>
        </p:blipFill>
        <p:spPr>
          <a:xfrm>
            <a:off x="8019288" y="3127248"/>
            <a:ext cx="530352" cy="530352"/>
          </a:xfrm>
          <a:prstGeom prst="rect">
            <a:avLst/>
          </a:prstGeom>
        </p:spPr>
      </p:pic>
      <p:sp>
        <p:nvSpPr>
          <p:cNvPr id="21" name="Text 15"/>
          <p:cNvSpPr/>
          <p:nvPr/>
        </p:nvSpPr>
        <p:spPr>
          <a:xfrm>
            <a:off x="6739128"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Create the request</a:t>
            </a:r>
            <a:endParaRPr lang="en-US" sz="1420" dirty="0"/>
          </a:p>
        </p:txBody>
      </p:sp>
      <p:sp>
        <p:nvSpPr>
          <p:cNvPr id="22" name="Text 16"/>
          <p:cNvSpPr/>
          <p:nvPr/>
        </p:nvSpPr>
        <p:spPr>
          <a:xfrm>
            <a:off x="6739128"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A governed flow writes to the service system</a:t>
            </a:r>
            <a:endParaRPr lang="en-US" sz="1150" dirty="0"/>
          </a:p>
        </p:txBody>
      </p:sp>
      <p:sp>
        <p:nvSpPr>
          <p:cNvPr id="23" name="Shape 17"/>
          <p:cNvSpPr/>
          <p:nvPr/>
        </p:nvSpPr>
        <p:spPr>
          <a:xfrm>
            <a:off x="9381744" y="2880360"/>
            <a:ext cx="2331720" cy="2560320"/>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24" name="Text 18"/>
          <p:cNvSpPr/>
          <p:nvPr/>
        </p:nvSpPr>
        <p:spPr>
          <a:xfrm>
            <a:off x="9637776" y="3172968"/>
            <a:ext cx="438912" cy="502920"/>
          </a:xfrm>
          <a:prstGeom prst="rect">
            <a:avLst/>
          </a:prstGeom>
          <a:noFill/>
          <a:ln/>
        </p:spPr>
        <p:txBody>
          <a:bodyPr wrap="square" lIns="0" tIns="0" rIns="0" bIns="0" rtlCol="0" anchor="ctr">
            <a:normAutofit/>
          </a:bodyPr>
          <a:lstStyle/>
          <a:p>
            <a:pPr marL="0" indent="0">
              <a:buNone/>
            </a:pPr>
            <a:r>
              <a:rPr lang="en-US" sz="2800" b="1" dirty="0">
                <a:solidFill>
                  <a:srgbClr val="FF5C39"/>
                </a:solidFill>
                <a:latin typeface="Segoe UI Semibold" pitchFamily="34" charset="0"/>
                <a:ea typeface="Segoe UI Semibold" pitchFamily="34" charset="-122"/>
                <a:cs typeface="Segoe UI Semibold" pitchFamily="34" charset="-120"/>
              </a:rPr>
              <a:t>4</a:t>
            </a:r>
            <a:endParaRPr lang="en-US" sz="2800" dirty="0"/>
          </a:p>
        </p:txBody>
      </p:sp>
      <p:pic>
        <p:nvPicPr>
          <p:cNvPr id="25" name="Image 4" descr="preencoded.png"/>
          <p:cNvPicPr>
            <a:picLocks noChangeAspect="1"/>
          </p:cNvPicPr>
          <p:nvPr/>
        </p:nvPicPr>
        <p:blipFill>
          <a:blip r:embed="rId7"/>
          <a:stretch>
            <a:fillRect/>
          </a:stretch>
        </p:blipFill>
        <p:spPr>
          <a:xfrm>
            <a:off x="10917936" y="3127248"/>
            <a:ext cx="530352" cy="530352"/>
          </a:xfrm>
          <a:prstGeom prst="rect">
            <a:avLst/>
          </a:prstGeom>
        </p:spPr>
      </p:pic>
      <p:sp>
        <p:nvSpPr>
          <p:cNvPr id="26" name="Text 19"/>
          <p:cNvSpPr/>
          <p:nvPr/>
        </p:nvSpPr>
        <p:spPr>
          <a:xfrm>
            <a:off x="9637776" y="3950208"/>
            <a:ext cx="1828800" cy="502920"/>
          </a:xfrm>
          <a:prstGeom prst="rect">
            <a:avLst/>
          </a:prstGeom>
          <a:noFill/>
          <a:ln/>
        </p:spPr>
        <p:txBody>
          <a:bodyPr wrap="square" lIns="0" tIns="0" rIns="0" bIns="0" rtlCol="0" anchor="ctr">
            <a:normAutofit/>
          </a:bodyPr>
          <a:lstStyle/>
          <a:p>
            <a:pPr marL="0" indent="0">
              <a:buNone/>
            </a:pPr>
            <a:r>
              <a:rPr lang="en-US" sz="1420" b="1" dirty="0">
                <a:solidFill>
                  <a:srgbClr val="091F2C"/>
                </a:solidFill>
                <a:latin typeface="Segoe UI Semibold" pitchFamily="34" charset="0"/>
                <a:ea typeface="Segoe UI Semibold" pitchFamily="34" charset="-122"/>
                <a:cs typeface="Segoe UI Semibold" pitchFamily="34" charset="-120"/>
              </a:rPr>
              <a:t>Confirm &amp; track</a:t>
            </a:r>
            <a:endParaRPr lang="en-US" sz="1420" dirty="0"/>
          </a:p>
        </p:txBody>
      </p:sp>
      <p:sp>
        <p:nvSpPr>
          <p:cNvPr id="27" name="Text 20"/>
          <p:cNvSpPr/>
          <p:nvPr/>
        </p:nvSpPr>
        <p:spPr>
          <a:xfrm>
            <a:off x="9637776" y="4562856"/>
            <a:ext cx="1828800" cy="603504"/>
          </a:xfrm>
          <a:prstGeom prst="rect">
            <a:avLst/>
          </a:prstGeom>
          <a:noFill/>
          <a:ln/>
        </p:spPr>
        <p:txBody>
          <a:bodyPr wrap="square" lIns="0" tIns="0" rIns="0" bIns="0" rtlCol="0" anchor="ctr">
            <a:normAutofit/>
          </a:bodyPr>
          <a:lstStyle/>
          <a:p>
            <a:pPr marL="0" indent="0">
              <a:buNone/>
            </a:pPr>
            <a:r>
              <a:rPr lang="en-US" sz="1150" dirty="0">
                <a:solidFill>
                  <a:srgbClr val="5B6672"/>
                </a:solidFill>
                <a:latin typeface="Segoe UI" pitchFamily="34" charset="0"/>
                <a:ea typeface="Segoe UI" pitchFamily="34" charset="-122"/>
                <a:cs typeface="Segoe UI" pitchFamily="34" charset="-120"/>
              </a:rPr>
              <a:t>The resident gets a reference number</a:t>
            </a:r>
            <a:endParaRPr lang="en-US" sz="1150" dirty="0"/>
          </a:p>
        </p:txBody>
      </p:sp>
      <p:sp>
        <p:nvSpPr>
          <p:cNvPr id="28" name="Shape 21"/>
          <p:cNvSpPr/>
          <p:nvPr/>
        </p:nvSpPr>
        <p:spPr>
          <a:xfrm>
            <a:off x="685800" y="5669280"/>
            <a:ext cx="11027664" cy="475488"/>
          </a:xfrm>
          <a:prstGeom prst="roundRect">
            <a:avLst>
              <a:gd name="adj" fmla="val 17308"/>
            </a:avLst>
          </a:prstGeom>
          <a:solidFill>
            <a:srgbClr val="ECEAF6"/>
          </a:solidFill>
          <a:ln w="12700">
            <a:solidFill>
              <a:srgbClr val="ECEAF6"/>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914400" y="5742432"/>
            <a:ext cx="320040" cy="320040"/>
          </a:xfrm>
          <a:prstGeom prst="rect">
            <a:avLst/>
          </a:prstGeom>
        </p:spPr>
      </p:pic>
      <p:sp>
        <p:nvSpPr>
          <p:cNvPr id="30" name="Text 22"/>
          <p:cNvSpPr/>
          <p:nvPr/>
        </p:nvSpPr>
        <p:spPr>
          <a:xfrm>
            <a:off x="1371600" y="5733288"/>
            <a:ext cx="9875520" cy="310896"/>
          </a:xfrm>
          <a:prstGeom prst="rect">
            <a:avLst/>
          </a:prstGeom>
          <a:noFill/>
          <a:ln/>
        </p:spPr>
        <p:txBody>
          <a:bodyPr wrap="square" lIns="0" tIns="0" rIns="0" bIns="0" rtlCol="0" anchor="ctr">
            <a:normAutofit/>
          </a:bodyPr>
          <a:lstStyle/>
          <a:p>
            <a:pPr marL="0" indent="0">
              <a:buNone/>
            </a:pPr>
            <a:r>
              <a:rPr lang="en-US" sz="1120" b="1" dirty="0">
                <a:solidFill>
                  <a:srgbClr val="684189"/>
                </a:solidFill>
                <a:latin typeface="Segoe UI Semibold" pitchFamily="34" charset="0"/>
                <a:ea typeface="Segoe UI Semibold" pitchFamily="34" charset="-122"/>
                <a:cs typeface="Segoe UI Semibold" pitchFamily="34" charset="-120"/>
              </a:rPr>
              <a:t>Optional:  a supported AI Builder model extracts fields after submission — validated before use.</a:t>
            </a:r>
            <a:endParaRPr lang="en-US" sz="11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457200" y="2907792"/>
            <a:ext cx="3337560" cy="64008"/>
          </a:xfrm>
          <a:prstGeom prst="rect">
            <a:avLst/>
          </a:prstGeom>
        </p:spPr>
      </p:pic>
      <p:pic>
        <p:nvPicPr>
          <p:cNvPr id="7" name="Image 1" descr="preencoded.png"/>
          <p:cNvPicPr>
            <a:picLocks noChangeAspect="1"/>
          </p:cNvPicPr>
          <p:nvPr/>
        </p:nvPicPr>
        <p:blipFill>
          <a:blip r:embed="rId4"/>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2" name="Image 2" descr="preencoded.png"/>
          <p:cNvPicPr>
            <a:picLocks noChangeAspect="1"/>
          </p:cNvPicPr>
          <p:nvPr/>
        </p:nvPicPr>
        <p:blipFill>
          <a:blip r:embed="rId3"/>
          <a:stretch>
            <a:fillRect/>
          </a:stretch>
        </p:blipFill>
        <p:spPr>
          <a:xfrm>
            <a:off x="4425696" y="2907792"/>
            <a:ext cx="3337560" cy="64008"/>
          </a:xfrm>
          <a:prstGeom prst="rect">
            <a:avLst/>
          </a:prstGeom>
        </p:spPr>
      </p:pic>
      <p:pic>
        <p:nvPicPr>
          <p:cNvPr id="13" name="Image 3" descr="preencoded.png"/>
          <p:cNvPicPr>
            <a:picLocks noChangeAspect="1"/>
          </p:cNvPicPr>
          <p:nvPr/>
        </p:nvPicPr>
        <p:blipFill>
          <a:blip r:embed="rId5"/>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8" name="Image 4" descr="preencoded.png"/>
          <p:cNvPicPr>
            <a:picLocks noChangeAspect="1"/>
          </p:cNvPicPr>
          <p:nvPr/>
        </p:nvPicPr>
        <p:blipFill>
          <a:blip r:embed="rId3"/>
          <a:stretch>
            <a:fillRect/>
          </a:stretch>
        </p:blipFill>
        <p:spPr>
          <a:xfrm>
            <a:off x="8394192" y="2907792"/>
            <a:ext cx="3337560" cy="64008"/>
          </a:xfrm>
          <a:prstGeom prst="rect">
            <a:avLst/>
          </a:prstGeom>
        </p:spPr>
      </p:pic>
      <p:pic>
        <p:nvPicPr>
          <p:cNvPr id="19" name="Image 5" descr="preencoded.png"/>
          <p:cNvPicPr>
            <a:picLocks noChangeAspect="1"/>
          </p:cNvPicPr>
          <p:nvPr/>
        </p:nvPicPr>
        <p:blipFill>
          <a:blip r:embed="rId6"/>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sp>
        <p:nvSpPr>
          <p:cNvPr id="23" name="Shape 15"/>
          <p:cNvSpPr/>
          <p:nvPr/>
        </p:nvSpPr>
        <p:spPr>
          <a:xfrm>
            <a:off x="5248656" y="2688336"/>
            <a:ext cx="160020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24" name="Text 16"/>
          <p:cNvSpPr/>
          <p:nvPr/>
        </p:nvSpPr>
        <p:spPr>
          <a:xfrm>
            <a:off x="5248656" y="2697480"/>
            <a:ext cx="160020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THE FOCUS TODAY</a:t>
            </a:r>
            <a:endParaRPr lang="en-US" sz="980" dirty="0"/>
          </a:p>
        </p:txBody>
      </p:sp>
      <p:sp>
        <p:nvSpPr>
          <p:cNvPr id="25" name="Text 17"/>
          <p:cNvSpPr/>
          <p:nvPr/>
        </p:nvSpPr>
        <p:spPr>
          <a:xfrm>
            <a:off x="3794760" y="3822192"/>
            <a:ext cx="630936" cy="182880"/>
          </a:xfrm>
          <a:prstGeom prst="rect">
            <a:avLst/>
          </a:prstGeom>
          <a:noFill/>
          <a:ln/>
        </p:spPr>
        <p:txBody>
          <a:bodyPr wrap="square" lIns="0" tIns="0" rIns="0" bIns="0" rtlCol="0" anchor="ctr">
            <a:normAutofit/>
          </a:bodyPr>
          <a:lstStyle/>
          <a:p>
            <a:pPr marL="0" indent="0" algn="ctr">
              <a:buNone/>
            </a:pPr>
            <a:r>
              <a:rPr lang="en-US" sz="780" b="1" dirty="0">
                <a:solidFill>
                  <a:srgbClr val="0078D4"/>
                </a:solidFill>
                <a:latin typeface="Segoe UI Semibold" pitchFamily="34" charset="0"/>
                <a:ea typeface="Segoe UI Semibold" pitchFamily="34" charset="-122"/>
                <a:cs typeface="Segoe UI Semibold" pitchFamily="34" charset="-120"/>
              </a:rPr>
              <a:t>CONNECT</a:t>
            </a:r>
            <a:endParaRPr lang="en-US" sz="780" dirty="0"/>
          </a:p>
        </p:txBody>
      </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7" name="Text 19"/>
          <p:cNvSpPr/>
          <p:nvPr/>
        </p:nvSpPr>
        <p:spPr>
          <a:xfrm>
            <a:off x="7763256" y="3822192"/>
            <a:ext cx="630936" cy="182880"/>
          </a:xfrm>
          <a:prstGeom prst="rect">
            <a:avLst/>
          </a:prstGeom>
          <a:noFill/>
          <a:ln/>
        </p:spPr>
        <p:txBody>
          <a:bodyPr wrap="square" lIns="0" tIns="0" rIns="0" bIns="0" rtlCol="0" anchor="ctr">
            <a:normAutofit/>
          </a:bodyPr>
          <a:lstStyle/>
          <a:p>
            <a:pPr marL="0" indent="0" algn="ctr">
              <a:buNone/>
            </a:pPr>
            <a:r>
              <a:rPr lang="en-US" sz="780" b="1" dirty="0">
                <a:solidFill>
                  <a:srgbClr val="C03BC4"/>
                </a:solidFill>
                <a:latin typeface="Segoe UI Semibold" pitchFamily="34" charset="0"/>
                <a:ea typeface="Segoe UI Semibold" pitchFamily="34" charset="-122"/>
                <a:cs typeface="Segoe UI Semibold" pitchFamily="34" charset="-120"/>
              </a:rPr>
              <a:t>CONNECT</a:t>
            </a:r>
            <a:endParaRPr lang="en-US" sz="780" dirty="0"/>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29" name="Text 21"/>
          <p:cNvSpPr/>
          <p:nvPr/>
        </p:nvSpPr>
        <p:spPr>
          <a:xfrm>
            <a:off x="1874520" y="5897880"/>
            <a:ext cx="8412480" cy="274320"/>
          </a:xfrm>
          <a:prstGeom prst="rect">
            <a:avLst/>
          </a:prstGeom>
          <a:noFill/>
          <a:ln/>
        </p:spPr>
        <p:txBody>
          <a:bodyPr wrap="square" lIns="0" tIns="0" rIns="0" bIns="0" rtlCol="0" anchor="ctr">
            <a:normAutofit/>
          </a:bodyPr>
          <a:lstStyle/>
          <a:p>
            <a:pPr marL="0" indent="0" algn="ctr">
              <a:buNone/>
            </a:pPr>
            <a:r>
              <a:rPr lang="en-US" sz="1120" i="1" dirty="0">
                <a:solidFill>
                  <a:srgbClr val="091F2C"/>
                </a:solidFill>
                <a:latin typeface="Segoe UI Semibold" pitchFamily="34" charset="0"/>
                <a:ea typeface="Segoe UI Semibold" pitchFamily="34" charset="-122"/>
                <a:cs typeface="Segoe UI Semibold" pitchFamily="34" charset="-120"/>
              </a:rPr>
              <a:t>A decision guide, not a scorecard — the center of gravity moves as the requirement changes.</a:t>
            </a:r>
            <a:endParaRPr lang="en-US" sz="1120" dirty="0"/>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9AA3AD"/>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dirty="0">
                <a:solidFill>
                  <a:srgbClr val="C8D8E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831</TotalTime>
  <Words>1407</Words>
  <Application>Microsoft Office PowerPoint</Application>
  <PresentationFormat>Widescreen</PresentationFormat>
  <Paragraphs>164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5</cp:revision>
  <dcterms:created xsi:type="dcterms:W3CDTF">2026-07-29T22:18:20Z</dcterms:created>
  <dcterms:modified xsi:type="dcterms:W3CDTF">2026-07-30T12:34:20Z</dcterms:modified>
</cp:coreProperties>
</file>