
<file path=[Content_Types].xml><?xml version="1.0" encoding="utf-8"?>
<Types xmlns="http://schemas.openxmlformats.org/package/2006/content-types">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microsoft.com/office/2020/02/relationships/classificationlabels" Target="docMetadata/LabelInfo.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1"/>
  </p:notesMasterIdLst>
  <p:sldIdLst>
    <p:sldId id="256" r:id="rId2"/>
    <p:sldId id="258" r:id="rId3"/>
    <p:sldId id="259" r:id="rId4"/>
    <p:sldId id="260" r:id="rId5"/>
    <p:sldId id="294" r:id="rId6"/>
    <p:sldId id="263" r:id="rId7"/>
    <p:sldId id="264" r:id="rId8"/>
    <p:sldId id="295" r:id="rId9"/>
    <p:sldId id="265" r:id="rId10"/>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5B6672"/>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11"/>
    <p:restoredTop sz="91334" autoAdjust="0"/>
  </p:normalViewPr>
  <p:slideViewPr>
    <p:cSldViewPr snapToGrid="0" snapToObjects="1">
      <p:cViewPr varScale="1">
        <p:scale>
          <a:sx n="79" d="100"/>
          <a:sy n="79" d="100"/>
        </p:scale>
        <p:origin x="92" y="4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presProps" Target="pres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notesMaster" Target="notesMasters/notesMaster1.xml"/><Relationship Id="rId5" Type="http://schemas.openxmlformats.org/officeDocument/2006/relationships/slide" Target="slides/slide4.xml"/><Relationship Id="rId15" Type="http://schemas.openxmlformats.org/officeDocument/2006/relationships/tableStyles" Target="tableStyle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400000255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Opening. Frame the session as a progression from AI-powered productivity to AI-powered processes. Copilot Studio is the focus: agents that know, reason, act, and reach users across channels. Keep this brief and move to the agenda.</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M365 Copilot brings AI into the flow of work. Copilot Studio extends that experience into the flow of business. This is an expansion, not a replacement or migration. The transition happens when the organization moves from using AI in the flow of work to designing agents for specific business outcomes.</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Copilot Studio is Microsoft’s low-code platform for building enterprise agents. Inherits your power platform strategy which includes security, access, authentication, and more.</a:t>
            </a:r>
          </a:p>
          <a:p>
            <a:endParaRPr lang="en-US" dirty="0"/>
          </a:p>
          <a:p>
            <a:r>
              <a:rPr lang="en-US" dirty="0"/>
              <a:t>Build: Build custom agents using natural language and low code tools for any audience. </a:t>
            </a:r>
          </a:p>
          <a:p>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Connect: Where M365 Copilot knows your work; </a:t>
            </a:r>
            <a:r>
              <a:rPr lang="en-US" sz="1200" b="0" i="0" kern="1200" dirty="0">
                <a:solidFill>
                  <a:schemeClr val="tx1"/>
                </a:solidFill>
                <a:effectLst/>
                <a:latin typeface="+mn-lt"/>
                <a:ea typeface="+mn-ea"/>
                <a:cs typeface="+mn-cs"/>
              </a:rPr>
              <a:t>which is primarily grounded in your M365 data, Copilot Studio can connect to virtually any business data source, allowing agents to reason over the systems, records, and knowledge that runs your organization</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sz="1200" b="0" i="0" kern="1200" dirty="0">
              <a:solidFill>
                <a:schemeClr val="tx1"/>
              </a:solidFill>
              <a:effectLst/>
              <a:latin typeface="+mn-lt"/>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US" sz="1200" b="0" i="0" kern="1200" dirty="0">
                <a:solidFill>
                  <a:schemeClr val="tx1"/>
                </a:solidFill>
                <a:effectLst/>
                <a:latin typeface="+mn-lt"/>
                <a:ea typeface="+mn-ea"/>
                <a:cs typeface="+mn-cs"/>
              </a:rPr>
              <a:t>Act: We want to go beyond just answering questions, how can we empower agents to act on a user's behalf using tools, automation, and business processes. </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sz="1200" b="0" i="0" kern="1200" dirty="0">
              <a:solidFill>
                <a:schemeClr val="tx1"/>
              </a:solidFill>
              <a:effectLst/>
              <a:latin typeface="+mn-lt"/>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US" sz="1200" b="0" i="0" kern="1200" dirty="0">
                <a:solidFill>
                  <a:schemeClr val="tx1"/>
                </a:solidFill>
                <a:effectLst/>
                <a:latin typeface="+mn-lt"/>
                <a:ea typeface="+mn-ea"/>
                <a:cs typeface="+mn-cs"/>
              </a:rPr>
              <a:t>Reach: lastly, copilot studio allows you to reach any audience. Internal, external, employees, citizens, through virtually any channel. Your website, Facebook, text, voice. </a:t>
            </a:r>
            <a:r>
              <a:rPr lang="en-US" sz="1200" b="0" i="0" kern="1200">
                <a:solidFill>
                  <a:schemeClr val="tx1"/>
                </a:solidFill>
                <a:effectLst/>
                <a:latin typeface="+mn-lt"/>
                <a:ea typeface="+mn-ea"/>
                <a:cs typeface="+mn-cs"/>
              </a:rPr>
              <a:t>Full service IVR</a:t>
            </a:r>
            <a:endParaRPr lang="en-US" sz="1200" b="0" i="0" kern="1200" dirty="0">
              <a:solidFill>
                <a:schemeClr val="tx1"/>
              </a:solidFill>
              <a:effectLst/>
              <a:latin typeface="+mn-lt"/>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lang="en-US" sz="1200" b="0" i="0" kern="1200" dirty="0">
              <a:solidFill>
                <a:schemeClr val="tx1"/>
              </a:solidFill>
              <a:effectLst/>
              <a:latin typeface="+mn-lt"/>
              <a:ea typeface="+mn-ea"/>
              <a:cs typeface="+mn-cs"/>
            </a:endParaRPr>
          </a:p>
          <a:p>
            <a:endParaRPr lang="en-US" dirty="0"/>
          </a:p>
          <a:p>
            <a:endParaRPr lang="en-US" dirty="0"/>
          </a:p>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Recorded demo, approximately three minutes. Show an employee invoking a specialized agent inside M365 Copilot, receiving a grounded and cited answer, then asking the agent to complete the next step through a connector or agent flow. The business action and visible confirmation are the differentiation; avoid a pure FAQ demonstration.</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5629783-C695-FD33-C9F3-F255C8FDA0C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09BA2A0-B35E-AA5E-CC51-4814236E8F8F}"/>
              </a:ext>
            </a:extLst>
          </p:cNvPr>
          <p:cNvSpPr>
            <a:spLocks noGrp="1" noRot="1" noChangeAspect="1"/>
          </p:cNvSpPr>
          <p:nvPr>
            <p:ph type="sldImg"/>
          </p:nvPr>
        </p:nvSpPr>
        <p:spPr/>
        <p:txBody>
          <a:bodyPr/>
          <a:lstStyle/>
          <a:p>
            <a:endParaRPr lang="en-US"/>
          </a:p>
        </p:txBody>
      </p:sp>
      <p:sp>
        <p:nvSpPr>
          <p:cNvPr id="3" name="Notes Placeholder 2">
            <a:extLst>
              <a:ext uri="{FF2B5EF4-FFF2-40B4-BE49-F238E27FC236}">
                <a16:creationId xmlns:a16="http://schemas.microsoft.com/office/drawing/2014/main" id="{E463F941-0DAE-FD83-8568-135605520A18}"/>
              </a:ext>
            </a:extLst>
          </p:cNvPr>
          <p:cNvSpPr>
            <a:spLocks noGrp="1"/>
          </p:cNvSpPr>
          <p:nvPr>
            <p:ph type="body" idx="1"/>
          </p:nvPr>
        </p:nvSpPr>
        <p:spPr/>
        <p:txBody>
          <a:bodyPr/>
          <a:lstStyle/>
          <a:p>
            <a:pPr marL="171450" indent="-171450">
              <a:buFont typeface="Arial" panose="020B0604020202020204" pitchFamily="34" charset="0"/>
              <a:buChar char="•"/>
            </a:pPr>
            <a:r>
              <a:rPr lang="en-US"/>
              <a:t>Finally, once you’re finished building an agent, you can make them accessible to your customers and employees wherever they need to engage with an agent</a:t>
            </a:r>
          </a:p>
          <a:p>
            <a:pPr marL="171450" indent="-171450">
              <a:buFont typeface="Arial" panose="020B0604020202020204" pitchFamily="34" charset="0"/>
              <a:buChar char="•"/>
            </a:pPr>
            <a:r>
              <a:rPr lang="en-US"/>
              <a:t>For example, a restaurant might use a WhatsApp agent to help answer customer questions</a:t>
            </a:r>
          </a:p>
          <a:p>
            <a:pPr marL="171450" indent="-171450">
              <a:buFont typeface="Arial" panose="020B0604020202020204" pitchFamily="34" charset="0"/>
              <a:buChar char="•"/>
            </a:pPr>
            <a:r>
              <a:rPr lang="en-US"/>
              <a:t>Or a legal agent may be published to Teams, where marketing employees can check that their messaging is compliant with advertising law</a:t>
            </a:r>
          </a:p>
          <a:p>
            <a:pPr marL="171450" indent="-171450">
              <a:buFont typeface="Arial" panose="020B0604020202020204" pitchFamily="34" charset="0"/>
              <a:buChar char="•"/>
            </a:pPr>
            <a:endParaRPr lang="en-US"/>
          </a:p>
        </p:txBody>
      </p:sp>
      <p:sp>
        <p:nvSpPr>
          <p:cNvPr id="4" name="Slide Number Placeholder 3">
            <a:extLst>
              <a:ext uri="{FF2B5EF4-FFF2-40B4-BE49-F238E27FC236}">
                <a16:creationId xmlns:a16="http://schemas.microsoft.com/office/drawing/2014/main" id="{801CEEDB-00A8-24DC-62A2-BFAF28F3A376}"/>
              </a:ext>
            </a:extLst>
          </p:cNvPr>
          <p:cNvSpPr>
            <a:spLocks noGrp="1"/>
          </p:cNvSpPr>
          <p:nvPr>
            <p:ph type="sldNum" sz="quarter" idx="5"/>
          </p:nvPr>
        </p:nvSpPr>
        <p:spPr/>
        <p:txBody>
          <a:bodyPr/>
          <a:lstStyle/>
          <a:p>
            <a:fld id="{DAB24075-3183-45B6-A8D3-A990B733D760}" type="slidenum">
              <a:rPr lang="en-US" smtClean="0"/>
              <a:t>5</a:t>
            </a:fld>
            <a:endParaRPr lang="en-US"/>
          </a:p>
        </p:txBody>
      </p:sp>
    </p:spTree>
    <p:extLst>
      <p:ext uri="{BB962C8B-B14F-4D97-AF65-F5344CB8AC3E}">
        <p14:creationId xmlns:p14="http://schemas.microsoft.com/office/powerpoint/2010/main" val="4117315835"/>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Recorded demo, approximately three and a half minutes. Show a resident describing a need, receiving approved public guidance, creating a request through a governed flow, and receiving a reference number. Keep the public agent's instructions, knowledge, authentication, and tools separate from the employee agent. AI Builder document extraction is optional and should occur after submission with validation before operational use.</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a decision guide, not a scorecard. Start with M365 Copilot when employee productivity and Microsoft 365 work are central. Start with Copilot Studio for governed business agents, actions, channels, and lifecycle. Start with Microsoft Foundry when custom models, code-first orchestration, evaluations, or an Azure-native runtime are central. The bidirectional connectors reinforce that integration remains open.</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228600" y="1524000"/>
            <a:ext cx="7315200" cy="4114800"/>
          </a:xfrm>
          <a:prstGeom prst="rect">
            <a:avLst/>
          </a:prstGeom>
          <a:noFill/>
          <a:ln w="12700">
            <a:solidFill>
              <a:prstClr val="black"/>
            </a:solidFill>
          </a:ln>
        </p:spPr>
      </p:sp>
      <p:sp>
        <p:nvSpPr>
          <p:cNvPr id="3" name="Notes Placeholder 2"/>
          <p:cNvSpPr>
            <a:spLocks noGrp="1"/>
          </p:cNvSpPr>
          <p:nvPr>
            <p:ph type="body" idx="1"/>
          </p:nvPr>
        </p:nvSpPr>
        <p:spPr>
          <a:xfrm>
            <a:off x="685800" y="5867400"/>
            <a:ext cx="5486400" cy="4800600"/>
          </a:xfrm>
          <a:prstGeom prst="rect">
            <a:avLst/>
          </a:prstGeom>
        </p:spPr>
        <p:txBody>
          <a:bodyPr/>
          <a:lstStyle/>
          <a:p>
            <a:r>
              <a:rPr dirty="0"/>
              <a:t>These aren't competing technologies. They're optimized for different ownership models and outcomes. M365 Copilot brings AI into employee productivity. Copilot Studio extends AI into business processes and agents. Foundry provides the engineering platform for custom AI applications. Many organizations use all three together as part of a unified Microsoft AI strategy.</a:t>
            </a:r>
          </a:p>
          <a:p>
            <a:endParaRPr dirty="0"/>
          </a:p>
          <a:p>
            <a:r>
              <a:rPr dirty="0"/>
              <a:t>Read the slide as decision criteria, not a scorecard: Best For and Use When identify the center of gravity; Key Audience and Built By identify the ownership model; Governance Focus reinforces that every product sits within one Microsoft governance story. Avoid framing it as a maturity ladder (“use M365 until it can't, then Studio, then Foundry”) — that diminishes the products. For this GCC customer, validate any Azure Commercial integration and data boundary separately.</a:t>
            </a:r>
          </a:p>
        </p:txBody>
      </p:sp>
    </p:spTree>
    <p:extLst>
      <p:ext uri="{BB962C8B-B14F-4D97-AF65-F5344CB8AC3E}">
        <p14:creationId xmlns:p14="http://schemas.microsoft.com/office/powerpoint/2010/main" val="3277433740"/>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Use the questions to open discussion. Handoff to the Foundry presenter: when the requirement shifts to custom models or code-first orchestration, Microsoft Foundry becomes the starting point or the specialized service behind the Copilot Studio agent. Close on the better-together message.</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userDrawn="1">
  <p:cSld name="CSAF">
    <p:bg>
      <p:bgPr>
        <a:gradFill>
          <a:gsLst>
            <a:gs pos="21000">
              <a:srgbClr val="F2FAFD"/>
            </a:gs>
            <a:gs pos="79000">
              <a:srgbClr val="F2FAFD"/>
            </a:gs>
            <a:gs pos="52000">
              <a:srgbClr val="D8F6FF"/>
            </a:gs>
          </a:gsLst>
          <a:lin ang="2700000" scaled="0"/>
        </a:grad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01306836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2334561695"/>
      </p:ext>
    </p:extLst>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 Id="rId5" Type="http://schemas.openxmlformats.org/officeDocument/2006/relationships/image" Target="../media/image3.png"/><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2.xml"/><Relationship Id="rId1" Type="http://schemas.openxmlformats.org/officeDocument/2006/relationships/slideLayout" Target="../slideLayouts/slideLayout1.xml"/><Relationship Id="rId4" Type="http://schemas.openxmlformats.org/officeDocument/2006/relationships/image" Target="../media/image3.png"/></Relationships>
</file>

<file path=ppt/slides/_rels/slide3.xml.rels><?xml version="1.0" encoding="UTF-8" standalone="yes"?>
<Relationships xmlns="http://schemas.openxmlformats.org/package/2006/relationships"><Relationship Id="rId3" Type="http://schemas.openxmlformats.org/officeDocument/2006/relationships/image" Target="../media/image5.png"/><Relationship Id="rId7" Type="http://schemas.openxmlformats.org/officeDocument/2006/relationships/image" Target="../media/image9.png"/><Relationship Id="rId2" Type="http://schemas.openxmlformats.org/officeDocument/2006/relationships/notesSlide" Target="../notesSlides/notesSlide3.xml"/><Relationship Id="rId1" Type="http://schemas.openxmlformats.org/officeDocument/2006/relationships/slideLayout" Target="../slideLayouts/slideLayout1.xml"/><Relationship Id="rId6" Type="http://schemas.openxmlformats.org/officeDocument/2006/relationships/image" Target="../media/image8.png"/><Relationship Id="rId5" Type="http://schemas.openxmlformats.org/officeDocument/2006/relationships/image" Target="../media/image7.png"/><Relationship Id="rId4" Type="http://schemas.openxmlformats.org/officeDocument/2006/relationships/image" Target="../media/image6.png"/></Relationships>
</file>

<file path=ppt/slides/_rels/slide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4.xml"/><Relationship Id="rId1" Type="http://schemas.openxmlformats.org/officeDocument/2006/relationships/slideLayout" Target="../slideLayouts/slideLayout1.xml"/><Relationship Id="rId6" Type="http://schemas.openxmlformats.org/officeDocument/2006/relationships/image" Target="../media/image11.png"/><Relationship Id="rId5" Type="http://schemas.openxmlformats.org/officeDocument/2006/relationships/image" Target="../media/image10.png"/><Relationship Id="rId4" Type="http://schemas.openxmlformats.org/officeDocument/2006/relationships/image" Target="../media/image9.png"/></Relationships>
</file>

<file path=ppt/slides/_rels/slide5.xml.rels><?xml version="1.0" encoding="UTF-8" standalone="yes"?>
<Relationships xmlns="http://schemas.openxmlformats.org/package/2006/relationships"><Relationship Id="rId8" Type="http://schemas.openxmlformats.org/officeDocument/2006/relationships/image" Target="../media/image17.svg"/><Relationship Id="rId13" Type="http://schemas.openxmlformats.org/officeDocument/2006/relationships/image" Target="../media/image22.png"/><Relationship Id="rId18" Type="http://schemas.openxmlformats.org/officeDocument/2006/relationships/image" Target="../media/image27.png"/><Relationship Id="rId3" Type="http://schemas.openxmlformats.org/officeDocument/2006/relationships/image" Target="../media/image12.png"/><Relationship Id="rId21" Type="http://schemas.openxmlformats.org/officeDocument/2006/relationships/image" Target="../media/image30.svg"/><Relationship Id="rId7" Type="http://schemas.openxmlformats.org/officeDocument/2006/relationships/image" Target="../media/image16.png"/><Relationship Id="rId12" Type="http://schemas.openxmlformats.org/officeDocument/2006/relationships/image" Target="../media/image21.png"/><Relationship Id="rId17" Type="http://schemas.openxmlformats.org/officeDocument/2006/relationships/image" Target="../media/image26.png"/><Relationship Id="rId2" Type="http://schemas.openxmlformats.org/officeDocument/2006/relationships/notesSlide" Target="../notesSlides/notesSlide5.xml"/><Relationship Id="rId16" Type="http://schemas.openxmlformats.org/officeDocument/2006/relationships/image" Target="../media/image25.png"/><Relationship Id="rId20" Type="http://schemas.openxmlformats.org/officeDocument/2006/relationships/image" Target="../media/image29.png"/><Relationship Id="rId1" Type="http://schemas.openxmlformats.org/officeDocument/2006/relationships/slideLayout" Target="../slideLayouts/slideLayout2.xml"/><Relationship Id="rId6" Type="http://schemas.openxmlformats.org/officeDocument/2006/relationships/image" Target="../media/image15.png"/><Relationship Id="rId11" Type="http://schemas.openxmlformats.org/officeDocument/2006/relationships/image" Target="../media/image20.png"/><Relationship Id="rId5" Type="http://schemas.openxmlformats.org/officeDocument/2006/relationships/image" Target="../media/image14.svg"/><Relationship Id="rId15" Type="http://schemas.openxmlformats.org/officeDocument/2006/relationships/image" Target="../media/image24.png"/><Relationship Id="rId10" Type="http://schemas.openxmlformats.org/officeDocument/2006/relationships/image" Target="../media/image19.svg"/><Relationship Id="rId19" Type="http://schemas.openxmlformats.org/officeDocument/2006/relationships/image" Target="../media/image28.png"/><Relationship Id="rId4" Type="http://schemas.openxmlformats.org/officeDocument/2006/relationships/image" Target="../media/image13.svg"/><Relationship Id="rId9" Type="http://schemas.openxmlformats.org/officeDocument/2006/relationships/image" Target="../media/image18.svg"/><Relationship Id="rId14" Type="http://schemas.openxmlformats.org/officeDocument/2006/relationships/image" Target="../media/image23.png"/></Relationships>
</file>

<file path=ppt/slides/_rels/slide6.xml.rels><?xml version="1.0" encoding="UTF-8" standalone="yes"?>
<Relationships xmlns="http://schemas.openxmlformats.org/package/2006/relationships"><Relationship Id="rId8" Type="http://schemas.openxmlformats.org/officeDocument/2006/relationships/image" Target="../media/image34.png"/><Relationship Id="rId3" Type="http://schemas.openxmlformats.org/officeDocument/2006/relationships/image" Target="../media/image31.png"/><Relationship Id="rId7" Type="http://schemas.openxmlformats.org/officeDocument/2006/relationships/image" Target="../media/image33.png"/><Relationship Id="rId2" Type="http://schemas.openxmlformats.org/officeDocument/2006/relationships/notesSlide" Target="../notesSlides/notesSlide6.xml"/><Relationship Id="rId1" Type="http://schemas.openxmlformats.org/officeDocument/2006/relationships/slideLayout" Target="../slideLayouts/slideLayout1.xml"/><Relationship Id="rId6" Type="http://schemas.openxmlformats.org/officeDocument/2006/relationships/image" Target="../media/image11.png"/><Relationship Id="rId5" Type="http://schemas.openxmlformats.org/officeDocument/2006/relationships/image" Target="../media/image32.png"/><Relationship Id="rId4" Type="http://schemas.openxmlformats.org/officeDocument/2006/relationships/image" Target="../media/image9.png"/></Relationships>
</file>

<file path=ppt/slides/_rels/slide7.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7.xml"/><Relationship Id="rId1" Type="http://schemas.openxmlformats.org/officeDocument/2006/relationships/slideLayout" Target="../slideLayouts/slideLayout1.xml"/><Relationship Id="rId5" Type="http://schemas.openxmlformats.org/officeDocument/2006/relationships/image" Target="../media/image35.png"/><Relationship Id="rId4" Type="http://schemas.openxmlformats.org/officeDocument/2006/relationships/image" Target="../media/image3.png"/></Relationships>
</file>

<file path=ppt/slides/_rels/slide8.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8.xml"/><Relationship Id="rId1" Type="http://schemas.openxmlformats.org/officeDocument/2006/relationships/slideLayout" Target="../slideLayouts/slideLayout3.xml"/><Relationship Id="rId5" Type="http://schemas.openxmlformats.org/officeDocument/2006/relationships/image" Target="../media/image35.png"/><Relationship Id="rId4" Type="http://schemas.openxmlformats.org/officeDocument/2006/relationships/image" Target="../media/image3.png"/></Relationships>
</file>

<file path=ppt/slides/_rels/slide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9.xml"/><Relationship Id="rId1" Type="http://schemas.openxmlformats.org/officeDocument/2006/relationships/slideLayout" Target="../slideLayouts/slideLayout1.xml"/><Relationship Id="rId6" Type="http://schemas.openxmlformats.org/officeDocument/2006/relationships/image" Target="../media/image35.png"/><Relationship Id="rId5" Type="http://schemas.openxmlformats.org/officeDocument/2006/relationships/image" Target="../media/image3.png"/><Relationship Id="rId4" Type="http://schemas.openxmlformats.org/officeDocument/2006/relationships/image" Target="../media/image2.png"/></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91F2C"/>
        </a:solidFill>
        <a:effectLst/>
      </p:bgPr>
    </p:bg>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7040880" y="2194560"/>
            <a:ext cx="6400800" cy="6400800"/>
          </a:xfrm>
          <a:prstGeom prst="rect">
            <a:avLst/>
          </a:prstGeom>
        </p:spPr>
      </p:pic>
      <p:pic>
        <p:nvPicPr>
          <p:cNvPr id="3" name="Image 1" descr="preencoded.png"/>
          <p:cNvPicPr>
            <a:picLocks noChangeAspect="1"/>
          </p:cNvPicPr>
          <p:nvPr/>
        </p:nvPicPr>
        <p:blipFill>
          <a:blip r:embed="rId4"/>
          <a:stretch>
            <a:fillRect/>
          </a:stretch>
        </p:blipFill>
        <p:spPr>
          <a:xfrm>
            <a:off x="8961120" y="3657600"/>
            <a:ext cx="5029200" cy="5029200"/>
          </a:xfrm>
          <a:prstGeom prst="rect">
            <a:avLst/>
          </a:prstGeom>
        </p:spPr>
      </p:pic>
      <p:pic>
        <p:nvPicPr>
          <p:cNvPr id="4" name="Image 2" descr="preencoded.png"/>
          <p:cNvPicPr>
            <a:picLocks noChangeAspect="1"/>
          </p:cNvPicPr>
          <p:nvPr/>
        </p:nvPicPr>
        <p:blipFill>
          <a:blip r:embed="rId5"/>
          <a:stretch>
            <a:fillRect/>
          </a:stretch>
        </p:blipFill>
        <p:spPr>
          <a:xfrm>
            <a:off x="786384" y="658368"/>
            <a:ext cx="438912" cy="438912"/>
          </a:xfrm>
          <a:prstGeom prst="rect">
            <a:avLst/>
          </a:prstGeom>
        </p:spPr>
      </p:pic>
      <p:sp>
        <p:nvSpPr>
          <p:cNvPr id="5" name="Text 0"/>
          <p:cNvSpPr/>
          <p:nvPr/>
        </p:nvSpPr>
        <p:spPr>
          <a:xfrm>
            <a:off x="1389888" y="731520"/>
            <a:ext cx="3657600" cy="256032"/>
          </a:xfrm>
          <a:prstGeom prst="rect">
            <a:avLst/>
          </a:prstGeom>
          <a:noFill/>
          <a:ln/>
        </p:spPr>
        <p:txBody>
          <a:bodyPr wrap="square" lIns="0" tIns="0" rIns="0" bIns="0" rtlCol="0" anchor="ctr">
            <a:normAutofit/>
          </a:bodyPr>
          <a:lstStyle/>
          <a:p>
            <a:pPr marL="0" indent="0">
              <a:buNone/>
            </a:pPr>
            <a:r>
              <a:rPr lang="en-US" sz="1200" b="1" kern="0" spc="110" dirty="0">
                <a:solidFill>
                  <a:srgbClr val="8DC8E8"/>
                </a:solidFill>
                <a:latin typeface="Segoe UI Semibold" pitchFamily="34" charset="0"/>
                <a:ea typeface="Segoe UI Semibold" pitchFamily="34" charset="-122"/>
                <a:cs typeface="Segoe UI Semibold" pitchFamily="34" charset="-120"/>
              </a:rPr>
              <a:t>MICROSOFT COPILOT STUDIO</a:t>
            </a:r>
            <a:endParaRPr lang="en-US" sz="1200" dirty="0"/>
          </a:p>
        </p:txBody>
      </p:sp>
      <p:sp>
        <p:nvSpPr>
          <p:cNvPr id="6" name="Text 1"/>
          <p:cNvSpPr/>
          <p:nvPr/>
        </p:nvSpPr>
        <p:spPr>
          <a:xfrm>
            <a:off x="777240" y="1508760"/>
            <a:ext cx="8412480" cy="1508760"/>
          </a:xfrm>
          <a:prstGeom prst="rect">
            <a:avLst/>
          </a:prstGeom>
          <a:noFill/>
          <a:ln/>
        </p:spPr>
        <p:txBody>
          <a:bodyPr wrap="square" lIns="0" tIns="0" rIns="0" bIns="0" rtlCol="0" anchor="ctr">
            <a:normAutofit/>
          </a:bodyPr>
          <a:lstStyle/>
          <a:p>
            <a:pPr marL="0" indent="0">
              <a:buNone/>
            </a:pPr>
            <a:r>
              <a:rPr lang="en-US" sz="3700" b="1" dirty="0">
                <a:solidFill>
                  <a:srgbClr val="FFFFFF"/>
                </a:solidFill>
                <a:latin typeface="Segoe UI Semibold" pitchFamily="34" charset="0"/>
                <a:ea typeface="Segoe UI Semibold" pitchFamily="34" charset="-122"/>
                <a:cs typeface="Segoe UI Semibold" pitchFamily="34" charset="-120"/>
              </a:rPr>
              <a:t>Copilot Studio</a:t>
            </a:r>
            <a:endParaRPr lang="en-US" sz="3700" dirty="0"/>
          </a:p>
        </p:txBody>
      </p:sp>
      <p:sp>
        <p:nvSpPr>
          <p:cNvPr id="7" name="Text 2"/>
          <p:cNvSpPr/>
          <p:nvPr/>
        </p:nvSpPr>
        <p:spPr>
          <a:xfrm>
            <a:off x="786384" y="3383280"/>
            <a:ext cx="7955280" cy="694944"/>
          </a:xfrm>
          <a:prstGeom prst="rect">
            <a:avLst/>
          </a:prstGeom>
          <a:noFill/>
          <a:ln/>
        </p:spPr>
        <p:txBody>
          <a:bodyPr wrap="square" lIns="0" tIns="0" rIns="0" bIns="0" rtlCol="0" anchor="ctr">
            <a:normAutofit/>
          </a:bodyPr>
          <a:lstStyle/>
          <a:p>
            <a:pPr marL="0" indent="0">
              <a:buNone/>
            </a:pPr>
            <a:r>
              <a:rPr lang="en-US" sz="1600" dirty="0">
                <a:solidFill>
                  <a:srgbClr val="C8D8E5"/>
                </a:solidFill>
                <a:latin typeface="Segoe UI" pitchFamily="34" charset="0"/>
                <a:ea typeface="Segoe UI" pitchFamily="34" charset="-122"/>
                <a:cs typeface="Segoe UI" pitchFamily="34" charset="-120"/>
              </a:rPr>
              <a:t>Building custom agents that know, reason, act, and reach users — across every channel of your organization</a:t>
            </a:r>
            <a:endParaRPr lang="en-US" sz="1600" dirty="0"/>
          </a:p>
        </p:txBody>
      </p:sp>
      <p:pic>
        <p:nvPicPr>
          <p:cNvPr id="11" name="Image 3" descr="preencoded.png"/>
          <p:cNvPicPr>
            <a:picLocks noChangeAspect="1"/>
          </p:cNvPicPr>
          <p:nvPr/>
        </p:nvPicPr>
        <p:blipFill>
          <a:blip r:embed="rId5"/>
          <a:stretch>
            <a:fillRect/>
          </a:stretch>
        </p:blipFill>
        <p:spPr>
          <a:xfrm>
            <a:off x="9555480" y="4297680"/>
            <a:ext cx="1508760" cy="1508760"/>
          </a:xfrm>
          <a:prstGeom prst="rect">
            <a:avLst/>
          </a:prstGeom>
        </p:spPr>
      </p:pic>
      <p:sp>
        <p:nvSpPr>
          <p:cNvPr id="12" name="Text 6"/>
          <p:cNvSpPr/>
          <p:nvPr/>
        </p:nvSpPr>
        <p:spPr>
          <a:xfrm>
            <a:off x="777240" y="6510528"/>
            <a:ext cx="1828800" cy="155448"/>
          </a:xfrm>
          <a:prstGeom prst="rect">
            <a:avLst/>
          </a:prstGeom>
          <a:noFill/>
          <a:ln/>
        </p:spPr>
        <p:txBody>
          <a:bodyPr wrap="square" lIns="0" tIns="0" rIns="0" bIns="0" rtlCol="0" anchor="ctr">
            <a:normAutofit/>
          </a:bodyPr>
          <a:lstStyle/>
          <a:p>
            <a:pPr marL="0" indent="0">
              <a:buNone/>
            </a:pPr>
            <a:r>
              <a:rPr lang="en-US" sz="850" dirty="0">
                <a:solidFill>
                  <a:srgbClr val="C8D8E5"/>
                </a:solidFill>
                <a:latin typeface="Segoe UI" pitchFamily="34" charset="0"/>
                <a:ea typeface="Segoe UI" pitchFamily="34" charset="-122"/>
                <a:cs typeface="Segoe UI" pitchFamily="34" charset="-120"/>
              </a:rPr>
              <a:t>Copilot Studio</a:t>
            </a:r>
            <a:endParaRPr lang="en-US" sz="850" dirty="0"/>
          </a:p>
        </p:txBody>
      </p:sp>
      <p:sp>
        <p:nvSpPr>
          <p:cNvPr id="13" name="Text 7"/>
          <p:cNvSpPr/>
          <p:nvPr/>
        </p:nvSpPr>
        <p:spPr>
          <a:xfrm>
            <a:off x="11228832" y="6473952"/>
            <a:ext cx="320040" cy="164592"/>
          </a:xfrm>
          <a:prstGeom prst="rect">
            <a:avLst/>
          </a:prstGeom>
          <a:noFill/>
          <a:ln/>
        </p:spPr>
        <p:txBody>
          <a:bodyPr wrap="square" lIns="0" tIns="0" rIns="0" bIns="0" rtlCol="0" anchor="ctr">
            <a:normAutofit/>
          </a:bodyPr>
          <a:lstStyle/>
          <a:p>
            <a:pPr marL="0" indent="0" algn="r">
              <a:buNone/>
            </a:pPr>
            <a:r>
              <a:rPr lang="en-US" sz="900">
                <a:solidFill>
                  <a:srgbClr val="C8D8E5"/>
                </a:solidFill>
                <a:latin typeface="Segoe UI" pitchFamily="34" charset="0"/>
                <a:ea typeface="Segoe UI" pitchFamily="34" charset="-122"/>
                <a:cs typeface="Segoe UI" pitchFamily="34" charset="-120"/>
              </a:rPr>
              <a:t>1</a:t>
            </a:r>
            <a:endParaRPr lang="en-US" sz="9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3">
    <p:bg>
      <p:bgPr>
        <a:solidFill>
          <a:srgbClr val="F2F1F7"/>
        </a:solidFill>
        <a:effectLst/>
      </p:bgPr>
    </p:bg>
    <p:spTree>
      <p:nvGrpSpPr>
        <p:cNvPr id="1" name=""/>
        <p:cNvGrpSpPr/>
        <p:nvPr/>
      </p:nvGrpSpPr>
      <p:grpSpPr>
        <a:xfrm>
          <a:off x="0" y="0"/>
          <a:ext cx="0" cy="0"/>
          <a:chOff x="0" y="0"/>
          <a:chExt cx="0" cy="0"/>
        </a:xfrm>
      </p:grpSpPr>
      <p:sp>
        <p:nvSpPr>
          <p:cNvPr id="2" name="Text 0"/>
          <p:cNvSpPr/>
          <p:nvPr/>
        </p:nvSpPr>
        <p:spPr>
          <a:xfrm>
            <a:off x="777240" y="566928"/>
            <a:ext cx="6858000" cy="237744"/>
          </a:xfrm>
          <a:prstGeom prst="rect">
            <a:avLst/>
          </a:prstGeom>
          <a:noFill/>
          <a:ln/>
        </p:spPr>
        <p:txBody>
          <a:bodyPr wrap="square" lIns="0" tIns="0" rIns="0" bIns="0" rtlCol="0" anchor="ctr">
            <a:normAutofit/>
          </a:bodyPr>
          <a:lstStyle/>
          <a:p>
            <a:pPr marL="0" indent="0">
              <a:buNone/>
            </a:pPr>
            <a:r>
              <a:rPr lang="en-US" sz="1100" b="1" kern="0" spc="180" dirty="0">
                <a:solidFill>
                  <a:srgbClr val="0078D4"/>
                </a:solidFill>
                <a:latin typeface="Segoe UI Semibold" pitchFamily="34" charset="0"/>
                <a:ea typeface="Segoe UI Semibold" pitchFamily="34" charset="-122"/>
                <a:cs typeface="Segoe UI Semibold" pitchFamily="34" charset="-120"/>
              </a:rPr>
              <a:t>THE EVOLUTION</a:t>
            </a:r>
            <a:endParaRPr lang="en-US" sz="1100" dirty="0"/>
          </a:p>
        </p:txBody>
      </p:sp>
      <p:sp>
        <p:nvSpPr>
          <p:cNvPr id="3" name="Text 1"/>
          <p:cNvSpPr/>
          <p:nvPr/>
        </p:nvSpPr>
        <p:spPr>
          <a:xfrm>
            <a:off x="777240" y="932688"/>
            <a:ext cx="10744200" cy="868680"/>
          </a:xfrm>
          <a:prstGeom prst="rect">
            <a:avLst/>
          </a:prstGeom>
          <a:noFill/>
          <a:ln/>
        </p:spPr>
        <p:txBody>
          <a:bodyPr wrap="square" lIns="0" tIns="0" rIns="0" bIns="0" rtlCol="0" anchor="ctr">
            <a:normAutofit/>
          </a:bodyPr>
          <a:lstStyle/>
          <a:p>
            <a:pPr marL="0" indent="0">
              <a:buNone/>
            </a:pPr>
            <a:r>
              <a:rPr lang="en-US" sz="2500" b="1" dirty="0">
                <a:solidFill>
                  <a:srgbClr val="091F2C"/>
                </a:solidFill>
                <a:latin typeface="Segoe UI Semibold" pitchFamily="34" charset="0"/>
                <a:ea typeface="Segoe UI Semibold" pitchFamily="34" charset="-122"/>
                <a:cs typeface="Segoe UI Semibold" pitchFamily="34" charset="-120"/>
              </a:rPr>
              <a:t>M365 Copilot changes how people work; </a:t>
            </a:r>
            <a:r>
              <a:rPr lang="en-US" sz="2500" b="1" dirty="0">
                <a:solidFill>
                  <a:srgbClr val="8661C5"/>
                </a:solidFill>
                <a:latin typeface="Segoe UI Semibold" pitchFamily="34" charset="0"/>
                <a:ea typeface="Segoe UI Semibold" pitchFamily="34" charset="-122"/>
                <a:cs typeface="Segoe UI Semibold" pitchFamily="34" charset="-120"/>
              </a:rPr>
              <a:t>Copilot Studio changes how work gets done.</a:t>
            </a:r>
            <a:endParaRPr lang="en-US" sz="2500" dirty="0"/>
          </a:p>
        </p:txBody>
      </p:sp>
      <p:sp>
        <p:nvSpPr>
          <p:cNvPr id="4" name="Text 2"/>
          <p:cNvSpPr/>
          <p:nvPr/>
        </p:nvSpPr>
        <p:spPr>
          <a:xfrm>
            <a:off x="777240" y="1847088"/>
            <a:ext cx="10698480" cy="411480"/>
          </a:xfrm>
          <a:prstGeom prst="rect">
            <a:avLst/>
          </a:prstGeom>
          <a:noFill/>
          <a:ln/>
        </p:spPr>
        <p:txBody>
          <a:bodyPr wrap="square" lIns="0" tIns="0" rIns="0" bIns="0" rtlCol="0" anchor="ctr">
            <a:normAutofit/>
          </a:bodyPr>
          <a:lstStyle/>
          <a:p>
            <a:pPr marL="0" indent="0">
              <a:buNone/>
            </a:pPr>
            <a:r>
              <a:rPr lang="en-US" sz="1320" dirty="0">
                <a:solidFill>
                  <a:srgbClr val="5B6672"/>
                </a:solidFill>
                <a:latin typeface="Segoe UI" pitchFamily="34" charset="0"/>
                <a:ea typeface="Segoe UI" pitchFamily="34" charset="-122"/>
                <a:cs typeface="Segoe UI" pitchFamily="34" charset="-120"/>
              </a:rPr>
              <a:t>The shift from AI in the flow of work to agents in the flow of business</a:t>
            </a:r>
            <a:endParaRPr lang="en-US" sz="1320" dirty="0"/>
          </a:p>
        </p:txBody>
      </p:sp>
      <p:sp>
        <p:nvSpPr>
          <p:cNvPr id="5" name="Shape 3"/>
          <p:cNvSpPr/>
          <p:nvPr/>
        </p:nvSpPr>
        <p:spPr>
          <a:xfrm>
            <a:off x="685800" y="2743200"/>
            <a:ext cx="4800600" cy="2743200"/>
          </a:xfrm>
          <a:prstGeom prst="roundRect">
            <a:avLst>
              <a:gd name="adj" fmla="val 3000"/>
            </a:avLst>
          </a:prstGeom>
          <a:solidFill>
            <a:srgbClr val="FFFFFF"/>
          </a:solidFill>
          <a:ln w="12700">
            <a:solidFill>
              <a:srgbClr val="E7E5F0"/>
            </a:solidFill>
            <a:prstDash val="solid"/>
          </a:ln>
          <a:effectLst>
            <a:outerShdw blurRad="63500" dist="50800" dir="5400000" algn="bl" rotWithShape="0">
              <a:srgbClr val="8A83B0">
                <a:alpha val="18000"/>
              </a:srgbClr>
            </a:outerShdw>
          </a:effectLst>
        </p:spPr>
        <p:txBody>
          <a:bodyPr/>
          <a:lstStyle/>
          <a:p>
            <a:endParaRPr lang="en-US"/>
          </a:p>
        </p:txBody>
      </p:sp>
      <p:pic>
        <p:nvPicPr>
          <p:cNvPr id="7" name="Image 1" descr="preencoded.png"/>
          <p:cNvPicPr>
            <a:picLocks noChangeAspect="1"/>
          </p:cNvPicPr>
          <p:nvPr/>
        </p:nvPicPr>
        <p:blipFill>
          <a:blip r:embed="rId3"/>
          <a:stretch>
            <a:fillRect/>
          </a:stretch>
        </p:blipFill>
        <p:spPr>
          <a:xfrm>
            <a:off x="1078992" y="3054096"/>
            <a:ext cx="640080" cy="640080"/>
          </a:xfrm>
          <a:prstGeom prst="rect">
            <a:avLst/>
          </a:prstGeom>
        </p:spPr>
      </p:pic>
      <p:sp>
        <p:nvSpPr>
          <p:cNvPr id="8" name="Text 4"/>
          <p:cNvSpPr/>
          <p:nvPr/>
        </p:nvSpPr>
        <p:spPr>
          <a:xfrm>
            <a:off x="1874520" y="3182112"/>
            <a:ext cx="2194560" cy="274320"/>
          </a:xfrm>
          <a:prstGeom prst="rect">
            <a:avLst/>
          </a:prstGeom>
          <a:noFill/>
          <a:ln/>
        </p:spPr>
        <p:txBody>
          <a:bodyPr wrap="square" lIns="0" tIns="0" rIns="0" bIns="0" rtlCol="0" anchor="ctr">
            <a:normAutofit/>
          </a:bodyPr>
          <a:lstStyle/>
          <a:p>
            <a:pPr marL="0" indent="0">
              <a:buNone/>
            </a:pPr>
            <a:r>
              <a:rPr lang="en-US" sz="1200" b="1" dirty="0">
                <a:solidFill>
                  <a:srgbClr val="0078D4"/>
                </a:solidFill>
                <a:latin typeface="Segoe UI Semibold" pitchFamily="34" charset="0"/>
                <a:ea typeface="Segoe UI Semibold" pitchFamily="34" charset="-122"/>
                <a:cs typeface="Segoe UI Semibold" pitchFamily="34" charset="-120"/>
              </a:rPr>
              <a:t>M365 COPILOT</a:t>
            </a:r>
            <a:endParaRPr lang="en-US" sz="1200" dirty="0"/>
          </a:p>
        </p:txBody>
      </p:sp>
      <p:sp>
        <p:nvSpPr>
          <p:cNvPr id="9" name="Text 5"/>
          <p:cNvSpPr/>
          <p:nvPr/>
        </p:nvSpPr>
        <p:spPr>
          <a:xfrm>
            <a:off x="1078992" y="3794760"/>
            <a:ext cx="3474720" cy="411480"/>
          </a:xfrm>
          <a:prstGeom prst="rect">
            <a:avLst/>
          </a:prstGeom>
          <a:noFill/>
          <a:ln/>
        </p:spPr>
        <p:txBody>
          <a:bodyPr wrap="square" lIns="0" tIns="0" rIns="0" bIns="0" rtlCol="0" anchor="ctr">
            <a:normAutofit/>
          </a:bodyPr>
          <a:lstStyle/>
          <a:p>
            <a:pPr marL="0" indent="0">
              <a:buNone/>
            </a:pPr>
            <a:r>
              <a:rPr lang="en-US" sz="2000" b="1" dirty="0">
                <a:solidFill>
                  <a:srgbClr val="091F2C"/>
                </a:solidFill>
                <a:latin typeface="Segoe UI Semibold" pitchFamily="34" charset="0"/>
                <a:ea typeface="Segoe UI Semibold" pitchFamily="34" charset="-122"/>
                <a:cs typeface="Segoe UI Semibold" pitchFamily="34" charset="-120"/>
              </a:rPr>
              <a:t>AI in the flow of work</a:t>
            </a:r>
            <a:endParaRPr lang="en-US" sz="2000" dirty="0"/>
          </a:p>
        </p:txBody>
      </p:sp>
      <p:sp>
        <p:nvSpPr>
          <p:cNvPr id="10" name="Text 6"/>
          <p:cNvSpPr/>
          <p:nvPr/>
        </p:nvSpPr>
        <p:spPr>
          <a:xfrm>
            <a:off x="1078992" y="4498848"/>
            <a:ext cx="3383280" cy="310896"/>
          </a:xfrm>
          <a:prstGeom prst="rect">
            <a:avLst/>
          </a:prstGeom>
          <a:noFill/>
          <a:ln/>
        </p:spPr>
        <p:txBody>
          <a:bodyPr wrap="square" lIns="0" tIns="0" rIns="0" bIns="0" rtlCol="0" anchor="ctr">
            <a:normAutofit/>
          </a:bodyPr>
          <a:lstStyle/>
          <a:p>
            <a:pPr marL="0" indent="0">
              <a:buNone/>
            </a:pPr>
            <a:r>
              <a:rPr lang="en-US" sz="1200" dirty="0">
                <a:solidFill>
                  <a:srgbClr val="5B6672"/>
                </a:solidFill>
                <a:latin typeface="Segoe UI" pitchFamily="34" charset="0"/>
                <a:ea typeface="Segoe UI" pitchFamily="34" charset="-122"/>
                <a:cs typeface="Segoe UI" pitchFamily="34" charset="-120"/>
              </a:rPr>
              <a:t>Ask  ·  Create  ·  Summarize</a:t>
            </a:r>
            <a:endParaRPr lang="en-US" sz="1200" dirty="0"/>
          </a:p>
        </p:txBody>
      </p:sp>
      <p:sp>
        <p:nvSpPr>
          <p:cNvPr id="11" name="Text 7"/>
          <p:cNvSpPr/>
          <p:nvPr/>
        </p:nvSpPr>
        <p:spPr>
          <a:xfrm>
            <a:off x="1078992" y="5065776"/>
            <a:ext cx="3474720" cy="310896"/>
          </a:xfrm>
          <a:prstGeom prst="rect">
            <a:avLst/>
          </a:prstGeom>
          <a:noFill/>
          <a:ln/>
        </p:spPr>
        <p:txBody>
          <a:bodyPr wrap="square" lIns="0" tIns="0" rIns="0" bIns="0" rtlCol="0" anchor="ctr">
            <a:normAutofit/>
          </a:bodyPr>
          <a:lstStyle/>
          <a:p>
            <a:pPr marL="0" indent="0">
              <a:buNone/>
            </a:pPr>
            <a:r>
              <a:rPr lang="en-US" sz="1250" b="1" dirty="0">
                <a:solidFill>
                  <a:srgbClr val="091F2C"/>
                </a:solidFill>
                <a:latin typeface="Segoe UI Semibold" pitchFamily="34" charset="0"/>
                <a:ea typeface="Segoe UI Semibold" pitchFamily="34" charset="-122"/>
                <a:cs typeface="Segoe UI Semibold" pitchFamily="34" charset="-120"/>
              </a:rPr>
              <a:t>Transforms how people work</a:t>
            </a:r>
            <a:endParaRPr lang="en-US" sz="1250" dirty="0"/>
          </a:p>
        </p:txBody>
      </p:sp>
      <p:sp>
        <p:nvSpPr>
          <p:cNvPr id="12" name="Shape 8"/>
          <p:cNvSpPr/>
          <p:nvPr/>
        </p:nvSpPr>
        <p:spPr>
          <a:xfrm>
            <a:off x="6720840" y="2743200"/>
            <a:ext cx="4800600" cy="2743200"/>
          </a:xfrm>
          <a:prstGeom prst="roundRect">
            <a:avLst>
              <a:gd name="adj" fmla="val 3000"/>
            </a:avLst>
          </a:prstGeom>
          <a:solidFill>
            <a:srgbClr val="091F2C"/>
          </a:solidFill>
          <a:ln w="12700">
            <a:solidFill>
              <a:srgbClr val="0078D4"/>
            </a:solidFill>
            <a:prstDash val="solid"/>
          </a:ln>
          <a:effectLst>
            <a:outerShdw blurRad="88900" dist="50800" dir="5400000" algn="bl" rotWithShape="0">
              <a:srgbClr val="5C5776">
                <a:alpha val="22000"/>
              </a:srgbClr>
            </a:outerShdw>
          </a:effectLst>
        </p:spPr>
        <p:txBody>
          <a:bodyPr/>
          <a:lstStyle/>
          <a:p>
            <a:endParaRPr lang="en-US"/>
          </a:p>
        </p:txBody>
      </p:sp>
      <p:pic>
        <p:nvPicPr>
          <p:cNvPr id="14" name="Image 3" descr="preencoded.png"/>
          <p:cNvPicPr>
            <a:picLocks noChangeAspect="1"/>
          </p:cNvPicPr>
          <p:nvPr/>
        </p:nvPicPr>
        <p:blipFill>
          <a:blip r:embed="rId4"/>
          <a:stretch>
            <a:fillRect/>
          </a:stretch>
        </p:blipFill>
        <p:spPr>
          <a:xfrm>
            <a:off x="7114032" y="3054096"/>
            <a:ext cx="640080" cy="640080"/>
          </a:xfrm>
          <a:prstGeom prst="rect">
            <a:avLst/>
          </a:prstGeom>
        </p:spPr>
      </p:pic>
      <p:sp>
        <p:nvSpPr>
          <p:cNvPr id="15" name="Text 9"/>
          <p:cNvSpPr/>
          <p:nvPr/>
        </p:nvSpPr>
        <p:spPr>
          <a:xfrm>
            <a:off x="7909560" y="3182112"/>
            <a:ext cx="2194560" cy="274320"/>
          </a:xfrm>
          <a:prstGeom prst="rect">
            <a:avLst/>
          </a:prstGeom>
          <a:noFill/>
          <a:ln/>
        </p:spPr>
        <p:txBody>
          <a:bodyPr wrap="square" lIns="0" tIns="0" rIns="0" bIns="0" rtlCol="0" anchor="ctr">
            <a:normAutofit/>
          </a:bodyPr>
          <a:lstStyle/>
          <a:p>
            <a:pPr marL="0" indent="0">
              <a:buNone/>
            </a:pPr>
            <a:r>
              <a:rPr lang="en-US" sz="1200" b="1" dirty="0">
                <a:solidFill>
                  <a:srgbClr val="8DC8E8"/>
                </a:solidFill>
                <a:latin typeface="Segoe UI Semibold" pitchFamily="34" charset="0"/>
                <a:ea typeface="Segoe UI Semibold" pitchFamily="34" charset="-122"/>
                <a:cs typeface="Segoe UI Semibold" pitchFamily="34" charset="-120"/>
              </a:rPr>
              <a:t>COPILOT STUDIO</a:t>
            </a:r>
            <a:endParaRPr lang="en-US" sz="1200" dirty="0"/>
          </a:p>
        </p:txBody>
      </p:sp>
      <p:sp>
        <p:nvSpPr>
          <p:cNvPr id="16" name="Text 10"/>
          <p:cNvSpPr/>
          <p:nvPr/>
        </p:nvSpPr>
        <p:spPr>
          <a:xfrm>
            <a:off x="7114032" y="3794760"/>
            <a:ext cx="3749040" cy="411480"/>
          </a:xfrm>
          <a:prstGeom prst="rect">
            <a:avLst/>
          </a:prstGeom>
          <a:noFill/>
          <a:ln/>
        </p:spPr>
        <p:txBody>
          <a:bodyPr wrap="square" lIns="0" tIns="0" rIns="0" bIns="0" rtlCol="0" anchor="ctr">
            <a:normAutofit/>
          </a:bodyPr>
          <a:lstStyle/>
          <a:p>
            <a:pPr marL="0" indent="0">
              <a:buNone/>
            </a:pPr>
            <a:r>
              <a:rPr lang="en-US" sz="1900" b="1" dirty="0">
                <a:solidFill>
                  <a:srgbClr val="FFFFFF"/>
                </a:solidFill>
                <a:latin typeface="Segoe UI Semibold" pitchFamily="34" charset="0"/>
                <a:ea typeface="Segoe UI Semibold" pitchFamily="34" charset="-122"/>
                <a:cs typeface="Segoe UI Semibold" pitchFamily="34" charset="-120"/>
              </a:rPr>
              <a:t>Agents in the flow of business</a:t>
            </a:r>
            <a:endParaRPr lang="en-US" sz="1900" dirty="0"/>
          </a:p>
        </p:txBody>
      </p:sp>
      <p:sp>
        <p:nvSpPr>
          <p:cNvPr id="17" name="Text 11"/>
          <p:cNvSpPr/>
          <p:nvPr/>
        </p:nvSpPr>
        <p:spPr>
          <a:xfrm>
            <a:off x="7114032" y="4498848"/>
            <a:ext cx="3474720" cy="310896"/>
          </a:xfrm>
          <a:prstGeom prst="rect">
            <a:avLst/>
          </a:prstGeom>
          <a:noFill/>
          <a:ln/>
        </p:spPr>
        <p:txBody>
          <a:bodyPr wrap="square" lIns="0" tIns="0" rIns="0" bIns="0" rtlCol="0" anchor="ctr">
            <a:normAutofit/>
          </a:bodyPr>
          <a:lstStyle/>
          <a:p>
            <a:pPr marL="0" indent="0">
              <a:buNone/>
            </a:pPr>
            <a:r>
              <a:rPr lang="en-US" sz="1200" dirty="0">
                <a:solidFill>
                  <a:srgbClr val="C8D8E5"/>
                </a:solidFill>
                <a:latin typeface="Segoe UI" pitchFamily="34" charset="0"/>
                <a:ea typeface="Segoe UI" pitchFamily="34" charset="-122"/>
                <a:cs typeface="Segoe UI" pitchFamily="34" charset="-120"/>
              </a:rPr>
              <a:t>Know  ·  Reason  ·  Act  ·  Reach</a:t>
            </a:r>
            <a:endParaRPr lang="en-US" sz="1200" dirty="0"/>
          </a:p>
        </p:txBody>
      </p:sp>
      <p:sp>
        <p:nvSpPr>
          <p:cNvPr id="18" name="Text 12"/>
          <p:cNvSpPr/>
          <p:nvPr/>
        </p:nvSpPr>
        <p:spPr>
          <a:xfrm>
            <a:off x="7114032" y="5065776"/>
            <a:ext cx="3474720" cy="310896"/>
          </a:xfrm>
          <a:prstGeom prst="rect">
            <a:avLst/>
          </a:prstGeom>
          <a:noFill/>
          <a:ln/>
        </p:spPr>
        <p:txBody>
          <a:bodyPr wrap="square" lIns="0" tIns="0" rIns="0" bIns="0" rtlCol="0" anchor="ctr">
            <a:normAutofit/>
          </a:bodyPr>
          <a:lstStyle/>
          <a:p>
            <a:pPr marL="0" indent="0">
              <a:buNone/>
            </a:pPr>
            <a:r>
              <a:rPr lang="en-US" sz="1250" b="1" dirty="0">
                <a:solidFill>
                  <a:srgbClr val="FFFFFF"/>
                </a:solidFill>
                <a:latin typeface="Segoe UI Semibold" pitchFamily="34" charset="0"/>
                <a:ea typeface="Segoe UI Semibold" pitchFamily="34" charset="-122"/>
                <a:cs typeface="Segoe UI Semibold" pitchFamily="34" charset="-120"/>
              </a:rPr>
              <a:t>Transforms how work gets done</a:t>
            </a:r>
            <a:endParaRPr lang="en-US" sz="1250" dirty="0"/>
          </a:p>
        </p:txBody>
      </p:sp>
      <p:sp>
        <p:nvSpPr>
          <p:cNvPr id="19" name="Shape 13"/>
          <p:cNvSpPr/>
          <p:nvPr/>
        </p:nvSpPr>
        <p:spPr>
          <a:xfrm>
            <a:off x="5737636" y="4114800"/>
            <a:ext cx="716728" cy="0"/>
          </a:xfrm>
          <a:prstGeom prst="line">
            <a:avLst/>
          </a:prstGeom>
          <a:noFill/>
          <a:ln w="31750">
            <a:solidFill>
              <a:srgbClr val="8661C5"/>
            </a:solidFill>
            <a:prstDash val="solid"/>
            <a:headEnd type="none"/>
            <a:tailEnd type="triangle"/>
          </a:ln>
        </p:spPr>
        <p:txBody>
          <a:bodyPr/>
          <a:lstStyle/>
          <a:p>
            <a:endParaRPr lang="en-US"/>
          </a:p>
        </p:txBody>
      </p:sp>
      <p:sp>
        <p:nvSpPr>
          <p:cNvPr id="22" name="Text 16"/>
          <p:cNvSpPr/>
          <p:nvPr/>
        </p:nvSpPr>
        <p:spPr>
          <a:xfrm>
            <a:off x="1920240" y="5975066"/>
            <a:ext cx="8321040" cy="274320"/>
          </a:xfrm>
          <a:prstGeom prst="rect">
            <a:avLst/>
          </a:prstGeom>
          <a:noFill/>
          <a:ln/>
        </p:spPr>
        <p:txBody>
          <a:bodyPr wrap="square" lIns="0" tIns="0" rIns="0" bIns="0" rtlCol="0" anchor="ctr">
            <a:normAutofit/>
          </a:bodyPr>
          <a:lstStyle/>
          <a:p>
            <a:pPr marL="0" indent="0" algn="ctr">
              <a:buNone/>
            </a:pPr>
            <a:r>
              <a:rPr lang="en-US" sz="1120" dirty="0">
                <a:solidFill>
                  <a:srgbClr val="5B6672"/>
                </a:solidFill>
                <a:latin typeface="Segoe UI Semibold" pitchFamily="34" charset="0"/>
                <a:ea typeface="Segoe UI Semibold" pitchFamily="34" charset="-122"/>
                <a:cs typeface="Segoe UI Semibold" pitchFamily="34" charset="-120"/>
              </a:rPr>
              <a:t>The next layer of the Microsoft agent stack</a:t>
            </a:r>
            <a:endParaRPr lang="en-US" sz="1120" dirty="0"/>
          </a:p>
        </p:txBody>
      </p:sp>
      <p:sp>
        <p:nvSpPr>
          <p:cNvPr id="23" name="Text 17"/>
          <p:cNvSpPr/>
          <p:nvPr/>
        </p:nvSpPr>
        <p:spPr>
          <a:xfrm>
            <a:off x="777240" y="6510528"/>
            <a:ext cx="1828800" cy="155448"/>
          </a:xfrm>
          <a:prstGeom prst="rect">
            <a:avLst/>
          </a:prstGeom>
          <a:noFill/>
          <a:ln/>
        </p:spPr>
        <p:txBody>
          <a:bodyPr wrap="square" lIns="0" tIns="0" rIns="0" bIns="0" rtlCol="0" anchor="ctr">
            <a:normAutofit/>
          </a:bodyPr>
          <a:lstStyle/>
          <a:p>
            <a:pPr marL="0" indent="0">
              <a:buNone/>
            </a:pPr>
            <a:r>
              <a:rPr lang="en-US" sz="850" dirty="0">
                <a:solidFill>
                  <a:srgbClr val="9AA3AD"/>
                </a:solidFill>
                <a:latin typeface="Segoe UI" pitchFamily="34" charset="0"/>
                <a:ea typeface="Segoe UI" pitchFamily="34" charset="-122"/>
                <a:cs typeface="Segoe UI" pitchFamily="34" charset="-120"/>
              </a:rPr>
              <a:t>Copilot Studio</a:t>
            </a:r>
            <a:endParaRPr lang="en-US" sz="850" dirty="0"/>
          </a:p>
        </p:txBody>
      </p:sp>
      <p:sp>
        <p:nvSpPr>
          <p:cNvPr id="24" name="Text 18"/>
          <p:cNvSpPr/>
          <p:nvPr/>
        </p:nvSpPr>
        <p:spPr>
          <a:xfrm>
            <a:off x="11228832" y="6473952"/>
            <a:ext cx="320040" cy="164592"/>
          </a:xfrm>
          <a:prstGeom prst="rect">
            <a:avLst/>
          </a:prstGeom>
          <a:noFill/>
          <a:ln/>
        </p:spPr>
        <p:txBody>
          <a:bodyPr wrap="square" lIns="0" tIns="0" rIns="0" bIns="0" rtlCol="0" anchor="ctr">
            <a:normAutofit/>
          </a:bodyPr>
          <a:lstStyle/>
          <a:p>
            <a:pPr marL="0" indent="0" algn="r">
              <a:buNone/>
            </a:pPr>
            <a:r>
              <a:rPr lang="en-US" sz="900">
                <a:solidFill>
                  <a:srgbClr val="9AA3AD"/>
                </a:solidFill>
                <a:latin typeface="Segoe UI" pitchFamily="34" charset="0"/>
                <a:ea typeface="Segoe UI" pitchFamily="34" charset="-122"/>
                <a:cs typeface="Segoe UI" pitchFamily="34" charset="-120"/>
              </a:rPr>
              <a:t>2</a:t>
            </a:r>
            <a:endParaRPr lang="en-US" sz="9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4">
    <p:bg>
      <p:bgPr>
        <a:solidFill>
          <a:srgbClr val="F2F1F7"/>
        </a:solidFill>
        <a:effectLst/>
      </p:bgPr>
    </p:bg>
    <p:spTree>
      <p:nvGrpSpPr>
        <p:cNvPr id="1" name=""/>
        <p:cNvGrpSpPr/>
        <p:nvPr/>
      </p:nvGrpSpPr>
      <p:grpSpPr>
        <a:xfrm>
          <a:off x="0" y="0"/>
          <a:ext cx="0" cy="0"/>
          <a:chOff x="0" y="0"/>
          <a:chExt cx="0" cy="0"/>
        </a:xfrm>
      </p:grpSpPr>
      <p:sp>
        <p:nvSpPr>
          <p:cNvPr id="2" name="Text 0"/>
          <p:cNvSpPr/>
          <p:nvPr/>
        </p:nvSpPr>
        <p:spPr>
          <a:xfrm>
            <a:off x="777240" y="566928"/>
            <a:ext cx="6858000" cy="237744"/>
          </a:xfrm>
          <a:prstGeom prst="rect">
            <a:avLst/>
          </a:prstGeom>
          <a:noFill/>
          <a:ln/>
        </p:spPr>
        <p:txBody>
          <a:bodyPr wrap="square" lIns="0" tIns="0" rIns="0" bIns="0" rtlCol="0" anchor="ctr">
            <a:normAutofit/>
          </a:bodyPr>
          <a:lstStyle/>
          <a:p>
            <a:pPr marL="0" indent="0">
              <a:buNone/>
            </a:pPr>
            <a:r>
              <a:rPr lang="en-US" sz="1100" b="1" kern="0" spc="180" dirty="0">
                <a:solidFill>
                  <a:srgbClr val="0078D4"/>
                </a:solidFill>
                <a:latin typeface="Segoe UI Semibold" pitchFamily="34" charset="0"/>
                <a:ea typeface="Segoe UI Semibold" pitchFamily="34" charset="-122"/>
                <a:cs typeface="Segoe UI Semibold" pitchFamily="34" charset="-120"/>
              </a:rPr>
              <a:t>WHAT IS COPILOT STUDIO</a:t>
            </a:r>
            <a:endParaRPr lang="en-US" sz="1100" dirty="0"/>
          </a:p>
        </p:txBody>
      </p:sp>
      <p:sp>
        <p:nvSpPr>
          <p:cNvPr id="3" name="Text 1"/>
          <p:cNvSpPr/>
          <p:nvPr/>
        </p:nvSpPr>
        <p:spPr>
          <a:xfrm>
            <a:off x="777240" y="932688"/>
            <a:ext cx="10744200" cy="822960"/>
          </a:xfrm>
          <a:prstGeom prst="rect">
            <a:avLst/>
          </a:prstGeom>
          <a:noFill/>
          <a:ln/>
        </p:spPr>
        <p:txBody>
          <a:bodyPr wrap="square" lIns="0" tIns="0" rIns="0" bIns="0" rtlCol="0" anchor="ctr">
            <a:normAutofit/>
          </a:bodyPr>
          <a:lstStyle/>
          <a:p>
            <a:pPr marL="0" indent="0">
              <a:buNone/>
            </a:pPr>
            <a:r>
              <a:rPr lang="en-US" sz="2500" b="1" dirty="0">
                <a:solidFill>
                  <a:srgbClr val="091F2C"/>
                </a:solidFill>
                <a:latin typeface="Segoe UI Semibold" pitchFamily="34" charset="0"/>
                <a:ea typeface="Segoe UI Semibold" pitchFamily="34" charset="-122"/>
                <a:cs typeface="Segoe UI Semibold" pitchFamily="34" charset="-120"/>
              </a:rPr>
              <a:t>What is Copilot Studio?</a:t>
            </a:r>
            <a:endParaRPr lang="en-US" sz="2500" dirty="0"/>
          </a:p>
        </p:txBody>
      </p:sp>
      <p:sp>
        <p:nvSpPr>
          <p:cNvPr id="4" name="Text 2"/>
          <p:cNvSpPr/>
          <p:nvPr/>
        </p:nvSpPr>
        <p:spPr>
          <a:xfrm>
            <a:off x="777240" y="1573669"/>
            <a:ext cx="10698480" cy="411480"/>
          </a:xfrm>
          <a:prstGeom prst="rect">
            <a:avLst/>
          </a:prstGeom>
          <a:noFill/>
          <a:ln/>
        </p:spPr>
        <p:txBody>
          <a:bodyPr wrap="square" lIns="0" tIns="0" rIns="0" bIns="0" rtlCol="0" anchor="ctr">
            <a:normAutofit/>
          </a:bodyPr>
          <a:lstStyle/>
          <a:p>
            <a:r>
              <a:rPr lang="en-US" sz="1400" b="1">
                <a:solidFill>
                  <a:srgbClr val="091F2C"/>
                </a:solidFill>
                <a:latin typeface="Segoe UI Semibold" pitchFamily="34" charset="0"/>
                <a:ea typeface="Segoe UI Semibold" pitchFamily="34" charset="-122"/>
                <a:cs typeface="Segoe UI Semibold" pitchFamily="34" charset="-120"/>
              </a:rPr>
              <a:t>One low-code platform to build agents that </a:t>
            </a:r>
            <a:r>
              <a:rPr lang="en-US" sz="1400" b="1">
                <a:solidFill>
                  <a:srgbClr val="8661C5"/>
                </a:solidFill>
                <a:latin typeface="Segoe UI Semibold" pitchFamily="34" charset="0"/>
                <a:ea typeface="Segoe UI Semibold" pitchFamily="34" charset="-122"/>
                <a:cs typeface="Segoe UI Semibold" pitchFamily="34" charset="-120"/>
              </a:rPr>
              <a:t>build, connect, act, and reach.</a:t>
            </a:r>
            <a:endParaRPr lang="en-US" sz="1400" dirty="0"/>
          </a:p>
        </p:txBody>
      </p:sp>
      <p:grpSp>
        <p:nvGrpSpPr>
          <p:cNvPr id="30" name="Group 29">
            <a:extLst>
              <a:ext uri="{FF2B5EF4-FFF2-40B4-BE49-F238E27FC236}">
                <a16:creationId xmlns:a16="http://schemas.microsoft.com/office/drawing/2014/main" id="{DF31FD11-6771-11D8-42C4-960C9CFD6D79}"/>
              </a:ext>
            </a:extLst>
          </p:cNvPr>
          <p:cNvGrpSpPr/>
          <p:nvPr/>
        </p:nvGrpSpPr>
        <p:grpSpPr>
          <a:xfrm>
            <a:off x="3576252" y="2576806"/>
            <a:ext cx="2331720" cy="2557215"/>
            <a:chOff x="6483096" y="2816352"/>
            <a:chExt cx="2331720" cy="2557215"/>
          </a:xfrm>
        </p:grpSpPr>
        <p:sp>
          <p:nvSpPr>
            <p:cNvPr id="13" name="Shape 9"/>
            <p:cNvSpPr/>
            <p:nvPr/>
          </p:nvSpPr>
          <p:spPr>
            <a:xfrm>
              <a:off x="6483096" y="2816352"/>
              <a:ext cx="2331720" cy="2557215"/>
            </a:xfrm>
            <a:prstGeom prst="roundRect">
              <a:avLst>
                <a:gd name="adj" fmla="val 3529"/>
              </a:avLst>
            </a:prstGeom>
            <a:solidFill>
              <a:srgbClr val="FFFFFF"/>
            </a:solidFill>
            <a:ln w="12700">
              <a:solidFill>
                <a:srgbClr val="E7E5F0"/>
              </a:solidFill>
              <a:prstDash val="solid"/>
            </a:ln>
            <a:effectLst>
              <a:outerShdw blurRad="63500" dist="50800" dir="5400000" algn="bl" rotWithShape="0">
                <a:srgbClr val="8A83B0">
                  <a:alpha val="18000"/>
                </a:srgbClr>
              </a:outerShdw>
            </a:effectLst>
          </p:spPr>
          <p:txBody>
            <a:bodyPr/>
            <a:lstStyle/>
            <a:p>
              <a:endParaRPr lang="en-US"/>
            </a:p>
          </p:txBody>
        </p:sp>
        <p:pic>
          <p:nvPicPr>
            <p:cNvPr id="14" name="Image 2" descr="preencoded.png"/>
            <p:cNvPicPr>
              <a:picLocks noChangeAspect="1"/>
            </p:cNvPicPr>
            <p:nvPr/>
          </p:nvPicPr>
          <p:blipFill>
            <a:blip r:embed="rId3"/>
            <a:stretch>
              <a:fillRect/>
            </a:stretch>
          </p:blipFill>
          <p:spPr>
            <a:xfrm>
              <a:off x="7269480" y="3054096"/>
              <a:ext cx="749808" cy="749808"/>
            </a:xfrm>
            <a:prstGeom prst="rect">
              <a:avLst/>
            </a:prstGeom>
          </p:spPr>
        </p:pic>
        <p:sp>
          <p:nvSpPr>
            <p:cNvPr id="15" name="Text 10"/>
            <p:cNvSpPr/>
            <p:nvPr/>
          </p:nvSpPr>
          <p:spPr>
            <a:xfrm>
              <a:off x="6665976" y="3968496"/>
              <a:ext cx="1965960" cy="310896"/>
            </a:xfrm>
            <a:prstGeom prst="rect">
              <a:avLst/>
            </a:prstGeom>
            <a:noFill/>
            <a:ln/>
          </p:spPr>
          <p:txBody>
            <a:bodyPr wrap="square" lIns="0" tIns="0" rIns="0" bIns="0" rtlCol="0" anchor="ctr">
              <a:normAutofit/>
            </a:bodyPr>
            <a:lstStyle/>
            <a:p>
              <a:pPr marL="0" indent="0" algn="ctr">
                <a:buNone/>
              </a:pPr>
              <a:r>
                <a:rPr lang="en-US" sz="1500" b="1" dirty="0">
                  <a:solidFill>
                    <a:srgbClr val="091F2C"/>
                  </a:solidFill>
                  <a:latin typeface="Segoe UI Semibold" pitchFamily="34" charset="0"/>
                  <a:cs typeface="Segoe UI Semibold" pitchFamily="34" charset="-120"/>
                </a:rPr>
                <a:t>CONNECT</a:t>
              </a:r>
              <a:endParaRPr lang="en-US" sz="1500" dirty="0"/>
            </a:p>
          </p:txBody>
        </p:sp>
        <p:sp>
          <p:nvSpPr>
            <p:cNvPr id="16" name="Text 11"/>
            <p:cNvSpPr/>
            <p:nvPr/>
          </p:nvSpPr>
          <p:spPr>
            <a:xfrm>
              <a:off x="6702552" y="4370832"/>
              <a:ext cx="1892808" cy="890742"/>
            </a:xfrm>
            <a:prstGeom prst="rect">
              <a:avLst/>
            </a:prstGeom>
            <a:noFill/>
            <a:ln/>
          </p:spPr>
          <p:txBody>
            <a:bodyPr wrap="square" lIns="0" tIns="0" rIns="0" bIns="0" rtlCol="0" anchor="ctr">
              <a:normAutofit/>
            </a:bodyPr>
            <a:lstStyle/>
            <a:p>
              <a:pPr marL="0" indent="0" algn="ctr">
                <a:buNone/>
              </a:pPr>
              <a:r>
                <a:rPr lang="en-US" sz="1180" dirty="0">
                  <a:solidFill>
                    <a:srgbClr val="5B6672"/>
                  </a:solidFill>
                  <a:latin typeface="Segoe UI" pitchFamily="34" charset="0"/>
                  <a:ea typeface="Segoe UI" pitchFamily="34" charset="-122"/>
                  <a:cs typeface="Segoe UI" pitchFamily="34" charset="-120"/>
                </a:rPr>
                <a:t>Ground agents in your business data and systems with prebuilt and custom connectors</a:t>
              </a:r>
              <a:endParaRPr lang="en-US" sz="1180" dirty="0"/>
            </a:p>
          </p:txBody>
        </p:sp>
      </p:grpSp>
      <p:grpSp>
        <p:nvGrpSpPr>
          <p:cNvPr id="32" name="Group 31">
            <a:extLst>
              <a:ext uri="{FF2B5EF4-FFF2-40B4-BE49-F238E27FC236}">
                <a16:creationId xmlns:a16="http://schemas.microsoft.com/office/drawing/2014/main" id="{DC0004C8-231D-BFD5-A053-995402096B75}"/>
              </a:ext>
            </a:extLst>
          </p:cNvPr>
          <p:cNvGrpSpPr/>
          <p:nvPr/>
        </p:nvGrpSpPr>
        <p:grpSpPr>
          <a:xfrm>
            <a:off x="685800" y="5733282"/>
            <a:ext cx="11027664" cy="502926"/>
            <a:chOff x="685800" y="5733282"/>
            <a:chExt cx="11027664" cy="502926"/>
          </a:xfrm>
        </p:grpSpPr>
        <p:sp>
          <p:nvSpPr>
            <p:cNvPr id="21" name="Shape 15"/>
            <p:cNvSpPr/>
            <p:nvPr/>
          </p:nvSpPr>
          <p:spPr>
            <a:xfrm>
              <a:off x="685800" y="5733288"/>
              <a:ext cx="11027664" cy="502920"/>
            </a:xfrm>
            <a:prstGeom prst="roundRect">
              <a:avLst>
                <a:gd name="adj" fmla="val 16364"/>
              </a:avLst>
            </a:prstGeom>
            <a:solidFill>
              <a:srgbClr val="FFFFFF"/>
            </a:solidFill>
            <a:ln w="12700">
              <a:solidFill>
                <a:srgbClr val="E7E5F0"/>
              </a:solidFill>
              <a:prstDash val="solid"/>
            </a:ln>
          </p:spPr>
          <p:txBody>
            <a:bodyPr/>
            <a:lstStyle/>
            <a:p>
              <a:endParaRPr lang="en-US"/>
            </a:p>
          </p:txBody>
        </p:sp>
        <p:pic>
          <p:nvPicPr>
            <p:cNvPr id="23" name="Image 5" descr="preencoded.png"/>
            <p:cNvPicPr>
              <a:picLocks noChangeAspect="1"/>
            </p:cNvPicPr>
            <p:nvPr/>
          </p:nvPicPr>
          <p:blipFill>
            <a:blip r:embed="rId4"/>
            <a:stretch>
              <a:fillRect/>
            </a:stretch>
          </p:blipFill>
          <p:spPr>
            <a:xfrm>
              <a:off x="960120" y="5815584"/>
              <a:ext cx="347472" cy="347472"/>
            </a:xfrm>
            <a:prstGeom prst="rect">
              <a:avLst/>
            </a:prstGeom>
          </p:spPr>
        </p:pic>
        <p:sp>
          <p:nvSpPr>
            <p:cNvPr id="24" name="Text 16"/>
            <p:cNvSpPr/>
            <p:nvPr/>
          </p:nvSpPr>
          <p:spPr>
            <a:xfrm>
              <a:off x="1444752" y="5733287"/>
              <a:ext cx="2651760" cy="502919"/>
            </a:xfrm>
            <a:prstGeom prst="rect">
              <a:avLst/>
            </a:prstGeom>
            <a:noFill/>
            <a:ln/>
          </p:spPr>
          <p:txBody>
            <a:bodyPr wrap="square" lIns="0" tIns="0" rIns="0" bIns="0" rtlCol="0" anchor="ctr">
              <a:normAutofit/>
            </a:bodyPr>
            <a:lstStyle/>
            <a:p>
              <a:pPr marL="0" indent="0">
                <a:buNone/>
              </a:pPr>
              <a:r>
                <a:rPr lang="en-US" sz="1150" b="1" dirty="0">
                  <a:solidFill>
                    <a:srgbClr val="091F2C"/>
                  </a:solidFill>
                  <a:latin typeface="Segoe UI Semibold" pitchFamily="34" charset="0"/>
                  <a:ea typeface="Segoe UI Semibold" pitchFamily="34" charset="-122"/>
                  <a:cs typeface="Segoe UI Semibold" pitchFamily="34" charset="-120"/>
                </a:rPr>
                <a:t>Built on Microsoft Power Platform</a:t>
              </a:r>
              <a:endParaRPr lang="en-US" sz="1150" dirty="0"/>
            </a:p>
          </p:txBody>
        </p:sp>
        <p:sp>
          <p:nvSpPr>
            <p:cNvPr id="25" name="Text 17"/>
            <p:cNvSpPr/>
            <p:nvPr/>
          </p:nvSpPr>
          <p:spPr>
            <a:xfrm>
              <a:off x="3887393" y="5733282"/>
              <a:ext cx="4846320" cy="502921"/>
            </a:xfrm>
            <a:prstGeom prst="rect">
              <a:avLst/>
            </a:prstGeom>
            <a:noFill/>
            <a:ln/>
          </p:spPr>
          <p:txBody>
            <a:bodyPr wrap="square" lIns="0" tIns="0" rIns="0" bIns="0" rtlCol="0" anchor="ctr">
              <a:normAutofit/>
            </a:bodyPr>
            <a:lstStyle/>
            <a:p>
              <a:pPr marL="0" indent="0">
                <a:buNone/>
              </a:pPr>
              <a:r>
                <a:rPr lang="en-US" sz="1080" dirty="0">
                  <a:solidFill>
                    <a:srgbClr val="5B6672"/>
                  </a:solidFill>
                  <a:latin typeface="Segoe UI" pitchFamily="34" charset="0"/>
                  <a:ea typeface="Segoe UI" pitchFamily="34" charset="-122"/>
                  <a:cs typeface="Segoe UI" pitchFamily="34" charset="-120"/>
                </a:rPr>
                <a:t>Security  ·  Governance  ·  Lifecycle  ·  Analytics</a:t>
              </a:r>
              <a:endParaRPr lang="en-US" sz="1080" dirty="0"/>
            </a:p>
          </p:txBody>
        </p:sp>
      </p:grpSp>
      <p:sp>
        <p:nvSpPr>
          <p:cNvPr id="26" name="Text 18"/>
          <p:cNvSpPr/>
          <p:nvPr/>
        </p:nvSpPr>
        <p:spPr>
          <a:xfrm>
            <a:off x="777240" y="6510528"/>
            <a:ext cx="1828800" cy="155448"/>
          </a:xfrm>
          <a:prstGeom prst="rect">
            <a:avLst/>
          </a:prstGeom>
          <a:noFill/>
          <a:ln/>
        </p:spPr>
        <p:txBody>
          <a:bodyPr wrap="square" lIns="0" tIns="0" rIns="0" bIns="0" rtlCol="0" anchor="ctr">
            <a:normAutofit/>
          </a:bodyPr>
          <a:lstStyle/>
          <a:p>
            <a:pPr marL="0" indent="0">
              <a:buNone/>
            </a:pPr>
            <a:r>
              <a:rPr lang="en-US" sz="850" dirty="0">
                <a:solidFill>
                  <a:srgbClr val="9AA3AD"/>
                </a:solidFill>
                <a:latin typeface="Segoe UI" pitchFamily="34" charset="0"/>
                <a:ea typeface="Segoe UI" pitchFamily="34" charset="-122"/>
                <a:cs typeface="Segoe UI" pitchFamily="34" charset="-120"/>
              </a:rPr>
              <a:t>Copilot Studio</a:t>
            </a:r>
            <a:endParaRPr lang="en-US" sz="850" dirty="0"/>
          </a:p>
        </p:txBody>
      </p:sp>
      <p:sp>
        <p:nvSpPr>
          <p:cNvPr id="27" name="Text 19"/>
          <p:cNvSpPr/>
          <p:nvPr/>
        </p:nvSpPr>
        <p:spPr>
          <a:xfrm>
            <a:off x="11228832" y="6473952"/>
            <a:ext cx="320040" cy="164592"/>
          </a:xfrm>
          <a:prstGeom prst="rect">
            <a:avLst/>
          </a:prstGeom>
          <a:noFill/>
          <a:ln/>
        </p:spPr>
        <p:txBody>
          <a:bodyPr wrap="square" lIns="0" tIns="0" rIns="0" bIns="0" rtlCol="0" anchor="ctr">
            <a:normAutofit/>
          </a:bodyPr>
          <a:lstStyle/>
          <a:p>
            <a:pPr marL="0" indent="0" algn="r">
              <a:buNone/>
            </a:pPr>
            <a:r>
              <a:rPr lang="en-US" sz="900">
                <a:solidFill>
                  <a:srgbClr val="9AA3AD"/>
                </a:solidFill>
                <a:latin typeface="Segoe UI" pitchFamily="34" charset="0"/>
                <a:ea typeface="Segoe UI" pitchFamily="34" charset="-122"/>
                <a:cs typeface="Segoe UI" pitchFamily="34" charset="-120"/>
              </a:rPr>
              <a:t>3</a:t>
            </a:r>
            <a:endParaRPr lang="en-US" sz="900" dirty="0"/>
          </a:p>
        </p:txBody>
      </p:sp>
      <p:grpSp>
        <p:nvGrpSpPr>
          <p:cNvPr id="33" name="Group 32">
            <a:extLst>
              <a:ext uri="{FF2B5EF4-FFF2-40B4-BE49-F238E27FC236}">
                <a16:creationId xmlns:a16="http://schemas.microsoft.com/office/drawing/2014/main" id="{71412152-A812-1B12-3F62-4D969E6FD218}"/>
              </a:ext>
            </a:extLst>
          </p:cNvPr>
          <p:cNvGrpSpPr/>
          <p:nvPr/>
        </p:nvGrpSpPr>
        <p:grpSpPr>
          <a:xfrm>
            <a:off x="9384420" y="2582382"/>
            <a:ext cx="2331720" cy="2551639"/>
            <a:chOff x="9381744" y="2816352"/>
            <a:chExt cx="2331720" cy="2551639"/>
          </a:xfrm>
        </p:grpSpPr>
        <p:sp>
          <p:nvSpPr>
            <p:cNvPr id="34" name="Shape 12">
              <a:extLst>
                <a:ext uri="{FF2B5EF4-FFF2-40B4-BE49-F238E27FC236}">
                  <a16:creationId xmlns:a16="http://schemas.microsoft.com/office/drawing/2014/main" id="{4DF57619-BCC6-60D3-1722-8063911B98F0}"/>
                </a:ext>
              </a:extLst>
            </p:cNvPr>
            <p:cNvSpPr/>
            <p:nvPr/>
          </p:nvSpPr>
          <p:spPr>
            <a:xfrm>
              <a:off x="9381744" y="2816352"/>
              <a:ext cx="2331720" cy="2551639"/>
            </a:xfrm>
            <a:prstGeom prst="roundRect">
              <a:avLst>
                <a:gd name="adj" fmla="val 3529"/>
              </a:avLst>
            </a:prstGeom>
            <a:solidFill>
              <a:srgbClr val="FFFFFF"/>
            </a:solidFill>
            <a:ln w="12700">
              <a:solidFill>
                <a:srgbClr val="E7E5F0"/>
              </a:solidFill>
              <a:prstDash val="solid"/>
            </a:ln>
            <a:effectLst>
              <a:outerShdw blurRad="63500" dist="50800" dir="5400000" algn="bl" rotWithShape="0">
                <a:srgbClr val="8A83B0">
                  <a:alpha val="18000"/>
                </a:srgbClr>
              </a:outerShdw>
            </a:effectLst>
          </p:spPr>
          <p:txBody>
            <a:bodyPr/>
            <a:lstStyle/>
            <a:p>
              <a:endParaRPr lang="en-US"/>
            </a:p>
          </p:txBody>
        </p:sp>
        <p:pic>
          <p:nvPicPr>
            <p:cNvPr id="35" name="Image 3" descr="preencoded.png">
              <a:extLst>
                <a:ext uri="{FF2B5EF4-FFF2-40B4-BE49-F238E27FC236}">
                  <a16:creationId xmlns:a16="http://schemas.microsoft.com/office/drawing/2014/main" id="{A4992893-B1FA-C547-BE6E-E3C80EB42E1F}"/>
                </a:ext>
              </a:extLst>
            </p:cNvPr>
            <p:cNvPicPr>
              <a:picLocks noChangeAspect="1"/>
            </p:cNvPicPr>
            <p:nvPr/>
          </p:nvPicPr>
          <p:blipFill>
            <a:blip r:embed="rId5"/>
            <a:stretch>
              <a:fillRect/>
            </a:stretch>
          </p:blipFill>
          <p:spPr>
            <a:xfrm>
              <a:off x="10168128" y="3054096"/>
              <a:ext cx="749808" cy="749808"/>
            </a:xfrm>
            <a:prstGeom prst="rect">
              <a:avLst/>
            </a:prstGeom>
          </p:spPr>
        </p:pic>
        <p:sp>
          <p:nvSpPr>
            <p:cNvPr id="36" name="Text 13">
              <a:extLst>
                <a:ext uri="{FF2B5EF4-FFF2-40B4-BE49-F238E27FC236}">
                  <a16:creationId xmlns:a16="http://schemas.microsoft.com/office/drawing/2014/main" id="{497A8D0D-5B27-68A7-F8D1-49E05443B3DB}"/>
                </a:ext>
              </a:extLst>
            </p:cNvPr>
            <p:cNvSpPr/>
            <p:nvPr/>
          </p:nvSpPr>
          <p:spPr>
            <a:xfrm>
              <a:off x="9564624" y="3968496"/>
              <a:ext cx="1965960" cy="310896"/>
            </a:xfrm>
            <a:prstGeom prst="rect">
              <a:avLst/>
            </a:prstGeom>
            <a:noFill/>
            <a:ln/>
          </p:spPr>
          <p:txBody>
            <a:bodyPr wrap="square" lIns="0" tIns="0" rIns="0" bIns="0" rtlCol="0" anchor="ctr">
              <a:normAutofit/>
            </a:bodyPr>
            <a:lstStyle/>
            <a:p>
              <a:pPr marL="0" indent="0" algn="ctr">
                <a:buNone/>
              </a:pPr>
              <a:r>
                <a:rPr lang="en-US" sz="1500" b="1" dirty="0">
                  <a:solidFill>
                    <a:srgbClr val="091F2C"/>
                  </a:solidFill>
                  <a:latin typeface="Segoe UI Semibold" pitchFamily="34" charset="0"/>
                  <a:cs typeface="Segoe UI Semibold" pitchFamily="34" charset="-120"/>
                </a:rPr>
                <a:t>REACH</a:t>
              </a:r>
              <a:endParaRPr lang="en-US" sz="1500" dirty="0"/>
            </a:p>
          </p:txBody>
        </p:sp>
        <p:sp>
          <p:nvSpPr>
            <p:cNvPr id="37" name="Text 14">
              <a:extLst>
                <a:ext uri="{FF2B5EF4-FFF2-40B4-BE49-F238E27FC236}">
                  <a16:creationId xmlns:a16="http://schemas.microsoft.com/office/drawing/2014/main" id="{CD4972C0-DFD7-9E01-80E4-5D5AC8A7C24D}"/>
                </a:ext>
              </a:extLst>
            </p:cNvPr>
            <p:cNvSpPr/>
            <p:nvPr/>
          </p:nvSpPr>
          <p:spPr>
            <a:xfrm>
              <a:off x="9601200" y="4370832"/>
              <a:ext cx="1892808" cy="890742"/>
            </a:xfrm>
            <a:prstGeom prst="rect">
              <a:avLst/>
            </a:prstGeom>
            <a:noFill/>
            <a:ln/>
          </p:spPr>
          <p:txBody>
            <a:bodyPr wrap="square" lIns="0" tIns="0" rIns="0" bIns="0" rtlCol="0" anchor="ctr">
              <a:normAutofit/>
            </a:bodyPr>
            <a:lstStyle/>
            <a:p>
              <a:pPr marL="0" indent="0" algn="ctr">
                <a:buNone/>
              </a:pPr>
              <a:r>
                <a:rPr lang="en-US" sz="1180" dirty="0">
                  <a:solidFill>
                    <a:srgbClr val="5B6672"/>
                  </a:solidFill>
                  <a:latin typeface="Segoe UI" pitchFamily="34" charset="0"/>
                  <a:ea typeface="Segoe UI" pitchFamily="34" charset="-122"/>
                  <a:cs typeface="Segoe UI" pitchFamily="34" charset="-120"/>
                </a:rPr>
                <a:t>Engage any audience through the channels they already use</a:t>
              </a:r>
              <a:endParaRPr lang="en-US" sz="1180" dirty="0"/>
            </a:p>
          </p:txBody>
        </p:sp>
      </p:grpSp>
      <p:grpSp>
        <p:nvGrpSpPr>
          <p:cNvPr id="47" name="Group 46">
            <a:extLst>
              <a:ext uri="{FF2B5EF4-FFF2-40B4-BE49-F238E27FC236}">
                <a16:creationId xmlns:a16="http://schemas.microsoft.com/office/drawing/2014/main" id="{FEAD8908-BE36-4414-DD1D-9EF2DBC6B186}"/>
              </a:ext>
            </a:extLst>
          </p:cNvPr>
          <p:cNvGrpSpPr/>
          <p:nvPr/>
        </p:nvGrpSpPr>
        <p:grpSpPr>
          <a:xfrm>
            <a:off x="6469380" y="2576806"/>
            <a:ext cx="2331720" cy="2557215"/>
            <a:chOff x="6469380" y="2576806"/>
            <a:chExt cx="2331720" cy="2557215"/>
          </a:xfrm>
        </p:grpSpPr>
        <p:grpSp>
          <p:nvGrpSpPr>
            <p:cNvPr id="31" name="Group 30">
              <a:extLst>
                <a:ext uri="{FF2B5EF4-FFF2-40B4-BE49-F238E27FC236}">
                  <a16:creationId xmlns:a16="http://schemas.microsoft.com/office/drawing/2014/main" id="{014886EC-B855-D11F-2373-207EDBDDB125}"/>
                </a:ext>
              </a:extLst>
            </p:cNvPr>
            <p:cNvGrpSpPr/>
            <p:nvPr/>
          </p:nvGrpSpPr>
          <p:grpSpPr>
            <a:xfrm>
              <a:off x="6469380" y="2576806"/>
              <a:ext cx="2331720" cy="2557215"/>
              <a:chOff x="9381744" y="2816352"/>
              <a:chExt cx="2331720" cy="2557215"/>
            </a:xfrm>
          </p:grpSpPr>
          <p:sp>
            <p:nvSpPr>
              <p:cNvPr id="17" name="Shape 12"/>
              <p:cNvSpPr/>
              <p:nvPr/>
            </p:nvSpPr>
            <p:spPr>
              <a:xfrm>
                <a:off x="9381744" y="2816352"/>
                <a:ext cx="2331720" cy="2557215"/>
              </a:xfrm>
              <a:prstGeom prst="roundRect">
                <a:avLst>
                  <a:gd name="adj" fmla="val 3529"/>
                </a:avLst>
              </a:prstGeom>
              <a:solidFill>
                <a:srgbClr val="FFFFFF"/>
              </a:solidFill>
              <a:ln w="12700">
                <a:solidFill>
                  <a:srgbClr val="E7E5F0"/>
                </a:solidFill>
                <a:prstDash val="solid"/>
              </a:ln>
              <a:effectLst>
                <a:outerShdw blurRad="63500" dist="50800" dir="5400000" algn="bl" rotWithShape="0">
                  <a:srgbClr val="8A83B0">
                    <a:alpha val="18000"/>
                  </a:srgbClr>
                </a:outerShdw>
              </a:effectLst>
            </p:spPr>
            <p:txBody>
              <a:bodyPr/>
              <a:lstStyle/>
              <a:p>
                <a:endParaRPr lang="en-US"/>
              </a:p>
            </p:txBody>
          </p:sp>
          <p:sp>
            <p:nvSpPr>
              <p:cNvPr id="19" name="Text 13"/>
              <p:cNvSpPr/>
              <p:nvPr/>
            </p:nvSpPr>
            <p:spPr>
              <a:xfrm>
                <a:off x="9564624" y="3968496"/>
                <a:ext cx="1965960" cy="310896"/>
              </a:xfrm>
              <a:prstGeom prst="rect">
                <a:avLst/>
              </a:prstGeom>
              <a:noFill/>
              <a:ln/>
            </p:spPr>
            <p:txBody>
              <a:bodyPr wrap="square" lIns="0" tIns="0" rIns="0" bIns="0" rtlCol="0" anchor="ctr">
                <a:normAutofit/>
              </a:bodyPr>
              <a:lstStyle/>
              <a:p>
                <a:pPr marL="0" indent="0" algn="ctr">
                  <a:buNone/>
                </a:pPr>
                <a:r>
                  <a:rPr lang="en-US" sz="1500" b="1" dirty="0">
                    <a:solidFill>
                      <a:srgbClr val="091F2C"/>
                    </a:solidFill>
                    <a:latin typeface="Segoe UI Semibold" pitchFamily="34" charset="0"/>
                    <a:ea typeface="Segoe UI Semibold" pitchFamily="34" charset="-122"/>
                    <a:cs typeface="Segoe UI Semibold" pitchFamily="34" charset="-120"/>
                  </a:rPr>
                  <a:t>ACT</a:t>
                </a:r>
                <a:endParaRPr lang="en-US" sz="1500" dirty="0"/>
              </a:p>
            </p:txBody>
          </p:sp>
          <p:sp>
            <p:nvSpPr>
              <p:cNvPr id="20" name="Text 14"/>
              <p:cNvSpPr/>
              <p:nvPr/>
            </p:nvSpPr>
            <p:spPr>
              <a:xfrm>
                <a:off x="9601200" y="4370832"/>
                <a:ext cx="1892808" cy="890742"/>
              </a:xfrm>
              <a:prstGeom prst="rect">
                <a:avLst/>
              </a:prstGeom>
              <a:noFill/>
              <a:ln/>
            </p:spPr>
            <p:txBody>
              <a:bodyPr wrap="square" lIns="0" tIns="0" rIns="0" bIns="0" rtlCol="0" anchor="ctr">
                <a:normAutofit/>
              </a:bodyPr>
              <a:lstStyle/>
              <a:p>
                <a:pPr marL="0" indent="0" algn="ctr">
                  <a:buNone/>
                </a:pPr>
                <a:r>
                  <a:rPr lang="en-US" sz="1180" dirty="0">
                    <a:solidFill>
                      <a:srgbClr val="5B6672"/>
                    </a:solidFill>
                    <a:latin typeface="Segoe UI" pitchFamily="34" charset="0"/>
                    <a:ea typeface="Segoe UI" pitchFamily="34" charset="-122"/>
                    <a:cs typeface="Segoe UI" pitchFamily="34" charset="-120"/>
                  </a:rPr>
                  <a:t>Turn conversations into actions using AI, workflows, and business processes</a:t>
                </a:r>
                <a:endParaRPr lang="en-US" sz="1180" dirty="0"/>
              </a:p>
            </p:txBody>
          </p:sp>
        </p:grpSp>
        <p:pic>
          <p:nvPicPr>
            <p:cNvPr id="41" name="Image 1" descr="preencoded.png">
              <a:extLst>
                <a:ext uri="{FF2B5EF4-FFF2-40B4-BE49-F238E27FC236}">
                  <a16:creationId xmlns:a16="http://schemas.microsoft.com/office/drawing/2014/main" id="{C2B84E1D-2721-2C08-1E7A-508F5BF5882C}"/>
                </a:ext>
              </a:extLst>
            </p:cNvPr>
            <p:cNvPicPr>
              <a:picLocks noChangeAspect="1"/>
            </p:cNvPicPr>
            <p:nvPr/>
          </p:nvPicPr>
          <p:blipFill>
            <a:blip r:embed="rId6"/>
            <a:stretch>
              <a:fillRect/>
            </a:stretch>
          </p:blipFill>
          <p:spPr>
            <a:xfrm>
              <a:off x="7260336" y="2809643"/>
              <a:ext cx="749808" cy="749808"/>
            </a:xfrm>
            <a:prstGeom prst="rect">
              <a:avLst/>
            </a:prstGeom>
          </p:spPr>
        </p:pic>
      </p:grpSp>
      <p:grpSp>
        <p:nvGrpSpPr>
          <p:cNvPr id="46" name="Group 45">
            <a:extLst>
              <a:ext uri="{FF2B5EF4-FFF2-40B4-BE49-F238E27FC236}">
                <a16:creationId xmlns:a16="http://schemas.microsoft.com/office/drawing/2014/main" id="{983722CE-1256-409F-B583-18093445A34C}"/>
              </a:ext>
            </a:extLst>
          </p:cNvPr>
          <p:cNvGrpSpPr/>
          <p:nvPr/>
        </p:nvGrpSpPr>
        <p:grpSpPr>
          <a:xfrm>
            <a:off x="683124" y="2582382"/>
            <a:ext cx="2331720" cy="2551639"/>
            <a:chOff x="683124" y="2582382"/>
            <a:chExt cx="2331720" cy="2551639"/>
          </a:xfrm>
        </p:grpSpPr>
        <p:grpSp>
          <p:nvGrpSpPr>
            <p:cNvPr id="29" name="Group 28">
              <a:extLst>
                <a:ext uri="{FF2B5EF4-FFF2-40B4-BE49-F238E27FC236}">
                  <a16:creationId xmlns:a16="http://schemas.microsoft.com/office/drawing/2014/main" id="{BC1D6939-178B-15F5-3CD1-00FA8095E2CF}"/>
                </a:ext>
              </a:extLst>
            </p:cNvPr>
            <p:cNvGrpSpPr/>
            <p:nvPr/>
          </p:nvGrpSpPr>
          <p:grpSpPr>
            <a:xfrm>
              <a:off x="683124" y="2582382"/>
              <a:ext cx="2331720" cy="2551639"/>
              <a:chOff x="3584448" y="2816352"/>
              <a:chExt cx="2331720" cy="2551639"/>
            </a:xfrm>
          </p:grpSpPr>
          <p:sp>
            <p:nvSpPr>
              <p:cNvPr id="9" name="Shape 6"/>
              <p:cNvSpPr/>
              <p:nvPr/>
            </p:nvSpPr>
            <p:spPr>
              <a:xfrm>
                <a:off x="3584448" y="2816352"/>
                <a:ext cx="2331720" cy="2551639"/>
              </a:xfrm>
              <a:prstGeom prst="roundRect">
                <a:avLst>
                  <a:gd name="adj" fmla="val 3529"/>
                </a:avLst>
              </a:prstGeom>
              <a:solidFill>
                <a:srgbClr val="FFFFFF"/>
              </a:solidFill>
              <a:ln w="12700">
                <a:solidFill>
                  <a:srgbClr val="E7E5F0"/>
                </a:solidFill>
                <a:prstDash val="solid"/>
              </a:ln>
              <a:effectLst>
                <a:outerShdw blurRad="63500" dist="50800" dir="5400000" algn="bl" rotWithShape="0">
                  <a:srgbClr val="8A83B0">
                    <a:alpha val="18000"/>
                  </a:srgbClr>
                </a:outerShdw>
              </a:effectLst>
            </p:spPr>
            <p:txBody>
              <a:bodyPr/>
              <a:lstStyle/>
              <a:p>
                <a:endParaRPr lang="en-US" dirty="0"/>
              </a:p>
            </p:txBody>
          </p:sp>
          <p:sp>
            <p:nvSpPr>
              <p:cNvPr id="11" name="Text 7"/>
              <p:cNvSpPr/>
              <p:nvPr/>
            </p:nvSpPr>
            <p:spPr>
              <a:xfrm>
                <a:off x="3767328" y="3968496"/>
                <a:ext cx="1965960" cy="310896"/>
              </a:xfrm>
              <a:prstGeom prst="rect">
                <a:avLst/>
              </a:prstGeom>
              <a:noFill/>
              <a:ln/>
            </p:spPr>
            <p:txBody>
              <a:bodyPr wrap="square" lIns="0" tIns="0" rIns="0" bIns="0" rtlCol="0" anchor="ctr">
                <a:normAutofit/>
              </a:bodyPr>
              <a:lstStyle/>
              <a:p>
                <a:pPr marL="0" indent="0" algn="ctr">
                  <a:buNone/>
                </a:pPr>
                <a:r>
                  <a:rPr lang="en-US" sz="1500" b="1" dirty="0">
                    <a:solidFill>
                      <a:srgbClr val="091F2C"/>
                    </a:solidFill>
                    <a:latin typeface="Segoe UI Semibold" pitchFamily="34" charset="0"/>
                    <a:ea typeface="Segoe UI Semibold" pitchFamily="34" charset="-122"/>
                    <a:cs typeface="Segoe UI Semibold" pitchFamily="34" charset="-120"/>
                  </a:rPr>
                  <a:t>BUILD</a:t>
                </a:r>
                <a:endParaRPr lang="en-US" sz="1500" dirty="0"/>
              </a:p>
            </p:txBody>
          </p:sp>
          <p:sp>
            <p:nvSpPr>
              <p:cNvPr id="12" name="Text 8"/>
              <p:cNvSpPr/>
              <p:nvPr/>
            </p:nvSpPr>
            <p:spPr>
              <a:xfrm>
                <a:off x="3803904" y="4420326"/>
                <a:ext cx="1929384" cy="841248"/>
              </a:xfrm>
              <a:prstGeom prst="rect">
                <a:avLst/>
              </a:prstGeom>
              <a:noFill/>
              <a:ln/>
            </p:spPr>
            <p:txBody>
              <a:bodyPr wrap="square" lIns="0" tIns="0" rIns="0" bIns="0" rtlCol="0" anchor="ctr">
                <a:normAutofit/>
              </a:bodyPr>
              <a:lstStyle/>
              <a:p>
                <a:pPr marL="0" indent="0" algn="ctr">
                  <a:buNone/>
                </a:pPr>
                <a:r>
                  <a:rPr lang="en-US" sz="1180" dirty="0">
                    <a:solidFill>
                      <a:srgbClr val="5B6672"/>
                    </a:solidFill>
                    <a:latin typeface="Segoe UI" pitchFamily="34" charset="0"/>
                    <a:ea typeface="Segoe UI" pitchFamily="34" charset="-122"/>
                    <a:cs typeface="Segoe UI" pitchFamily="34" charset="-120"/>
                  </a:rPr>
                  <a:t>Create agents using natural language and low-code tools</a:t>
                </a:r>
                <a:endParaRPr lang="en-US" sz="1180" dirty="0"/>
              </a:p>
            </p:txBody>
          </p:sp>
        </p:grpSp>
        <p:pic>
          <p:nvPicPr>
            <p:cNvPr id="45" name="Image 1" descr="preencoded.png">
              <a:extLst>
                <a:ext uri="{FF2B5EF4-FFF2-40B4-BE49-F238E27FC236}">
                  <a16:creationId xmlns:a16="http://schemas.microsoft.com/office/drawing/2014/main" id="{F11C9846-57DF-D0DC-4CB9-9AF5A293BA85}"/>
                </a:ext>
              </a:extLst>
            </p:cNvPr>
            <p:cNvPicPr>
              <a:picLocks noChangeAspect="1"/>
            </p:cNvPicPr>
            <p:nvPr/>
          </p:nvPicPr>
          <p:blipFill>
            <a:blip r:embed="rId7"/>
            <a:stretch>
              <a:fillRect/>
            </a:stretch>
          </p:blipFill>
          <p:spPr>
            <a:xfrm>
              <a:off x="1489914" y="2820126"/>
              <a:ext cx="754715" cy="754715"/>
            </a:xfrm>
            <a:prstGeom prst="rect">
              <a:avLst/>
            </a:prstGeom>
          </p:spPr>
        </p:pic>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6"/>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0"/>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47"/>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xml><?xml version="1.0" encoding="utf-8"?>
<p:sld xmlns:a="http://schemas.openxmlformats.org/drawingml/2006/main" xmlns:r="http://schemas.openxmlformats.org/officeDocument/2006/relationships" xmlns:p="http://schemas.openxmlformats.org/presentationml/2006/main">
  <p:cSld name="Slide 5">
    <p:bg>
      <p:bgPr>
        <a:solidFill>
          <a:srgbClr val="F2F1F7"/>
        </a:solidFill>
        <a:effectLst/>
      </p:bgPr>
    </p:bg>
    <p:spTree>
      <p:nvGrpSpPr>
        <p:cNvPr id="1" name=""/>
        <p:cNvGrpSpPr/>
        <p:nvPr/>
      </p:nvGrpSpPr>
      <p:grpSpPr>
        <a:xfrm>
          <a:off x="0" y="0"/>
          <a:ext cx="0" cy="0"/>
          <a:chOff x="0" y="0"/>
          <a:chExt cx="0" cy="0"/>
        </a:xfrm>
      </p:grpSpPr>
      <p:sp>
        <p:nvSpPr>
          <p:cNvPr id="2" name="Text 0"/>
          <p:cNvSpPr/>
          <p:nvPr/>
        </p:nvSpPr>
        <p:spPr>
          <a:xfrm>
            <a:off x="777240" y="566928"/>
            <a:ext cx="6858000" cy="237744"/>
          </a:xfrm>
          <a:prstGeom prst="rect">
            <a:avLst/>
          </a:prstGeom>
          <a:noFill/>
          <a:ln/>
        </p:spPr>
        <p:txBody>
          <a:bodyPr wrap="square" lIns="0" tIns="0" rIns="0" bIns="0" rtlCol="0" anchor="ctr">
            <a:normAutofit/>
          </a:bodyPr>
          <a:lstStyle/>
          <a:p>
            <a:pPr marL="0" indent="0">
              <a:buNone/>
            </a:pPr>
            <a:r>
              <a:rPr lang="en-US" sz="1100" b="1" kern="0" spc="180" dirty="0">
                <a:solidFill>
                  <a:srgbClr val="0078D4"/>
                </a:solidFill>
                <a:latin typeface="Segoe UI Semibold" pitchFamily="34" charset="0"/>
                <a:ea typeface="Segoe UI Semibold" pitchFamily="34" charset="-122"/>
                <a:cs typeface="Segoe UI Semibold" pitchFamily="34" charset="-120"/>
              </a:rPr>
              <a:t>DEMO 1 · EXTEND M365 COPILOT</a:t>
            </a:r>
            <a:endParaRPr lang="en-US" sz="1100" dirty="0"/>
          </a:p>
        </p:txBody>
      </p:sp>
      <p:sp>
        <p:nvSpPr>
          <p:cNvPr id="3" name="Text 1"/>
          <p:cNvSpPr/>
          <p:nvPr/>
        </p:nvSpPr>
        <p:spPr>
          <a:xfrm>
            <a:off x="777240" y="932688"/>
            <a:ext cx="10744200" cy="822960"/>
          </a:xfrm>
          <a:prstGeom prst="rect">
            <a:avLst/>
          </a:prstGeom>
          <a:noFill/>
          <a:ln/>
        </p:spPr>
        <p:txBody>
          <a:bodyPr wrap="square" lIns="0" tIns="0" rIns="0" bIns="0" rtlCol="0" anchor="ctr">
            <a:normAutofit/>
          </a:bodyPr>
          <a:lstStyle/>
          <a:p>
            <a:pPr marL="0" indent="0">
              <a:buNone/>
            </a:pPr>
            <a:r>
              <a:rPr lang="en-US" sz="2500" b="1" dirty="0">
                <a:solidFill>
                  <a:srgbClr val="091F2C"/>
                </a:solidFill>
                <a:latin typeface="Segoe UI Semibold" pitchFamily="34" charset="0"/>
                <a:ea typeface="Segoe UI Semibold" pitchFamily="34" charset="-122"/>
                <a:cs typeface="Segoe UI Semibold" pitchFamily="34" charset="-120"/>
              </a:rPr>
              <a:t>From a grounded answer to a governed business action — inside M365 Copilot.</a:t>
            </a:r>
            <a:endParaRPr lang="en-US" sz="2500" dirty="0"/>
          </a:p>
        </p:txBody>
      </p:sp>
      <p:sp>
        <p:nvSpPr>
          <p:cNvPr id="4" name="Text 2"/>
          <p:cNvSpPr/>
          <p:nvPr/>
        </p:nvSpPr>
        <p:spPr>
          <a:xfrm>
            <a:off x="777240" y="1828800"/>
            <a:ext cx="10698480" cy="411480"/>
          </a:xfrm>
          <a:prstGeom prst="rect">
            <a:avLst/>
          </a:prstGeom>
          <a:noFill/>
          <a:ln/>
        </p:spPr>
        <p:txBody>
          <a:bodyPr wrap="square" lIns="0" tIns="0" rIns="0" bIns="0" rtlCol="0" anchor="ctr">
            <a:normAutofit/>
          </a:bodyPr>
          <a:lstStyle/>
          <a:p>
            <a:pPr marL="0" indent="0">
              <a:buNone/>
            </a:pPr>
            <a:r>
              <a:rPr lang="en-US" sz="1320" dirty="0">
                <a:solidFill>
                  <a:srgbClr val="5B6672"/>
                </a:solidFill>
                <a:latin typeface="Segoe UI" pitchFamily="34" charset="0"/>
                <a:ea typeface="Segoe UI" pitchFamily="34" charset="-122"/>
                <a:cs typeface="Segoe UI" pitchFamily="34" charset="-120"/>
              </a:rPr>
              <a:t>The agent moves past the FAQ: it cites approved knowledge, then takes the next step.</a:t>
            </a:r>
            <a:endParaRPr lang="en-US" sz="1320" dirty="0"/>
          </a:p>
        </p:txBody>
      </p:sp>
      <p:pic>
        <p:nvPicPr>
          <p:cNvPr id="5" name="Image 0" descr="preencoded.png"/>
          <p:cNvPicPr>
            <a:picLocks noChangeAspect="1"/>
          </p:cNvPicPr>
          <p:nvPr/>
        </p:nvPicPr>
        <p:blipFill>
          <a:blip r:embed="rId3"/>
          <a:stretch>
            <a:fillRect/>
          </a:stretch>
        </p:blipFill>
        <p:spPr>
          <a:xfrm>
            <a:off x="11091672" y="393192"/>
            <a:ext cx="384048" cy="384048"/>
          </a:xfrm>
          <a:prstGeom prst="rect">
            <a:avLst/>
          </a:prstGeom>
        </p:spPr>
      </p:pic>
      <p:sp>
        <p:nvSpPr>
          <p:cNvPr id="8" name="Shape 5"/>
          <p:cNvSpPr/>
          <p:nvPr/>
        </p:nvSpPr>
        <p:spPr>
          <a:xfrm>
            <a:off x="685800" y="2880360"/>
            <a:ext cx="3337560" cy="2514600"/>
          </a:xfrm>
          <a:prstGeom prst="roundRect">
            <a:avLst>
              <a:gd name="adj" fmla="val 3273"/>
            </a:avLst>
          </a:prstGeom>
          <a:solidFill>
            <a:srgbClr val="FFFFFF"/>
          </a:solidFill>
          <a:ln w="12700">
            <a:solidFill>
              <a:srgbClr val="E7E5F0"/>
            </a:solidFill>
            <a:prstDash val="solid"/>
          </a:ln>
          <a:effectLst>
            <a:outerShdw blurRad="63500" dist="50800" dir="5400000" algn="bl" rotWithShape="0">
              <a:srgbClr val="8A83B0">
                <a:alpha val="18000"/>
              </a:srgbClr>
            </a:outerShdw>
          </a:effectLst>
        </p:spPr>
        <p:txBody>
          <a:bodyPr/>
          <a:lstStyle/>
          <a:p>
            <a:endParaRPr lang="en-US"/>
          </a:p>
        </p:txBody>
      </p:sp>
      <p:sp>
        <p:nvSpPr>
          <p:cNvPr id="9" name="Text 6"/>
          <p:cNvSpPr/>
          <p:nvPr/>
        </p:nvSpPr>
        <p:spPr>
          <a:xfrm>
            <a:off x="1005840" y="3182112"/>
            <a:ext cx="548640" cy="502920"/>
          </a:xfrm>
          <a:prstGeom prst="rect">
            <a:avLst/>
          </a:prstGeom>
          <a:noFill/>
          <a:ln/>
        </p:spPr>
        <p:txBody>
          <a:bodyPr wrap="square" lIns="0" tIns="0" rIns="0" bIns="0" rtlCol="0" anchor="ctr">
            <a:normAutofit/>
          </a:bodyPr>
          <a:lstStyle/>
          <a:p>
            <a:pPr marL="0" indent="0">
              <a:buNone/>
            </a:pPr>
            <a:r>
              <a:rPr lang="en-US" sz="3000" b="1" dirty="0">
                <a:solidFill>
                  <a:srgbClr val="0078D4"/>
                </a:solidFill>
                <a:latin typeface="Segoe UI Semibold" pitchFamily="34" charset="0"/>
                <a:ea typeface="Segoe UI Semibold" pitchFamily="34" charset="-122"/>
                <a:cs typeface="Segoe UI Semibold" pitchFamily="34" charset="-120"/>
              </a:rPr>
              <a:t>1</a:t>
            </a:r>
            <a:endParaRPr lang="en-US" sz="3000" dirty="0"/>
          </a:p>
        </p:txBody>
      </p:sp>
      <p:pic>
        <p:nvPicPr>
          <p:cNvPr id="10" name="Image 1" descr="preencoded.png"/>
          <p:cNvPicPr>
            <a:picLocks noChangeAspect="1"/>
          </p:cNvPicPr>
          <p:nvPr/>
        </p:nvPicPr>
        <p:blipFill>
          <a:blip r:embed="rId4"/>
          <a:stretch>
            <a:fillRect/>
          </a:stretch>
        </p:blipFill>
        <p:spPr>
          <a:xfrm>
            <a:off x="3172968" y="3136392"/>
            <a:ext cx="530352" cy="530352"/>
          </a:xfrm>
          <a:prstGeom prst="rect">
            <a:avLst/>
          </a:prstGeom>
        </p:spPr>
      </p:pic>
      <p:sp>
        <p:nvSpPr>
          <p:cNvPr id="11" name="Text 7"/>
          <p:cNvSpPr/>
          <p:nvPr/>
        </p:nvSpPr>
        <p:spPr>
          <a:xfrm>
            <a:off x="1005840" y="3950208"/>
            <a:ext cx="2697480" cy="502920"/>
          </a:xfrm>
          <a:prstGeom prst="rect">
            <a:avLst/>
          </a:prstGeom>
          <a:noFill/>
          <a:ln/>
        </p:spPr>
        <p:txBody>
          <a:bodyPr wrap="square" lIns="0" tIns="0" rIns="0" bIns="0" rtlCol="0" anchor="ctr">
            <a:normAutofit/>
          </a:bodyPr>
          <a:lstStyle/>
          <a:p>
            <a:pPr marL="0" indent="0">
              <a:buNone/>
            </a:pPr>
            <a:r>
              <a:rPr lang="en-US" sz="1450" b="1" dirty="0">
                <a:solidFill>
                  <a:srgbClr val="091F2C"/>
                </a:solidFill>
                <a:latin typeface="Segoe UI Semibold" pitchFamily="34" charset="0"/>
                <a:ea typeface="Segoe UI Semibold" pitchFamily="34" charset="-122"/>
                <a:cs typeface="Segoe UI Semibold" pitchFamily="34" charset="-120"/>
              </a:rPr>
              <a:t>Ask in the flow of work</a:t>
            </a:r>
            <a:endParaRPr lang="en-US" sz="1450" dirty="0"/>
          </a:p>
        </p:txBody>
      </p:sp>
      <p:sp>
        <p:nvSpPr>
          <p:cNvPr id="12" name="Text 8"/>
          <p:cNvSpPr/>
          <p:nvPr/>
        </p:nvSpPr>
        <p:spPr>
          <a:xfrm>
            <a:off x="1005840" y="4572000"/>
            <a:ext cx="2697480" cy="594360"/>
          </a:xfrm>
          <a:prstGeom prst="rect">
            <a:avLst/>
          </a:prstGeom>
          <a:noFill/>
          <a:ln/>
        </p:spPr>
        <p:txBody>
          <a:bodyPr wrap="square" lIns="0" tIns="0" rIns="0" bIns="0" rtlCol="0" anchor="ctr">
            <a:normAutofit/>
          </a:bodyPr>
          <a:lstStyle/>
          <a:p>
            <a:pPr marL="0" indent="0">
              <a:buNone/>
            </a:pPr>
            <a:r>
              <a:rPr lang="en-US" sz="1100" dirty="0">
                <a:solidFill>
                  <a:srgbClr val="5B6672"/>
                </a:solidFill>
                <a:latin typeface="Segoe UI" pitchFamily="34" charset="0"/>
                <a:ea typeface="Segoe UI" pitchFamily="34" charset="-122"/>
                <a:cs typeface="Segoe UI" pitchFamily="34" charset="-120"/>
              </a:rPr>
              <a:t>An employee invokes the agent right inside M365 Copilot</a:t>
            </a:r>
            <a:endParaRPr lang="en-US" sz="1100" dirty="0"/>
          </a:p>
        </p:txBody>
      </p:sp>
      <p:sp>
        <p:nvSpPr>
          <p:cNvPr id="13" name="Shape 9"/>
          <p:cNvSpPr/>
          <p:nvPr/>
        </p:nvSpPr>
        <p:spPr>
          <a:xfrm>
            <a:off x="4379976" y="2880360"/>
            <a:ext cx="3337560" cy="2514600"/>
          </a:xfrm>
          <a:prstGeom prst="roundRect">
            <a:avLst>
              <a:gd name="adj" fmla="val 3273"/>
            </a:avLst>
          </a:prstGeom>
          <a:solidFill>
            <a:srgbClr val="FFFFFF"/>
          </a:solidFill>
          <a:ln w="12700">
            <a:solidFill>
              <a:srgbClr val="E7E5F0"/>
            </a:solidFill>
            <a:prstDash val="solid"/>
          </a:ln>
          <a:effectLst>
            <a:outerShdw blurRad="63500" dist="50800" dir="5400000" algn="bl" rotWithShape="0">
              <a:srgbClr val="8A83B0">
                <a:alpha val="18000"/>
              </a:srgbClr>
            </a:outerShdw>
          </a:effectLst>
        </p:spPr>
        <p:txBody>
          <a:bodyPr/>
          <a:lstStyle/>
          <a:p>
            <a:endParaRPr lang="en-US"/>
          </a:p>
        </p:txBody>
      </p:sp>
      <p:sp>
        <p:nvSpPr>
          <p:cNvPr id="14" name="Text 10"/>
          <p:cNvSpPr/>
          <p:nvPr/>
        </p:nvSpPr>
        <p:spPr>
          <a:xfrm>
            <a:off x="4700016" y="3182112"/>
            <a:ext cx="548640" cy="502920"/>
          </a:xfrm>
          <a:prstGeom prst="rect">
            <a:avLst/>
          </a:prstGeom>
          <a:noFill/>
          <a:ln/>
        </p:spPr>
        <p:txBody>
          <a:bodyPr wrap="square" lIns="0" tIns="0" rIns="0" bIns="0" rtlCol="0" anchor="ctr">
            <a:normAutofit/>
          </a:bodyPr>
          <a:lstStyle/>
          <a:p>
            <a:pPr marL="0" indent="0">
              <a:buNone/>
            </a:pPr>
            <a:r>
              <a:rPr lang="en-US" sz="3000" b="1" dirty="0">
                <a:solidFill>
                  <a:srgbClr val="8661C5"/>
                </a:solidFill>
                <a:latin typeface="Segoe UI Semibold" pitchFamily="34" charset="0"/>
                <a:ea typeface="Segoe UI Semibold" pitchFamily="34" charset="-122"/>
                <a:cs typeface="Segoe UI Semibold" pitchFamily="34" charset="-120"/>
              </a:rPr>
              <a:t>2</a:t>
            </a:r>
            <a:endParaRPr lang="en-US" sz="3000" dirty="0"/>
          </a:p>
        </p:txBody>
      </p:sp>
      <p:pic>
        <p:nvPicPr>
          <p:cNvPr id="15" name="Image 2" descr="preencoded.png"/>
          <p:cNvPicPr>
            <a:picLocks noChangeAspect="1"/>
          </p:cNvPicPr>
          <p:nvPr/>
        </p:nvPicPr>
        <p:blipFill>
          <a:blip r:embed="rId5"/>
          <a:stretch>
            <a:fillRect/>
          </a:stretch>
        </p:blipFill>
        <p:spPr>
          <a:xfrm>
            <a:off x="6867144" y="3136392"/>
            <a:ext cx="530352" cy="530352"/>
          </a:xfrm>
          <a:prstGeom prst="rect">
            <a:avLst/>
          </a:prstGeom>
        </p:spPr>
      </p:pic>
      <p:sp>
        <p:nvSpPr>
          <p:cNvPr id="16" name="Text 11"/>
          <p:cNvSpPr/>
          <p:nvPr/>
        </p:nvSpPr>
        <p:spPr>
          <a:xfrm>
            <a:off x="4700016" y="3950208"/>
            <a:ext cx="2697480" cy="502920"/>
          </a:xfrm>
          <a:prstGeom prst="rect">
            <a:avLst/>
          </a:prstGeom>
          <a:noFill/>
          <a:ln/>
        </p:spPr>
        <p:txBody>
          <a:bodyPr wrap="square" lIns="0" tIns="0" rIns="0" bIns="0" rtlCol="0" anchor="ctr">
            <a:normAutofit/>
          </a:bodyPr>
          <a:lstStyle/>
          <a:p>
            <a:pPr marL="0" indent="0">
              <a:buNone/>
            </a:pPr>
            <a:r>
              <a:rPr lang="en-US" sz="1450" b="1" dirty="0">
                <a:solidFill>
                  <a:srgbClr val="091F2C"/>
                </a:solidFill>
                <a:latin typeface="Segoe UI Semibold" pitchFamily="34" charset="0"/>
                <a:ea typeface="Segoe UI Semibold" pitchFamily="34" charset="-122"/>
                <a:cs typeface="Segoe UI Semibold" pitchFamily="34" charset="-120"/>
              </a:rPr>
              <a:t>Ground the answer</a:t>
            </a:r>
            <a:endParaRPr lang="en-US" sz="1450" dirty="0"/>
          </a:p>
        </p:txBody>
      </p:sp>
      <p:sp>
        <p:nvSpPr>
          <p:cNvPr id="17" name="Text 12"/>
          <p:cNvSpPr/>
          <p:nvPr/>
        </p:nvSpPr>
        <p:spPr>
          <a:xfrm>
            <a:off x="4700016" y="4572000"/>
            <a:ext cx="2697480" cy="594360"/>
          </a:xfrm>
          <a:prstGeom prst="rect">
            <a:avLst/>
          </a:prstGeom>
          <a:noFill/>
          <a:ln/>
        </p:spPr>
        <p:txBody>
          <a:bodyPr wrap="square" lIns="0" tIns="0" rIns="0" bIns="0" rtlCol="0" anchor="ctr">
            <a:normAutofit/>
          </a:bodyPr>
          <a:lstStyle/>
          <a:p>
            <a:pPr marL="0" indent="0">
              <a:buNone/>
            </a:pPr>
            <a:r>
              <a:rPr lang="en-US" sz="1100" dirty="0">
                <a:solidFill>
                  <a:srgbClr val="5B6672"/>
                </a:solidFill>
                <a:latin typeface="Segoe UI" pitchFamily="34" charset="0"/>
                <a:ea typeface="Segoe UI" pitchFamily="34" charset="-122"/>
                <a:cs typeface="Segoe UI" pitchFamily="34" charset="-120"/>
              </a:rPr>
              <a:t>Approved knowledge returns a focused, cited response</a:t>
            </a:r>
            <a:endParaRPr lang="en-US" sz="1100" dirty="0"/>
          </a:p>
        </p:txBody>
      </p:sp>
      <p:sp>
        <p:nvSpPr>
          <p:cNvPr id="18" name="Shape 13"/>
          <p:cNvSpPr/>
          <p:nvPr/>
        </p:nvSpPr>
        <p:spPr>
          <a:xfrm>
            <a:off x="8074152" y="2880360"/>
            <a:ext cx="3337560" cy="2514600"/>
          </a:xfrm>
          <a:prstGeom prst="roundRect">
            <a:avLst>
              <a:gd name="adj" fmla="val 3273"/>
            </a:avLst>
          </a:prstGeom>
          <a:solidFill>
            <a:srgbClr val="FFFFFF"/>
          </a:solidFill>
          <a:ln w="12700">
            <a:solidFill>
              <a:srgbClr val="E7E5F0"/>
            </a:solidFill>
            <a:prstDash val="solid"/>
          </a:ln>
          <a:effectLst>
            <a:outerShdw blurRad="63500" dist="50800" dir="5400000" algn="bl" rotWithShape="0">
              <a:srgbClr val="8A83B0">
                <a:alpha val="18000"/>
              </a:srgbClr>
            </a:outerShdw>
          </a:effectLst>
        </p:spPr>
        <p:txBody>
          <a:bodyPr/>
          <a:lstStyle/>
          <a:p>
            <a:endParaRPr lang="en-US"/>
          </a:p>
        </p:txBody>
      </p:sp>
      <p:sp>
        <p:nvSpPr>
          <p:cNvPr id="19" name="Text 14"/>
          <p:cNvSpPr/>
          <p:nvPr/>
        </p:nvSpPr>
        <p:spPr>
          <a:xfrm>
            <a:off x="8394192" y="3182112"/>
            <a:ext cx="548640" cy="502920"/>
          </a:xfrm>
          <a:prstGeom prst="rect">
            <a:avLst/>
          </a:prstGeom>
          <a:noFill/>
          <a:ln/>
        </p:spPr>
        <p:txBody>
          <a:bodyPr wrap="square" lIns="0" tIns="0" rIns="0" bIns="0" rtlCol="0" anchor="ctr">
            <a:normAutofit/>
          </a:bodyPr>
          <a:lstStyle/>
          <a:p>
            <a:pPr marL="0" indent="0">
              <a:buNone/>
            </a:pPr>
            <a:r>
              <a:rPr lang="en-US" sz="3000" b="1" dirty="0">
                <a:solidFill>
                  <a:srgbClr val="C03BC4"/>
                </a:solidFill>
                <a:latin typeface="Segoe UI Semibold" pitchFamily="34" charset="0"/>
                <a:ea typeface="Segoe UI Semibold" pitchFamily="34" charset="-122"/>
                <a:cs typeface="Segoe UI Semibold" pitchFamily="34" charset="-120"/>
              </a:rPr>
              <a:t>3</a:t>
            </a:r>
            <a:endParaRPr lang="en-US" sz="3000" dirty="0"/>
          </a:p>
        </p:txBody>
      </p:sp>
      <p:pic>
        <p:nvPicPr>
          <p:cNvPr id="20" name="Image 3" descr="preencoded.png"/>
          <p:cNvPicPr>
            <a:picLocks noChangeAspect="1"/>
          </p:cNvPicPr>
          <p:nvPr/>
        </p:nvPicPr>
        <p:blipFill>
          <a:blip r:embed="rId6"/>
          <a:stretch>
            <a:fillRect/>
          </a:stretch>
        </p:blipFill>
        <p:spPr>
          <a:xfrm>
            <a:off x="10561320" y="3136392"/>
            <a:ext cx="530352" cy="530352"/>
          </a:xfrm>
          <a:prstGeom prst="rect">
            <a:avLst/>
          </a:prstGeom>
        </p:spPr>
      </p:pic>
      <p:sp>
        <p:nvSpPr>
          <p:cNvPr id="21" name="Text 15"/>
          <p:cNvSpPr/>
          <p:nvPr/>
        </p:nvSpPr>
        <p:spPr>
          <a:xfrm>
            <a:off x="8394192" y="3950208"/>
            <a:ext cx="2697480" cy="502920"/>
          </a:xfrm>
          <a:prstGeom prst="rect">
            <a:avLst/>
          </a:prstGeom>
          <a:noFill/>
          <a:ln/>
        </p:spPr>
        <p:txBody>
          <a:bodyPr wrap="square" lIns="0" tIns="0" rIns="0" bIns="0" rtlCol="0" anchor="ctr">
            <a:normAutofit/>
          </a:bodyPr>
          <a:lstStyle/>
          <a:p>
            <a:pPr marL="0" indent="0">
              <a:buNone/>
            </a:pPr>
            <a:r>
              <a:rPr lang="en-US" sz="1450" b="1" dirty="0">
                <a:solidFill>
                  <a:srgbClr val="091F2C"/>
                </a:solidFill>
                <a:latin typeface="Segoe UI Semibold" pitchFamily="34" charset="0"/>
                <a:ea typeface="Segoe UI Semibold" pitchFamily="34" charset="-122"/>
                <a:cs typeface="Segoe UI Semibold" pitchFamily="34" charset="-120"/>
              </a:rPr>
              <a:t>Complete the next step</a:t>
            </a:r>
            <a:endParaRPr lang="en-US" sz="1450" dirty="0"/>
          </a:p>
        </p:txBody>
      </p:sp>
      <p:sp>
        <p:nvSpPr>
          <p:cNvPr id="22" name="Text 16"/>
          <p:cNvSpPr/>
          <p:nvPr/>
        </p:nvSpPr>
        <p:spPr>
          <a:xfrm>
            <a:off x="8394192" y="4572000"/>
            <a:ext cx="2697480" cy="594360"/>
          </a:xfrm>
          <a:prstGeom prst="rect">
            <a:avLst/>
          </a:prstGeom>
          <a:noFill/>
          <a:ln/>
        </p:spPr>
        <p:txBody>
          <a:bodyPr wrap="square" lIns="0" tIns="0" rIns="0" bIns="0" rtlCol="0" anchor="ctr">
            <a:normAutofit/>
          </a:bodyPr>
          <a:lstStyle/>
          <a:p>
            <a:pPr marL="0" indent="0">
              <a:buNone/>
            </a:pPr>
            <a:r>
              <a:rPr lang="en-US" sz="1100" dirty="0">
                <a:solidFill>
                  <a:srgbClr val="5B6672"/>
                </a:solidFill>
                <a:latin typeface="Segoe UI" pitchFamily="34" charset="0"/>
                <a:ea typeface="Segoe UI" pitchFamily="34" charset="-122"/>
                <a:cs typeface="Segoe UI" pitchFamily="34" charset="-120"/>
              </a:rPr>
              <a:t>A connector or agent flow acts — and confirms the result</a:t>
            </a:r>
            <a:endParaRPr lang="en-US" sz="1100" dirty="0"/>
          </a:p>
        </p:txBody>
      </p:sp>
      <p:sp>
        <p:nvSpPr>
          <p:cNvPr id="23" name="Shape 17"/>
          <p:cNvSpPr/>
          <p:nvPr/>
        </p:nvSpPr>
        <p:spPr>
          <a:xfrm>
            <a:off x="685800" y="5696712"/>
            <a:ext cx="10725912" cy="457200"/>
          </a:xfrm>
          <a:prstGeom prst="roundRect">
            <a:avLst>
              <a:gd name="adj" fmla="val 18000"/>
            </a:avLst>
          </a:prstGeom>
          <a:solidFill>
            <a:srgbClr val="EAF4FB"/>
          </a:solidFill>
          <a:ln w="12700">
            <a:solidFill>
              <a:srgbClr val="EAF4FB"/>
            </a:solidFill>
            <a:prstDash val="solid"/>
          </a:ln>
        </p:spPr>
        <p:txBody>
          <a:bodyPr/>
          <a:lstStyle/>
          <a:p>
            <a:endParaRPr lang="en-US"/>
          </a:p>
        </p:txBody>
      </p:sp>
      <p:sp>
        <p:nvSpPr>
          <p:cNvPr id="24" name="Text 18"/>
          <p:cNvSpPr/>
          <p:nvPr/>
        </p:nvSpPr>
        <p:spPr>
          <a:xfrm>
            <a:off x="914400" y="5769864"/>
            <a:ext cx="10241280" cy="274320"/>
          </a:xfrm>
          <a:prstGeom prst="rect">
            <a:avLst/>
          </a:prstGeom>
          <a:noFill/>
          <a:ln/>
        </p:spPr>
        <p:txBody>
          <a:bodyPr wrap="square" lIns="0" tIns="0" rIns="0" bIns="0" rtlCol="0" anchor="ctr">
            <a:normAutofit/>
          </a:bodyPr>
          <a:lstStyle/>
          <a:p>
            <a:pPr marL="0" indent="0">
              <a:buNone/>
            </a:pPr>
            <a:r>
              <a:rPr lang="en-US" sz="1120" b="1" dirty="0">
                <a:solidFill>
                  <a:srgbClr val="174E7E"/>
                </a:solidFill>
                <a:latin typeface="Segoe UI Semibold" pitchFamily="34" charset="0"/>
                <a:ea typeface="Segoe UI Semibold" pitchFamily="34" charset="-122"/>
                <a:cs typeface="Segoe UI Semibold" pitchFamily="34" charset="-120"/>
              </a:rPr>
              <a:t>Watch for:  specialized scope  ·  cited knowledge  ·  a real tool call  ·  confirmation</a:t>
            </a:r>
            <a:endParaRPr lang="en-US" sz="1120" dirty="0"/>
          </a:p>
        </p:txBody>
      </p:sp>
      <p:sp>
        <p:nvSpPr>
          <p:cNvPr id="25" name="Text 19"/>
          <p:cNvSpPr/>
          <p:nvPr/>
        </p:nvSpPr>
        <p:spPr>
          <a:xfrm>
            <a:off x="777240" y="6510528"/>
            <a:ext cx="1828800" cy="155448"/>
          </a:xfrm>
          <a:prstGeom prst="rect">
            <a:avLst/>
          </a:prstGeom>
          <a:noFill/>
          <a:ln/>
        </p:spPr>
        <p:txBody>
          <a:bodyPr wrap="square" lIns="0" tIns="0" rIns="0" bIns="0" rtlCol="0" anchor="ctr">
            <a:normAutofit/>
          </a:bodyPr>
          <a:lstStyle/>
          <a:p>
            <a:pPr marL="0" indent="0">
              <a:buNone/>
            </a:pPr>
            <a:r>
              <a:rPr lang="en-US" sz="850" dirty="0">
                <a:solidFill>
                  <a:srgbClr val="9AA3AD"/>
                </a:solidFill>
                <a:latin typeface="Segoe UI" pitchFamily="34" charset="0"/>
                <a:ea typeface="Segoe UI" pitchFamily="34" charset="-122"/>
                <a:cs typeface="Segoe UI" pitchFamily="34" charset="-120"/>
              </a:rPr>
              <a:t>Copilot Studio</a:t>
            </a:r>
            <a:endParaRPr lang="en-US" sz="850" dirty="0"/>
          </a:p>
        </p:txBody>
      </p:sp>
      <p:sp>
        <p:nvSpPr>
          <p:cNvPr id="26" name="Text 20"/>
          <p:cNvSpPr/>
          <p:nvPr/>
        </p:nvSpPr>
        <p:spPr>
          <a:xfrm>
            <a:off x="11228832" y="6473952"/>
            <a:ext cx="320040" cy="164592"/>
          </a:xfrm>
          <a:prstGeom prst="rect">
            <a:avLst/>
          </a:prstGeom>
          <a:noFill/>
          <a:ln/>
        </p:spPr>
        <p:txBody>
          <a:bodyPr wrap="square" lIns="0" tIns="0" rIns="0" bIns="0" rtlCol="0" anchor="ctr">
            <a:normAutofit/>
          </a:bodyPr>
          <a:lstStyle/>
          <a:p>
            <a:pPr marL="0" indent="0" algn="r">
              <a:buNone/>
            </a:pPr>
            <a:r>
              <a:rPr lang="en-US" sz="900">
                <a:solidFill>
                  <a:srgbClr val="9AA3AD"/>
                </a:solidFill>
                <a:latin typeface="Segoe UI" pitchFamily="34" charset="0"/>
                <a:ea typeface="Segoe UI" pitchFamily="34" charset="-122"/>
                <a:cs typeface="Segoe UI" pitchFamily="34" charset="-120"/>
              </a:rPr>
              <a:t>4</a:t>
            </a:r>
            <a:endParaRPr lang="en-US" sz="9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F7BC398-ED80-1706-C6B8-C659F4B111CD}"/>
            </a:ext>
          </a:extLst>
        </p:cNvPr>
        <p:cNvGrpSpPr/>
        <p:nvPr/>
      </p:nvGrpSpPr>
      <p:grpSpPr>
        <a:xfrm>
          <a:off x="0" y="0"/>
          <a:ext cx="0" cy="0"/>
          <a:chOff x="0" y="0"/>
          <a:chExt cx="0" cy="0"/>
        </a:xfrm>
      </p:grpSpPr>
      <p:sp useBgFill="1">
        <p:nvSpPr>
          <p:cNvPr id="7" name="!!The Messy Middle Shape">
            <a:extLst>
              <a:ext uri="{FF2B5EF4-FFF2-40B4-BE49-F238E27FC236}">
                <a16:creationId xmlns:a16="http://schemas.microsoft.com/office/drawing/2014/main" id="{E4E42E63-813D-77A7-F3C6-20F2A6BB191C}"/>
              </a:ext>
            </a:extLst>
          </p:cNvPr>
          <p:cNvSpPr/>
          <p:nvPr/>
        </p:nvSpPr>
        <p:spPr>
          <a:xfrm>
            <a:off x="777240" y="2002146"/>
            <a:ext cx="10902366" cy="4051502"/>
          </a:xfrm>
          <a:prstGeom prst="roundRect">
            <a:avLst>
              <a:gd name="adj" fmla="val 4582"/>
            </a:avLst>
          </a:prstGeom>
          <a:gradFill rotWithShape="0">
            <a:gsLst>
              <a:gs pos="21000">
                <a:srgbClr val="F2FAFD"/>
              </a:gs>
              <a:gs pos="79000">
                <a:srgbClr val="F2FAFD"/>
              </a:gs>
              <a:gs pos="52000">
                <a:srgbClr val="D8F6FF"/>
              </a:gs>
            </a:gsLst>
            <a:lin ang="2700000" scaled="0"/>
            <a:tileRect l="-4113" t="-36776" r="-4113" b="-20668"/>
          </a:gradFill>
          <a:ln w="635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118" name="Group 117">
            <a:extLst>
              <a:ext uri="{FF2B5EF4-FFF2-40B4-BE49-F238E27FC236}">
                <a16:creationId xmlns:a16="http://schemas.microsoft.com/office/drawing/2014/main" id="{5DC47D6A-14B3-A38C-11A5-0F97814B79B9}"/>
              </a:ext>
            </a:extLst>
          </p:cNvPr>
          <p:cNvGrpSpPr/>
          <p:nvPr/>
        </p:nvGrpSpPr>
        <p:grpSpPr>
          <a:xfrm>
            <a:off x="1311267" y="2250911"/>
            <a:ext cx="2297555" cy="1033126"/>
            <a:chOff x="-1631113" y="2186776"/>
            <a:chExt cx="2297555" cy="1033126"/>
          </a:xfrm>
        </p:grpSpPr>
        <p:grpSp>
          <p:nvGrpSpPr>
            <p:cNvPr id="117" name="Group 116">
              <a:extLst>
                <a:ext uri="{FF2B5EF4-FFF2-40B4-BE49-F238E27FC236}">
                  <a16:creationId xmlns:a16="http://schemas.microsoft.com/office/drawing/2014/main" id="{D88CF877-C455-8A0E-D702-5CB6416EE70A}"/>
                </a:ext>
              </a:extLst>
            </p:cNvPr>
            <p:cNvGrpSpPr/>
            <p:nvPr/>
          </p:nvGrpSpPr>
          <p:grpSpPr>
            <a:xfrm>
              <a:off x="-366684" y="2186776"/>
              <a:ext cx="1033126" cy="1033126"/>
              <a:chOff x="-369796" y="2186776"/>
              <a:chExt cx="1033126" cy="1033126"/>
            </a:xfrm>
          </p:grpSpPr>
          <p:sp>
            <p:nvSpPr>
              <p:cNvPr id="78" name="Rectangle: Rounded Corners 23">
                <a:extLst>
                  <a:ext uri="{FF2B5EF4-FFF2-40B4-BE49-F238E27FC236}">
                    <a16:creationId xmlns:a16="http://schemas.microsoft.com/office/drawing/2014/main" id="{F191FA34-7C3E-FAF4-3ECB-1077D58B7EC6}"/>
                  </a:ext>
                </a:extLst>
              </p:cNvPr>
              <p:cNvSpPr/>
              <p:nvPr/>
            </p:nvSpPr>
            <p:spPr bwMode="auto">
              <a:xfrm>
                <a:off x="-369796" y="2186776"/>
                <a:ext cx="1033126" cy="1033126"/>
              </a:xfrm>
              <a:prstGeom prst="roundRect">
                <a:avLst>
                  <a:gd name="adj" fmla="val 7249"/>
                </a:avLst>
              </a:prstGeom>
              <a:solidFill>
                <a:srgbClr val="FFFFFF">
                  <a:alpha val="75000"/>
                </a:srgbClr>
              </a:solidFill>
              <a:ln w="12700" cap="flat" cmpd="sng" algn="ctr">
                <a:solidFill>
                  <a:srgbClr val="FFFFFF"/>
                </a:solidFill>
                <a:prstDash val="solid"/>
              </a:ln>
              <a:effectLst>
                <a:outerShdw blurRad="190500" dist="25400" dir="2700000" algn="tl" rotWithShape="0">
                  <a:srgbClr val="463668">
                    <a:alpha val="15000"/>
                  </a:srgbClr>
                </a:outerShdw>
              </a:effectLst>
            </p:spPr>
            <p:txBody>
              <a:bodyPr rot="0" spcFirstLastPara="0" vertOverflow="overflow" horzOverflow="overflow" vert="horz" wrap="square" lIns="182880" tIns="91440" rIns="182880" bIns="182880" numCol="1" spcCol="0" rtlCol="0" fromWordArt="0" anchor="t" anchorCtr="0" forceAA="0" compatLnSpc="1">
                <a:prstTxWarp prst="textNoShape">
                  <a:avLst/>
                </a:prstTxWarp>
                <a:noAutofit/>
              </a:bodyPr>
              <a:lstStyle/>
              <a:p>
                <a:pPr algn="ctr">
                  <a:spcBef>
                    <a:spcPts val="900"/>
                  </a:spcBef>
                </a:pPr>
                <a:endParaRPr lang="en-US" sz="2400" b="1" err="1">
                  <a:solidFill>
                    <a:srgbClr val="000000"/>
                  </a:solidFill>
                  <a:latin typeface="Segoe UI Semibold"/>
                  <a:cs typeface="Segoe UI Semibold" panose="020B0702040204020203" pitchFamily="34" charset="0"/>
                </a:endParaRPr>
              </a:p>
            </p:txBody>
          </p:sp>
          <p:sp>
            <p:nvSpPr>
              <p:cNvPr id="79" name="TextBox 78">
                <a:extLst>
                  <a:ext uri="{FF2B5EF4-FFF2-40B4-BE49-F238E27FC236}">
                    <a16:creationId xmlns:a16="http://schemas.microsoft.com/office/drawing/2014/main" id="{0E9465D3-54E6-5C99-E755-FD9F8B8A4ADD}"/>
                  </a:ext>
                </a:extLst>
              </p:cNvPr>
              <p:cNvSpPr txBox="1"/>
              <p:nvPr/>
            </p:nvSpPr>
            <p:spPr>
              <a:xfrm>
                <a:off x="-369796" y="2870015"/>
                <a:ext cx="1033126" cy="153888"/>
              </a:xfrm>
              <a:prstGeom prst="rect">
                <a:avLst/>
              </a:prstGeom>
              <a:noFill/>
            </p:spPr>
            <p:txBody>
              <a:bodyPr wrap="square" lIns="0" tIns="0" rIns="0" bIns="0" rtlCol="0">
                <a:sp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1000" b="0" i="0" u="none" strike="noStrike" kern="0" cap="none" spc="0" normalizeH="0" baseline="0" noProof="0">
                    <a:ln>
                      <a:noFill/>
                    </a:ln>
                    <a:solidFill>
                      <a:srgbClr val="000000"/>
                    </a:solidFill>
                    <a:effectLst/>
                    <a:uLnTx/>
                    <a:uFillTx/>
                    <a:latin typeface="Segoe Sans Display" pitchFamily="2" charset="0"/>
                    <a:cs typeface="Segoe Sans Display" pitchFamily="2" charset="0"/>
                  </a:rPr>
                  <a:t>SharePoint</a:t>
                </a:r>
              </a:p>
            </p:txBody>
          </p:sp>
          <p:pic>
            <p:nvPicPr>
              <p:cNvPr id="80" name="Picture 79" descr="A logo with a black background&#10;&#10;AI-generated content may be incorrect.">
                <a:extLst>
                  <a:ext uri="{FF2B5EF4-FFF2-40B4-BE49-F238E27FC236}">
                    <a16:creationId xmlns:a16="http://schemas.microsoft.com/office/drawing/2014/main" id="{1A38C091-CFF6-B37E-CABB-8F78DD6F1DFD}"/>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94179" y="2385251"/>
                <a:ext cx="481893" cy="481893"/>
              </a:xfrm>
              <a:prstGeom prst="rect">
                <a:avLst/>
              </a:prstGeom>
            </p:spPr>
          </p:pic>
        </p:grpSp>
        <p:grpSp>
          <p:nvGrpSpPr>
            <p:cNvPr id="3" name="Group 2">
              <a:extLst>
                <a:ext uri="{FF2B5EF4-FFF2-40B4-BE49-F238E27FC236}">
                  <a16:creationId xmlns:a16="http://schemas.microsoft.com/office/drawing/2014/main" id="{F5149E15-06F6-6D57-627F-5038D1524AFB}"/>
                </a:ext>
              </a:extLst>
            </p:cNvPr>
            <p:cNvGrpSpPr/>
            <p:nvPr/>
          </p:nvGrpSpPr>
          <p:grpSpPr>
            <a:xfrm>
              <a:off x="-1631113" y="2186776"/>
              <a:ext cx="1033126" cy="1033125"/>
              <a:chOff x="2934304" y="4248384"/>
              <a:chExt cx="1033126" cy="1033125"/>
            </a:xfrm>
          </p:grpSpPr>
          <p:sp>
            <p:nvSpPr>
              <p:cNvPr id="35" name="Rectangle: Rounded Corners 2">
                <a:extLst>
                  <a:ext uri="{FF2B5EF4-FFF2-40B4-BE49-F238E27FC236}">
                    <a16:creationId xmlns:a16="http://schemas.microsoft.com/office/drawing/2014/main" id="{894CB34B-0BDF-3FFC-04F4-0AF10D874EFE}"/>
                  </a:ext>
                </a:extLst>
              </p:cNvPr>
              <p:cNvSpPr/>
              <p:nvPr/>
            </p:nvSpPr>
            <p:spPr bwMode="auto">
              <a:xfrm>
                <a:off x="2934304" y="4248384"/>
                <a:ext cx="1033126" cy="1033125"/>
              </a:xfrm>
              <a:prstGeom prst="roundRect">
                <a:avLst>
                  <a:gd name="adj" fmla="val 7249"/>
                </a:avLst>
              </a:prstGeom>
              <a:solidFill>
                <a:srgbClr val="FFFFFF">
                  <a:alpha val="75000"/>
                </a:srgbClr>
              </a:solidFill>
              <a:ln w="12700" cap="flat" cmpd="sng" algn="ctr">
                <a:solidFill>
                  <a:srgbClr val="FFFFFF"/>
                </a:solidFill>
                <a:prstDash val="solid"/>
              </a:ln>
              <a:effectLst>
                <a:outerShdw blurRad="190500" dist="25400" dir="2700000" algn="tl" rotWithShape="0">
                  <a:srgbClr val="463668">
                    <a:alpha val="15000"/>
                  </a:srgbClr>
                </a:outerShdw>
              </a:effectLst>
            </p:spPr>
            <p:txBody>
              <a:bodyPr rot="0" spcFirstLastPara="0" vertOverflow="overflow" horzOverflow="overflow" vert="horz" wrap="square" lIns="182880" tIns="91440" rIns="182880" bIns="182880" numCol="1" spcCol="0" rtlCol="0" fromWordArt="0" anchor="t" anchorCtr="0" forceAA="0" compatLnSpc="1">
                <a:prstTxWarp prst="textNoShape">
                  <a:avLst/>
                </a:prstTxWarp>
                <a:noAutofit/>
              </a:bodyPr>
              <a:lstStyle/>
              <a:p>
                <a:pPr algn="ctr">
                  <a:spcBef>
                    <a:spcPts val="900"/>
                  </a:spcBef>
                </a:pPr>
                <a:endParaRPr lang="en-US" sz="2400" b="1" err="1">
                  <a:solidFill>
                    <a:srgbClr val="000000"/>
                  </a:solidFill>
                  <a:latin typeface="Segoe UI Semibold"/>
                  <a:cs typeface="Segoe UI Semibold" panose="020B0702040204020203" pitchFamily="34" charset="0"/>
                </a:endParaRPr>
              </a:p>
            </p:txBody>
          </p:sp>
          <p:sp>
            <p:nvSpPr>
              <p:cNvPr id="36" name="TextBox 35">
                <a:extLst>
                  <a:ext uri="{FF2B5EF4-FFF2-40B4-BE49-F238E27FC236}">
                    <a16:creationId xmlns:a16="http://schemas.microsoft.com/office/drawing/2014/main" id="{BBB18D5F-45A0-95F4-358D-6EA458DCAB56}"/>
                  </a:ext>
                </a:extLst>
              </p:cNvPr>
              <p:cNvSpPr txBox="1"/>
              <p:nvPr/>
            </p:nvSpPr>
            <p:spPr>
              <a:xfrm>
                <a:off x="2934304" y="4842403"/>
                <a:ext cx="1033126" cy="323486"/>
              </a:xfrm>
              <a:prstGeom prst="rect">
                <a:avLst/>
              </a:prstGeom>
              <a:noFill/>
            </p:spPr>
            <p:txBody>
              <a:bodyPr wrap="square" lIns="0" tIns="0" rIns="0" bIns="0" rtlCol="0">
                <a:spAutoFit/>
              </a:bodyPr>
              <a:lstStyle/>
              <a:p>
                <a:pPr marL="0" marR="0" lvl="0" indent="0" algn="ctr" defTabSz="914400" eaLnBrk="1" fontAlgn="auto" latinLnBrk="0" hangingPunct="1">
                  <a:lnSpc>
                    <a:spcPct val="110000"/>
                  </a:lnSpc>
                  <a:spcBef>
                    <a:spcPts val="0"/>
                  </a:spcBef>
                  <a:spcAft>
                    <a:spcPts val="0"/>
                  </a:spcAft>
                  <a:buClrTx/>
                  <a:buSzTx/>
                  <a:buFontTx/>
                  <a:buNone/>
                  <a:tabLst/>
                  <a:defRPr/>
                </a:pPr>
                <a:r>
                  <a:rPr kumimoji="0" lang="en-US" sz="1000" b="0" i="0" u="none" strike="noStrike" kern="0" cap="none" spc="0" normalizeH="0" baseline="0" noProof="0">
                    <a:ln>
                      <a:noFill/>
                    </a:ln>
                    <a:solidFill>
                      <a:srgbClr val="000000"/>
                    </a:solidFill>
                    <a:effectLst/>
                    <a:uLnTx/>
                    <a:uFillTx/>
                    <a:latin typeface="Segoe Sans Display" pitchFamily="2" charset="0"/>
                    <a:cs typeface="Segoe Sans Display" pitchFamily="2" charset="0"/>
                  </a:rPr>
                  <a:t>Microsoft </a:t>
                </a:r>
                <a:br>
                  <a:rPr kumimoji="0" lang="en-US" sz="1000" b="0" i="0" u="none" strike="noStrike" kern="0" cap="none" spc="0" normalizeH="0" baseline="0" noProof="0">
                    <a:ln>
                      <a:noFill/>
                    </a:ln>
                    <a:solidFill>
                      <a:srgbClr val="000000"/>
                    </a:solidFill>
                    <a:effectLst/>
                    <a:uLnTx/>
                    <a:uFillTx/>
                    <a:latin typeface="Segoe Sans Display" pitchFamily="2" charset="0"/>
                    <a:cs typeface="Segoe Sans Display" pitchFamily="2" charset="0"/>
                  </a:rPr>
                </a:br>
                <a:r>
                  <a:rPr kumimoji="0" lang="en-US" sz="1000" b="0" i="0" u="none" strike="noStrike" kern="0" cap="none" spc="0" normalizeH="0" baseline="0" noProof="0">
                    <a:ln>
                      <a:noFill/>
                    </a:ln>
                    <a:solidFill>
                      <a:srgbClr val="000000"/>
                    </a:solidFill>
                    <a:effectLst/>
                    <a:uLnTx/>
                    <a:uFillTx/>
                    <a:latin typeface="Segoe Sans Display" pitchFamily="2" charset="0"/>
                    <a:cs typeface="Segoe Sans Display" pitchFamily="2" charset="0"/>
                  </a:rPr>
                  <a:t>Teams</a:t>
                </a:r>
              </a:p>
            </p:txBody>
          </p:sp>
          <p:pic>
            <p:nvPicPr>
              <p:cNvPr id="37" name="Graphic 36">
                <a:extLst>
                  <a:ext uri="{FF2B5EF4-FFF2-40B4-BE49-F238E27FC236}">
                    <a16:creationId xmlns:a16="http://schemas.microsoft.com/office/drawing/2014/main" id="{37FE6389-7171-6ADC-4607-9929255743DC}"/>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3266380" y="4449290"/>
                <a:ext cx="368974" cy="368973"/>
              </a:xfrm>
              <a:prstGeom prst="rect">
                <a:avLst/>
              </a:prstGeom>
            </p:spPr>
          </p:pic>
        </p:grpSp>
      </p:grpSp>
      <p:grpSp>
        <p:nvGrpSpPr>
          <p:cNvPr id="120" name="Group 119">
            <a:extLst>
              <a:ext uri="{FF2B5EF4-FFF2-40B4-BE49-F238E27FC236}">
                <a16:creationId xmlns:a16="http://schemas.microsoft.com/office/drawing/2014/main" id="{F366FF3C-15FC-F93B-A286-8E03F3D5E9AE}"/>
              </a:ext>
            </a:extLst>
          </p:cNvPr>
          <p:cNvGrpSpPr/>
          <p:nvPr/>
        </p:nvGrpSpPr>
        <p:grpSpPr>
          <a:xfrm>
            <a:off x="1301583" y="4673056"/>
            <a:ext cx="2316923" cy="1033126"/>
            <a:chOff x="3426605" y="2186776"/>
            <a:chExt cx="2316923" cy="1033126"/>
          </a:xfrm>
        </p:grpSpPr>
        <p:grpSp>
          <p:nvGrpSpPr>
            <p:cNvPr id="42" name="Group 41">
              <a:extLst>
                <a:ext uri="{FF2B5EF4-FFF2-40B4-BE49-F238E27FC236}">
                  <a16:creationId xmlns:a16="http://schemas.microsoft.com/office/drawing/2014/main" id="{233C866F-3B2D-D611-EEB1-DEB64496A9F9}"/>
                </a:ext>
              </a:extLst>
            </p:cNvPr>
            <p:cNvGrpSpPr/>
            <p:nvPr/>
          </p:nvGrpSpPr>
          <p:grpSpPr>
            <a:xfrm>
              <a:off x="4710402" y="2186776"/>
              <a:ext cx="1033126" cy="1033126"/>
              <a:chOff x="5348994" y="2945705"/>
              <a:chExt cx="1033126" cy="1033126"/>
            </a:xfrm>
          </p:grpSpPr>
          <p:sp>
            <p:nvSpPr>
              <p:cNvPr id="90" name="Rectangle: Rounded Corners 17">
                <a:extLst>
                  <a:ext uri="{FF2B5EF4-FFF2-40B4-BE49-F238E27FC236}">
                    <a16:creationId xmlns:a16="http://schemas.microsoft.com/office/drawing/2014/main" id="{7A235DC8-9E05-9D79-AB19-F4E62DD87C8F}"/>
                  </a:ext>
                </a:extLst>
              </p:cNvPr>
              <p:cNvSpPr/>
              <p:nvPr/>
            </p:nvSpPr>
            <p:spPr bwMode="auto">
              <a:xfrm>
                <a:off x="5348994" y="2945705"/>
                <a:ext cx="1033126" cy="1033126"/>
              </a:xfrm>
              <a:prstGeom prst="roundRect">
                <a:avLst>
                  <a:gd name="adj" fmla="val 7249"/>
                </a:avLst>
              </a:prstGeom>
              <a:solidFill>
                <a:srgbClr val="FFFFFF">
                  <a:alpha val="75000"/>
                </a:srgbClr>
              </a:solidFill>
              <a:ln w="12700" cap="flat" cmpd="sng" algn="ctr">
                <a:solidFill>
                  <a:srgbClr val="FFFFFF"/>
                </a:solidFill>
                <a:prstDash val="solid"/>
              </a:ln>
              <a:effectLst>
                <a:outerShdw blurRad="190500" dist="25400" dir="2700000" algn="tl" rotWithShape="0">
                  <a:srgbClr val="463668">
                    <a:alpha val="15000"/>
                  </a:srgbClr>
                </a:outerShdw>
              </a:effectLst>
            </p:spPr>
            <p:txBody>
              <a:bodyPr rot="0" spcFirstLastPara="0" vertOverflow="overflow" horzOverflow="overflow" vert="horz" wrap="square" lIns="182880" tIns="91440" rIns="182880" bIns="182880" numCol="1" spcCol="0" rtlCol="0" fromWordArt="0" anchor="t" anchorCtr="0" forceAA="0" compatLnSpc="1">
                <a:prstTxWarp prst="textNoShape">
                  <a:avLst/>
                </a:prstTxWarp>
                <a:noAutofit/>
              </a:bodyPr>
              <a:lstStyle/>
              <a:p>
                <a:pPr algn="ctr">
                  <a:spcBef>
                    <a:spcPts val="900"/>
                  </a:spcBef>
                </a:pPr>
                <a:endParaRPr lang="en-US" sz="2400" b="1" err="1">
                  <a:solidFill>
                    <a:srgbClr val="000000"/>
                  </a:solidFill>
                  <a:latin typeface="Segoe UI Semibold"/>
                  <a:cs typeface="Segoe UI Semibold" panose="020B0702040204020203" pitchFamily="34" charset="0"/>
                </a:endParaRPr>
              </a:p>
            </p:txBody>
          </p:sp>
          <p:sp>
            <p:nvSpPr>
              <p:cNvPr id="91" name="TextBox 90">
                <a:extLst>
                  <a:ext uri="{FF2B5EF4-FFF2-40B4-BE49-F238E27FC236}">
                    <a16:creationId xmlns:a16="http://schemas.microsoft.com/office/drawing/2014/main" id="{12528E83-F53A-DDF5-B793-2D0569254211}"/>
                  </a:ext>
                </a:extLst>
              </p:cNvPr>
              <p:cNvSpPr txBox="1"/>
              <p:nvPr/>
            </p:nvSpPr>
            <p:spPr>
              <a:xfrm>
                <a:off x="5348994" y="3615963"/>
                <a:ext cx="1033126" cy="153888"/>
              </a:xfrm>
              <a:prstGeom prst="rect">
                <a:avLst/>
              </a:prstGeom>
              <a:noFill/>
            </p:spPr>
            <p:txBody>
              <a:bodyPr wrap="square" lIns="0" tIns="0" rIns="0" bIns="0" rtlCol="0">
                <a:sp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1000" b="0" i="0" u="none" strike="noStrike" kern="0" cap="none" spc="0" normalizeH="0" baseline="0" noProof="0">
                    <a:ln>
                      <a:noFill/>
                    </a:ln>
                    <a:solidFill>
                      <a:srgbClr val="000000"/>
                    </a:solidFill>
                    <a:effectLst/>
                    <a:uLnTx/>
                    <a:uFillTx/>
                    <a:latin typeface="Segoe Sans Display" pitchFamily="2" charset="0"/>
                    <a:cs typeface="Segoe Sans Display" pitchFamily="2" charset="0"/>
                  </a:rPr>
                  <a:t>Email</a:t>
                </a:r>
              </a:p>
            </p:txBody>
          </p:sp>
          <p:pic>
            <p:nvPicPr>
              <p:cNvPr id="92" name="Graphic 91">
                <a:extLst>
                  <a:ext uri="{FF2B5EF4-FFF2-40B4-BE49-F238E27FC236}">
                    <a16:creationId xmlns:a16="http://schemas.microsoft.com/office/drawing/2014/main" id="{3C95F1A8-21E0-24BC-7EB0-33BEADA676C7}"/>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5681070" y="3134013"/>
                <a:ext cx="368974" cy="368974"/>
              </a:xfrm>
              <a:prstGeom prst="rect">
                <a:avLst/>
              </a:prstGeom>
            </p:spPr>
          </p:pic>
        </p:grpSp>
        <p:grpSp>
          <p:nvGrpSpPr>
            <p:cNvPr id="47" name="Group 46">
              <a:extLst>
                <a:ext uri="{FF2B5EF4-FFF2-40B4-BE49-F238E27FC236}">
                  <a16:creationId xmlns:a16="http://schemas.microsoft.com/office/drawing/2014/main" id="{C00DD8E9-C174-50ED-9D03-0B0612DA9C43}"/>
                </a:ext>
              </a:extLst>
            </p:cNvPr>
            <p:cNvGrpSpPr/>
            <p:nvPr/>
          </p:nvGrpSpPr>
          <p:grpSpPr>
            <a:xfrm>
              <a:off x="3426605" y="2186776"/>
              <a:ext cx="1052494" cy="1033126"/>
              <a:chOff x="7766553" y="1690215"/>
              <a:chExt cx="1052494" cy="1033126"/>
            </a:xfrm>
          </p:grpSpPr>
          <p:sp>
            <p:nvSpPr>
              <p:cNvPr id="75" name="Rectangle: Rounded Corners 30">
                <a:extLst>
                  <a:ext uri="{FF2B5EF4-FFF2-40B4-BE49-F238E27FC236}">
                    <a16:creationId xmlns:a16="http://schemas.microsoft.com/office/drawing/2014/main" id="{7167F3A5-BBFC-BC9D-CF4C-15C65B2AF0BC}"/>
                  </a:ext>
                </a:extLst>
              </p:cNvPr>
              <p:cNvSpPr/>
              <p:nvPr/>
            </p:nvSpPr>
            <p:spPr bwMode="auto">
              <a:xfrm>
                <a:off x="7785922" y="1690215"/>
                <a:ext cx="1033125" cy="1033126"/>
              </a:xfrm>
              <a:prstGeom prst="roundRect">
                <a:avLst>
                  <a:gd name="adj" fmla="val 7249"/>
                </a:avLst>
              </a:prstGeom>
              <a:solidFill>
                <a:srgbClr val="FFFFFF">
                  <a:alpha val="75000"/>
                </a:srgbClr>
              </a:solidFill>
              <a:ln w="12700" cap="flat" cmpd="sng" algn="ctr">
                <a:solidFill>
                  <a:srgbClr val="FFFFFF"/>
                </a:solidFill>
                <a:prstDash val="solid"/>
              </a:ln>
              <a:effectLst>
                <a:outerShdw blurRad="190500" dist="25400" dir="2700000" algn="tl" rotWithShape="0">
                  <a:srgbClr val="463668">
                    <a:alpha val="15000"/>
                  </a:srgbClr>
                </a:outerShdw>
              </a:effectLst>
            </p:spPr>
            <p:txBody>
              <a:bodyPr rot="0" spcFirstLastPara="0" vertOverflow="overflow" horzOverflow="overflow" vert="horz" wrap="square" lIns="182880" tIns="91440" rIns="182880" bIns="182880" numCol="1" spcCol="0" rtlCol="0" fromWordArt="0" anchor="t" anchorCtr="0" forceAA="0" compatLnSpc="1">
                <a:prstTxWarp prst="textNoShape">
                  <a:avLst/>
                </a:prstTxWarp>
                <a:noAutofit/>
              </a:bodyPr>
              <a:lstStyle/>
              <a:p>
                <a:pPr algn="ctr">
                  <a:spcBef>
                    <a:spcPts val="900"/>
                  </a:spcBef>
                </a:pPr>
                <a:endParaRPr lang="en-US" sz="2400" b="1" err="1">
                  <a:solidFill>
                    <a:srgbClr val="000000"/>
                  </a:solidFill>
                  <a:latin typeface="Segoe UI Semibold"/>
                  <a:cs typeface="Segoe UI Semibold" panose="020B0702040204020203" pitchFamily="34" charset="0"/>
                </a:endParaRPr>
              </a:p>
            </p:txBody>
          </p:sp>
          <p:sp>
            <p:nvSpPr>
              <p:cNvPr id="76" name="TextBox 75">
                <a:extLst>
                  <a:ext uri="{FF2B5EF4-FFF2-40B4-BE49-F238E27FC236}">
                    <a16:creationId xmlns:a16="http://schemas.microsoft.com/office/drawing/2014/main" id="{4AF93CFB-C94F-42B1-DE61-D02D9F6C917B}"/>
                  </a:ext>
                </a:extLst>
              </p:cNvPr>
              <p:cNvSpPr txBox="1"/>
              <p:nvPr/>
            </p:nvSpPr>
            <p:spPr>
              <a:xfrm>
                <a:off x="7766553" y="2359389"/>
                <a:ext cx="1033125" cy="153888"/>
              </a:xfrm>
              <a:prstGeom prst="rect">
                <a:avLst/>
              </a:prstGeom>
              <a:noFill/>
            </p:spPr>
            <p:txBody>
              <a:bodyPr wrap="square" lIns="0" tIns="0" rIns="0" bIns="0" rtlCol="0">
                <a:sp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1000" b="0" i="0" u="none" strike="noStrike" kern="0" cap="none" spc="0" normalizeH="0" baseline="0" noProof="0">
                    <a:ln>
                      <a:noFill/>
                    </a:ln>
                    <a:solidFill>
                      <a:srgbClr val="000000"/>
                    </a:solidFill>
                    <a:effectLst/>
                    <a:uLnTx/>
                    <a:uFillTx/>
                    <a:latin typeface="Segoe Sans Display" pitchFamily="2" charset="0"/>
                    <a:cs typeface="Segoe Sans Display" pitchFamily="2" charset="0"/>
                  </a:rPr>
                  <a:t>Slack</a:t>
                </a:r>
                <a:endParaRPr kumimoji="0" lang="en-US" sz="1000" b="0" i="0" u="none" strike="noStrike" kern="0" cap="none" spc="0" normalizeH="0" baseline="30000" noProof="0">
                  <a:ln>
                    <a:noFill/>
                  </a:ln>
                  <a:solidFill>
                    <a:srgbClr val="000000"/>
                  </a:solidFill>
                  <a:effectLst/>
                  <a:uLnTx/>
                  <a:uFillTx/>
                  <a:latin typeface="Segoe Sans Display" pitchFamily="2" charset="0"/>
                  <a:cs typeface="Segoe Sans Display" pitchFamily="2" charset="0"/>
                </a:endParaRPr>
              </a:p>
            </p:txBody>
          </p:sp>
          <p:pic>
            <p:nvPicPr>
              <p:cNvPr id="77" name="Picture 76" descr="A colorful logo with black background&#10;&#10;AI-generated content may be incorrect.">
                <a:extLst>
                  <a:ext uri="{FF2B5EF4-FFF2-40B4-BE49-F238E27FC236}">
                    <a16:creationId xmlns:a16="http://schemas.microsoft.com/office/drawing/2014/main" id="{ABC71CE8-191D-2031-EB61-79A120A71989}"/>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8136602" y="1949689"/>
                <a:ext cx="331764" cy="331764"/>
              </a:xfrm>
              <a:prstGeom prst="rect">
                <a:avLst/>
              </a:prstGeom>
            </p:spPr>
          </p:pic>
        </p:grpSp>
      </p:grpSp>
      <p:grpSp>
        <p:nvGrpSpPr>
          <p:cNvPr id="123" name="Group 122">
            <a:extLst>
              <a:ext uri="{FF2B5EF4-FFF2-40B4-BE49-F238E27FC236}">
                <a16:creationId xmlns:a16="http://schemas.microsoft.com/office/drawing/2014/main" id="{DB38D4B0-EFCC-02F4-D3B0-B3E2821FE2F3}"/>
              </a:ext>
            </a:extLst>
          </p:cNvPr>
          <p:cNvGrpSpPr/>
          <p:nvPr/>
        </p:nvGrpSpPr>
        <p:grpSpPr>
          <a:xfrm>
            <a:off x="5631208" y="2250911"/>
            <a:ext cx="4826414" cy="1033126"/>
            <a:chOff x="18619121" y="2186776"/>
            <a:chExt cx="4826414" cy="1033126"/>
          </a:xfrm>
        </p:grpSpPr>
        <p:grpSp>
          <p:nvGrpSpPr>
            <p:cNvPr id="11" name="Group 10">
              <a:extLst>
                <a:ext uri="{FF2B5EF4-FFF2-40B4-BE49-F238E27FC236}">
                  <a16:creationId xmlns:a16="http://schemas.microsoft.com/office/drawing/2014/main" id="{5F50A005-F911-C7C1-5B6D-F56897F80D26}"/>
                </a:ext>
              </a:extLst>
            </p:cNvPr>
            <p:cNvGrpSpPr/>
            <p:nvPr/>
          </p:nvGrpSpPr>
          <p:grpSpPr>
            <a:xfrm>
              <a:off x="18619121" y="2186776"/>
              <a:ext cx="1033126" cy="1033126"/>
              <a:chOff x="6586532" y="4253410"/>
              <a:chExt cx="1033126" cy="1033126"/>
            </a:xfrm>
          </p:grpSpPr>
          <p:sp>
            <p:nvSpPr>
              <p:cNvPr id="20" name="Rectangle: Rounded Corners 42">
                <a:extLst>
                  <a:ext uri="{FF2B5EF4-FFF2-40B4-BE49-F238E27FC236}">
                    <a16:creationId xmlns:a16="http://schemas.microsoft.com/office/drawing/2014/main" id="{63BE73F8-225A-DDBB-31D1-59B9A5C9C37F}"/>
                  </a:ext>
                </a:extLst>
              </p:cNvPr>
              <p:cNvSpPr/>
              <p:nvPr/>
            </p:nvSpPr>
            <p:spPr bwMode="auto">
              <a:xfrm>
                <a:off x="6586532" y="4253410"/>
                <a:ext cx="1033126" cy="1033126"/>
              </a:xfrm>
              <a:prstGeom prst="roundRect">
                <a:avLst>
                  <a:gd name="adj" fmla="val 7249"/>
                </a:avLst>
              </a:prstGeom>
              <a:solidFill>
                <a:srgbClr val="FFFFFF">
                  <a:alpha val="75000"/>
                </a:srgbClr>
              </a:solidFill>
              <a:ln w="12700" cap="flat" cmpd="sng" algn="ctr">
                <a:solidFill>
                  <a:srgbClr val="FFFFFF"/>
                </a:solidFill>
                <a:prstDash val="solid"/>
              </a:ln>
              <a:effectLst>
                <a:outerShdw blurRad="190500" dist="25400" dir="2700000" algn="tl" rotWithShape="0">
                  <a:srgbClr val="463668">
                    <a:alpha val="15000"/>
                  </a:srgbClr>
                </a:outerShdw>
              </a:effectLst>
            </p:spPr>
            <p:txBody>
              <a:bodyPr rot="0" spcFirstLastPara="0" vertOverflow="overflow" horzOverflow="overflow" vert="horz" wrap="square" lIns="182880" tIns="91440" rIns="182880" bIns="182880" numCol="1" spcCol="0" rtlCol="0" fromWordArt="0" anchor="t" anchorCtr="0" forceAA="0" compatLnSpc="1">
                <a:prstTxWarp prst="textNoShape">
                  <a:avLst/>
                </a:prstTxWarp>
                <a:noAutofit/>
              </a:bodyPr>
              <a:lstStyle/>
              <a:p>
                <a:pPr algn="ctr">
                  <a:spcBef>
                    <a:spcPts val="900"/>
                  </a:spcBef>
                </a:pPr>
                <a:endParaRPr lang="en-US" sz="2400" b="1" err="1">
                  <a:solidFill>
                    <a:srgbClr val="000000"/>
                  </a:solidFill>
                  <a:latin typeface="Segoe UI Semibold"/>
                  <a:cs typeface="Segoe UI Semibold" panose="020B0702040204020203" pitchFamily="34" charset="0"/>
                </a:endParaRPr>
              </a:p>
            </p:txBody>
          </p:sp>
          <p:sp>
            <p:nvSpPr>
              <p:cNvPr id="23" name="TextBox 22">
                <a:extLst>
                  <a:ext uri="{FF2B5EF4-FFF2-40B4-BE49-F238E27FC236}">
                    <a16:creationId xmlns:a16="http://schemas.microsoft.com/office/drawing/2014/main" id="{C5F59A4A-BB49-59DC-D923-EE9A23483D46}"/>
                  </a:ext>
                </a:extLst>
              </p:cNvPr>
              <p:cNvSpPr txBox="1"/>
              <p:nvPr/>
            </p:nvSpPr>
            <p:spPr>
              <a:xfrm>
                <a:off x="6586532" y="4923668"/>
                <a:ext cx="1033126" cy="153888"/>
              </a:xfrm>
              <a:prstGeom prst="rect">
                <a:avLst/>
              </a:prstGeom>
              <a:noFill/>
            </p:spPr>
            <p:txBody>
              <a:bodyPr wrap="square" lIns="0" tIns="0" rIns="0" bIns="0" rtlCol="0">
                <a:sp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1000" b="0" i="0" u="none" strike="noStrike" kern="0" cap="none" spc="0" normalizeH="0" baseline="0" noProof="0">
                    <a:ln>
                      <a:noFill/>
                    </a:ln>
                    <a:solidFill>
                      <a:srgbClr val="000000"/>
                    </a:solidFill>
                    <a:effectLst/>
                    <a:uLnTx/>
                    <a:uFillTx/>
                    <a:latin typeface="Segoe Sans Display" pitchFamily="2" charset="0"/>
                    <a:cs typeface="Segoe Sans Display" pitchFamily="2" charset="0"/>
                  </a:rPr>
                  <a:t>Kik</a:t>
                </a:r>
              </a:p>
            </p:txBody>
          </p:sp>
          <p:pic>
            <p:nvPicPr>
              <p:cNvPr id="24" name="Picture 23" descr="A green letter k with a black background&#10;&#10;AI-generated content may be incorrect.">
                <a:extLst>
                  <a:ext uri="{FF2B5EF4-FFF2-40B4-BE49-F238E27FC236}">
                    <a16:creationId xmlns:a16="http://schemas.microsoft.com/office/drawing/2014/main" id="{9F3B6544-0A13-A387-1F92-E2842DEB43CD}"/>
                  </a:ext>
                </a:extLst>
              </p:cNvPr>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a:off x="6908643" y="4439324"/>
                <a:ext cx="388905" cy="388905"/>
              </a:xfrm>
              <a:prstGeom prst="rect">
                <a:avLst/>
              </a:prstGeom>
            </p:spPr>
          </p:pic>
        </p:grpSp>
        <p:grpSp>
          <p:nvGrpSpPr>
            <p:cNvPr id="12" name="Group 11">
              <a:extLst>
                <a:ext uri="{FF2B5EF4-FFF2-40B4-BE49-F238E27FC236}">
                  <a16:creationId xmlns:a16="http://schemas.microsoft.com/office/drawing/2014/main" id="{D53CDC28-7E1C-1615-915A-1BB054F491B6}"/>
                </a:ext>
              </a:extLst>
            </p:cNvPr>
            <p:cNvGrpSpPr/>
            <p:nvPr/>
          </p:nvGrpSpPr>
          <p:grpSpPr>
            <a:xfrm>
              <a:off x="19883550" y="2186776"/>
              <a:ext cx="1033126" cy="1033126"/>
              <a:chOff x="7822836" y="4239019"/>
              <a:chExt cx="1033126" cy="1033126"/>
            </a:xfrm>
          </p:grpSpPr>
          <p:sp>
            <p:nvSpPr>
              <p:cNvPr id="15" name="Rectangle: Rounded Corners 44">
                <a:extLst>
                  <a:ext uri="{FF2B5EF4-FFF2-40B4-BE49-F238E27FC236}">
                    <a16:creationId xmlns:a16="http://schemas.microsoft.com/office/drawing/2014/main" id="{7C1A88E3-4900-56C1-715B-51F828584251}"/>
                  </a:ext>
                </a:extLst>
              </p:cNvPr>
              <p:cNvSpPr/>
              <p:nvPr/>
            </p:nvSpPr>
            <p:spPr bwMode="auto">
              <a:xfrm>
                <a:off x="7822836" y="4239019"/>
                <a:ext cx="1033126" cy="1033126"/>
              </a:xfrm>
              <a:prstGeom prst="roundRect">
                <a:avLst>
                  <a:gd name="adj" fmla="val 7249"/>
                </a:avLst>
              </a:prstGeom>
              <a:solidFill>
                <a:srgbClr val="FFFFFF">
                  <a:alpha val="75000"/>
                </a:srgbClr>
              </a:solidFill>
              <a:ln w="12700" cap="flat" cmpd="sng" algn="ctr">
                <a:solidFill>
                  <a:srgbClr val="FFFFFF"/>
                </a:solidFill>
                <a:prstDash val="solid"/>
              </a:ln>
              <a:effectLst>
                <a:outerShdw blurRad="190500" dist="25400" dir="2700000" algn="tl" rotWithShape="0">
                  <a:srgbClr val="463668">
                    <a:alpha val="15000"/>
                  </a:srgbClr>
                </a:outerShdw>
              </a:effectLst>
            </p:spPr>
            <p:txBody>
              <a:bodyPr rot="0" spcFirstLastPara="0" vertOverflow="overflow" horzOverflow="overflow" vert="horz" wrap="square" lIns="182880" tIns="91440" rIns="182880" bIns="182880" numCol="1" spcCol="0" rtlCol="0" fromWordArt="0" anchor="t" anchorCtr="0" forceAA="0" compatLnSpc="1">
                <a:prstTxWarp prst="textNoShape">
                  <a:avLst/>
                </a:prstTxWarp>
                <a:noAutofit/>
              </a:bodyPr>
              <a:lstStyle/>
              <a:p>
                <a:pPr algn="ctr">
                  <a:spcBef>
                    <a:spcPts val="900"/>
                  </a:spcBef>
                </a:pPr>
                <a:endParaRPr lang="en-US" sz="2400" b="1" err="1">
                  <a:solidFill>
                    <a:srgbClr val="000000"/>
                  </a:solidFill>
                  <a:latin typeface="Segoe UI Semibold"/>
                  <a:cs typeface="Segoe UI Semibold" panose="020B0702040204020203" pitchFamily="34" charset="0"/>
                </a:endParaRPr>
              </a:p>
            </p:txBody>
          </p:sp>
          <p:sp>
            <p:nvSpPr>
              <p:cNvPr id="16" name="TextBox 15">
                <a:extLst>
                  <a:ext uri="{FF2B5EF4-FFF2-40B4-BE49-F238E27FC236}">
                    <a16:creationId xmlns:a16="http://schemas.microsoft.com/office/drawing/2014/main" id="{2B0ED2FD-C8BC-1DEE-7710-98ADC13AA722}"/>
                  </a:ext>
                </a:extLst>
              </p:cNvPr>
              <p:cNvSpPr txBox="1"/>
              <p:nvPr/>
            </p:nvSpPr>
            <p:spPr>
              <a:xfrm>
                <a:off x="7822836" y="4909277"/>
                <a:ext cx="1033126" cy="153888"/>
              </a:xfrm>
              <a:prstGeom prst="rect">
                <a:avLst/>
              </a:prstGeom>
              <a:noFill/>
            </p:spPr>
            <p:txBody>
              <a:bodyPr wrap="square" lIns="0" tIns="0" rIns="0" bIns="0" rtlCol="0">
                <a:sp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1000" b="0" i="0" u="none" strike="noStrike" kern="0" cap="none" spc="0" normalizeH="0" baseline="0" noProof="0">
                    <a:ln>
                      <a:noFill/>
                    </a:ln>
                    <a:solidFill>
                      <a:srgbClr val="000000"/>
                    </a:solidFill>
                    <a:effectLst/>
                    <a:uLnTx/>
                    <a:uFillTx/>
                    <a:latin typeface="Segoe Sans Display" pitchFamily="2" charset="0"/>
                    <a:cs typeface="Segoe Sans Display" pitchFamily="2" charset="0"/>
                  </a:rPr>
                  <a:t>Phone</a:t>
                </a:r>
              </a:p>
            </p:txBody>
          </p:sp>
          <p:sp>
            <p:nvSpPr>
              <p:cNvPr id="18" name="Graphic 28">
                <a:extLst>
                  <a:ext uri="{FF2B5EF4-FFF2-40B4-BE49-F238E27FC236}">
                    <a16:creationId xmlns:a16="http://schemas.microsoft.com/office/drawing/2014/main" id="{6CA5B3CA-1D2A-3366-C777-1E6BCCBE472C}"/>
                  </a:ext>
                  <a:ext uri="{C183D7F6-B498-43B3-948B-1728B52AA6E4}">
                    <adec:decorative xmlns:adec="http://schemas.microsoft.com/office/drawing/2017/decorative" val="1"/>
                  </a:ext>
                </a:extLst>
              </p:cNvPr>
              <p:cNvSpPr>
                <a:spLocks/>
              </p:cNvSpPr>
              <p:nvPr/>
            </p:nvSpPr>
            <p:spPr>
              <a:xfrm>
                <a:off x="8241797" y="4494345"/>
                <a:ext cx="195204" cy="278863"/>
              </a:xfrm>
              <a:custGeom>
                <a:avLst/>
                <a:gdLst>
                  <a:gd name="connsiteX0" fmla="*/ 27042 w 160218"/>
                  <a:gd name="connsiteY0" fmla="*/ 5024 h 228883"/>
                  <a:gd name="connsiteX1" fmla="*/ 39362 w 160218"/>
                  <a:gd name="connsiteY1" fmla="*/ 1087 h 228883"/>
                  <a:gd name="connsiteX2" fmla="*/ 68187 w 160218"/>
                  <a:gd name="connsiteY2" fmla="*/ 15018 h 228883"/>
                  <a:gd name="connsiteX3" fmla="*/ 78025 w 160218"/>
                  <a:gd name="connsiteY3" fmla="*/ 38220 h 228883"/>
                  <a:gd name="connsiteX4" fmla="*/ 72143 w 160218"/>
                  <a:gd name="connsiteY4" fmla="*/ 67614 h 228883"/>
                  <a:gd name="connsiteX5" fmla="*/ 50465 w 160218"/>
                  <a:gd name="connsiteY5" fmla="*/ 88191 h 228883"/>
                  <a:gd name="connsiteX6" fmla="*/ 62877 w 160218"/>
                  <a:gd name="connsiteY6" fmla="*/ 124549 h 228883"/>
                  <a:gd name="connsiteX7" fmla="*/ 88866 w 160218"/>
                  <a:gd name="connsiteY7" fmla="*/ 154240 h 228883"/>
                  <a:gd name="connsiteX8" fmla="*/ 114904 w 160218"/>
                  <a:gd name="connsiteY8" fmla="*/ 145557 h 228883"/>
                  <a:gd name="connsiteX9" fmla="*/ 141576 w 160218"/>
                  <a:gd name="connsiteY9" fmla="*/ 154943 h 228883"/>
                  <a:gd name="connsiteX10" fmla="*/ 155680 w 160218"/>
                  <a:gd name="connsiteY10" fmla="*/ 175662 h 228883"/>
                  <a:gd name="connsiteX11" fmla="*/ 152719 w 160218"/>
                  <a:gd name="connsiteY11" fmla="*/ 209031 h 228883"/>
                  <a:gd name="connsiteX12" fmla="*/ 143360 w 160218"/>
                  <a:gd name="connsiteY12" fmla="*/ 218426 h 228883"/>
                  <a:gd name="connsiteX13" fmla="*/ 108435 w 160218"/>
                  <a:gd name="connsiteY13" fmla="*/ 227330 h 228883"/>
                  <a:gd name="connsiteX14" fmla="*/ 28292 w 160218"/>
                  <a:gd name="connsiteY14" fmla="*/ 146608 h 228883"/>
                  <a:gd name="connsiteX15" fmla="*/ 2448 w 160218"/>
                  <a:gd name="connsiteY15" fmla="*/ 32534 h 228883"/>
                  <a:gd name="connsiteX16" fmla="*/ 27042 w 160218"/>
                  <a:gd name="connsiteY16" fmla="*/ 5024 h 22888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160218" h="228883">
                    <a:moveTo>
                      <a:pt x="27042" y="5024"/>
                    </a:moveTo>
                    <a:lnTo>
                      <a:pt x="39362" y="1087"/>
                    </a:lnTo>
                    <a:cubicBezTo>
                      <a:pt x="50907" y="-2602"/>
                      <a:pt x="63243" y="3360"/>
                      <a:pt x="68187" y="15018"/>
                    </a:cubicBezTo>
                    <a:lnTo>
                      <a:pt x="78025" y="38220"/>
                    </a:lnTo>
                    <a:cubicBezTo>
                      <a:pt x="82313" y="48330"/>
                      <a:pt x="79934" y="60220"/>
                      <a:pt x="72143" y="67614"/>
                    </a:cubicBezTo>
                    <a:lnTo>
                      <a:pt x="50465" y="88191"/>
                    </a:lnTo>
                    <a:cubicBezTo>
                      <a:pt x="51802" y="100498"/>
                      <a:pt x="55939" y="112617"/>
                      <a:pt x="62877" y="124549"/>
                    </a:cubicBezTo>
                    <a:cubicBezTo>
                      <a:pt x="69813" y="136480"/>
                      <a:pt x="78476" y="146377"/>
                      <a:pt x="88866" y="154240"/>
                    </a:cubicBezTo>
                    <a:lnTo>
                      <a:pt x="114904" y="145557"/>
                    </a:lnTo>
                    <a:cubicBezTo>
                      <a:pt x="124774" y="142266"/>
                      <a:pt x="135522" y="146048"/>
                      <a:pt x="141576" y="154943"/>
                    </a:cubicBezTo>
                    <a:lnTo>
                      <a:pt x="155680" y="175662"/>
                    </a:lnTo>
                    <a:cubicBezTo>
                      <a:pt x="162717" y="186001"/>
                      <a:pt x="161451" y="200265"/>
                      <a:pt x="152719" y="209031"/>
                    </a:cubicBezTo>
                    <a:lnTo>
                      <a:pt x="143360" y="218426"/>
                    </a:lnTo>
                    <a:cubicBezTo>
                      <a:pt x="134046" y="227777"/>
                      <a:pt x="120742" y="231169"/>
                      <a:pt x="108435" y="227330"/>
                    </a:cubicBezTo>
                    <a:cubicBezTo>
                      <a:pt x="79379" y="218267"/>
                      <a:pt x="52665" y="191359"/>
                      <a:pt x="28292" y="146608"/>
                    </a:cubicBezTo>
                    <a:cubicBezTo>
                      <a:pt x="3883" y="101790"/>
                      <a:pt x="-4732" y="63766"/>
                      <a:pt x="2448" y="32534"/>
                    </a:cubicBezTo>
                    <a:cubicBezTo>
                      <a:pt x="5469" y="19393"/>
                      <a:pt x="14825" y="8927"/>
                      <a:pt x="27042" y="5024"/>
                    </a:cubicBezTo>
                    <a:close/>
                  </a:path>
                </a:pathLst>
              </a:custGeom>
              <a:solidFill>
                <a:srgbClr val="0078D4"/>
              </a:solidFill>
              <a:ln w="17463" cap="flat">
                <a:noFill/>
                <a:prstDash val="solid"/>
                <a:miter/>
              </a:ln>
            </p:spPr>
            <p:txBody>
              <a:bodyPr wrap="square" lIns="0" tIns="0" rIns="0" bIns="0" rtlCol="0" anchor="ctr" anchorCtr="0">
                <a:noAutofit/>
              </a:bodyPr>
              <a:lstStyle/>
              <a:p>
                <a:pPr marL="0" marR="0" lvl="0" indent="0" algn="ctr" defTabSz="914400" eaLnBrk="1" fontAlgn="base" latinLnBrk="0" hangingPunct="1">
                  <a:lnSpc>
                    <a:spcPct val="100000"/>
                  </a:lnSpc>
                  <a:spcBef>
                    <a:spcPct val="0"/>
                  </a:spcBef>
                  <a:spcAft>
                    <a:spcPts val="1200"/>
                  </a:spcAft>
                  <a:buClrTx/>
                  <a:buSzPct val="90000"/>
                  <a:buFontTx/>
                  <a:buNone/>
                  <a:tabLst/>
                  <a:defRPr/>
                </a:pPr>
                <a:endParaRPr kumimoji="0" lang="en-US" sz="2400" b="1" i="0" u="none" strike="noStrike" kern="0" cap="none" spc="0" normalizeH="0" baseline="0" noProof="0">
                  <a:ln>
                    <a:noFill/>
                  </a:ln>
                  <a:solidFill>
                    <a:srgbClr val="FFFFFF"/>
                  </a:solidFill>
                  <a:effectLst/>
                  <a:uLnTx/>
                  <a:uFillTx/>
                  <a:latin typeface="Segoe UI Semibold"/>
                </a:endParaRPr>
              </a:p>
            </p:txBody>
          </p:sp>
        </p:grpSp>
        <p:grpSp>
          <p:nvGrpSpPr>
            <p:cNvPr id="39" name="Group 38">
              <a:extLst>
                <a:ext uri="{FF2B5EF4-FFF2-40B4-BE49-F238E27FC236}">
                  <a16:creationId xmlns:a16="http://schemas.microsoft.com/office/drawing/2014/main" id="{0D6B7BD9-EA3B-60CF-B189-54E32E42EA87}"/>
                </a:ext>
              </a:extLst>
            </p:cNvPr>
            <p:cNvGrpSpPr/>
            <p:nvPr/>
          </p:nvGrpSpPr>
          <p:grpSpPr>
            <a:xfrm>
              <a:off x="22412407" y="2186776"/>
              <a:ext cx="1033128" cy="1033126"/>
              <a:chOff x="2934304" y="2942619"/>
              <a:chExt cx="1033128" cy="1033126"/>
            </a:xfrm>
          </p:grpSpPr>
          <p:sp>
            <p:nvSpPr>
              <p:cNvPr id="99" name="Rectangle: Rounded Corners 6">
                <a:extLst>
                  <a:ext uri="{FF2B5EF4-FFF2-40B4-BE49-F238E27FC236}">
                    <a16:creationId xmlns:a16="http://schemas.microsoft.com/office/drawing/2014/main" id="{5FA8D881-0CCD-CC2A-6525-6CE14C4050B8}"/>
                  </a:ext>
                </a:extLst>
              </p:cNvPr>
              <p:cNvSpPr/>
              <p:nvPr/>
            </p:nvSpPr>
            <p:spPr bwMode="auto">
              <a:xfrm>
                <a:off x="2934304" y="2942619"/>
                <a:ext cx="1033126" cy="1033126"/>
              </a:xfrm>
              <a:prstGeom prst="roundRect">
                <a:avLst>
                  <a:gd name="adj" fmla="val 7249"/>
                </a:avLst>
              </a:prstGeom>
              <a:solidFill>
                <a:srgbClr val="FFFFFF">
                  <a:alpha val="75000"/>
                </a:srgbClr>
              </a:solidFill>
              <a:ln w="12700" cap="flat" cmpd="sng" algn="ctr">
                <a:solidFill>
                  <a:srgbClr val="FFFFFF"/>
                </a:solidFill>
                <a:prstDash val="solid"/>
              </a:ln>
              <a:effectLst>
                <a:outerShdw blurRad="190500" dist="25400" dir="2700000" algn="tl" rotWithShape="0">
                  <a:srgbClr val="463668">
                    <a:alpha val="15000"/>
                  </a:srgbClr>
                </a:outerShdw>
              </a:effectLst>
            </p:spPr>
            <p:txBody>
              <a:bodyPr rot="0" spcFirstLastPara="0" vertOverflow="overflow" horzOverflow="overflow" vert="horz" wrap="square" lIns="182880" tIns="91440" rIns="182880" bIns="182880" numCol="1" spcCol="0" rtlCol="0" fromWordArt="0" anchor="t" anchorCtr="0" forceAA="0" compatLnSpc="1">
                <a:prstTxWarp prst="textNoShape">
                  <a:avLst/>
                </a:prstTxWarp>
                <a:noAutofit/>
              </a:bodyPr>
              <a:lstStyle/>
              <a:p>
                <a:pPr algn="ctr">
                  <a:spcBef>
                    <a:spcPts val="900"/>
                  </a:spcBef>
                </a:pPr>
                <a:endParaRPr lang="en-US" sz="2400" b="1" err="1">
                  <a:solidFill>
                    <a:srgbClr val="000000"/>
                  </a:solidFill>
                  <a:latin typeface="Segoe UI Semibold"/>
                  <a:cs typeface="Segoe UI Semibold" panose="020B0702040204020203" pitchFamily="34" charset="0"/>
                </a:endParaRPr>
              </a:p>
            </p:txBody>
          </p:sp>
          <p:sp>
            <p:nvSpPr>
              <p:cNvPr id="100" name="TextBox 99">
                <a:extLst>
                  <a:ext uri="{FF2B5EF4-FFF2-40B4-BE49-F238E27FC236}">
                    <a16:creationId xmlns:a16="http://schemas.microsoft.com/office/drawing/2014/main" id="{80BB6CE0-51C4-9C1C-DA1A-492403E8EB22}"/>
                  </a:ext>
                </a:extLst>
              </p:cNvPr>
              <p:cNvSpPr txBox="1"/>
              <p:nvPr/>
            </p:nvSpPr>
            <p:spPr>
              <a:xfrm>
                <a:off x="2934306" y="3612877"/>
                <a:ext cx="1033126" cy="153888"/>
              </a:xfrm>
              <a:prstGeom prst="rect">
                <a:avLst/>
              </a:prstGeom>
              <a:noFill/>
            </p:spPr>
            <p:txBody>
              <a:bodyPr wrap="square" lIns="0" tIns="0" rIns="0" bIns="0" rtlCol="0">
                <a:sp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1000" b="0" i="0" u="none" strike="noStrike" kern="0" cap="none" spc="0" normalizeH="0" baseline="0" noProof="0">
                    <a:ln>
                      <a:noFill/>
                    </a:ln>
                    <a:solidFill>
                      <a:srgbClr val="000000"/>
                    </a:solidFill>
                    <a:effectLst/>
                    <a:uLnTx/>
                    <a:uFillTx/>
                    <a:latin typeface="Segoe Sans Display" pitchFamily="2" charset="0"/>
                    <a:cs typeface="Segoe Sans Display" pitchFamily="2" charset="0"/>
                  </a:rPr>
                  <a:t>Mobile app</a:t>
                </a:r>
              </a:p>
            </p:txBody>
          </p:sp>
          <p:pic>
            <p:nvPicPr>
              <p:cNvPr id="101" name="Graphic 100">
                <a:extLst>
                  <a:ext uri="{FF2B5EF4-FFF2-40B4-BE49-F238E27FC236}">
                    <a16:creationId xmlns:a16="http://schemas.microsoft.com/office/drawing/2014/main" id="{C321E3ED-410E-4C08-94ED-A073A3F9EB3E}"/>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p:blipFill>
            <p:spPr>
              <a:xfrm>
                <a:off x="3266382" y="3134013"/>
                <a:ext cx="368974" cy="368974"/>
              </a:xfrm>
              <a:prstGeom prst="rect">
                <a:avLst/>
              </a:prstGeom>
            </p:spPr>
          </p:pic>
        </p:grpSp>
        <p:grpSp>
          <p:nvGrpSpPr>
            <p:cNvPr id="40" name="Group 39">
              <a:extLst>
                <a:ext uri="{FF2B5EF4-FFF2-40B4-BE49-F238E27FC236}">
                  <a16:creationId xmlns:a16="http://schemas.microsoft.com/office/drawing/2014/main" id="{67CD6B4E-3E25-71D6-7220-22B767784468}"/>
                </a:ext>
              </a:extLst>
            </p:cNvPr>
            <p:cNvGrpSpPr/>
            <p:nvPr/>
          </p:nvGrpSpPr>
          <p:grpSpPr>
            <a:xfrm>
              <a:off x="21147979" y="2186776"/>
              <a:ext cx="1033129" cy="1033126"/>
              <a:chOff x="2934304" y="1676150"/>
              <a:chExt cx="1033129" cy="1033126"/>
            </a:xfrm>
          </p:grpSpPr>
          <p:sp>
            <p:nvSpPr>
              <p:cNvPr id="96" name="Rectangle: Rounded Corners 9">
                <a:extLst>
                  <a:ext uri="{FF2B5EF4-FFF2-40B4-BE49-F238E27FC236}">
                    <a16:creationId xmlns:a16="http://schemas.microsoft.com/office/drawing/2014/main" id="{AF083535-9387-4FD8-C039-AB19D9CA98BA}"/>
                  </a:ext>
                </a:extLst>
              </p:cNvPr>
              <p:cNvSpPr/>
              <p:nvPr/>
            </p:nvSpPr>
            <p:spPr bwMode="auto">
              <a:xfrm>
                <a:off x="2934304" y="1676150"/>
                <a:ext cx="1033127" cy="1033126"/>
              </a:xfrm>
              <a:prstGeom prst="roundRect">
                <a:avLst>
                  <a:gd name="adj" fmla="val 7249"/>
                </a:avLst>
              </a:prstGeom>
              <a:solidFill>
                <a:srgbClr val="FFFFFF">
                  <a:alpha val="75000"/>
                </a:srgbClr>
              </a:solidFill>
              <a:ln w="12700" cap="flat" cmpd="sng" algn="ctr">
                <a:solidFill>
                  <a:srgbClr val="FFFFFF"/>
                </a:solidFill>
                <a:prstDash val="solid"/>
              </a:ln>
              <a:effectLst>
                <a:outerShdw blurRad="190500" dist="25400" dir="2700000" algn="tl" rotWithShape="0">
                  <a:srgbClr val="463668">
                    <a:alpha val="15000"/>
                  </a:srgbClr>
                </a:outerShdw>
              </a:effectLst>
            </p:spPr>
            <p:txBody>
              <a:bodyPr rot="0" spcFirstLastPara="0" vertOverflow="overflow" horzOverflow="overflow" vert="horz" wrap="square" lIns="182880" tIns="91440" rIns="182880" bIns="182880" numCol="1" spcCol="0" rtlCol="0" fromWordArt="0" anchor="t" anchorCtr="0" forceAA="0" compatLnSpc="1">
                <a:prstTxWarp prst="textNoShape">
                  <a:avLst/>
                </a:prstTxWarp>
                <a:noAutofit/>
              </a:bodyPr>
              <a:lstStyle/>
              <a:p>
                <a:pPr algn="ctr">
                  <a:spcBef>
                    <a:spcPts val="900"/>
                  </a:spcBef>
                </a:pPr>
                <a:endParaRPr lang="en-US" sz="2400" b="1">
                  <a:solidFill>
                    <a:srgbClr val="000000"/>
                  </a:solidFill>
                  <a:latin typeface="Segoe UI Semibold"/>
                  <a:cs typeface="Segoe UI Semibold" panose="020B0702040204020203" pitchFamily="34" charset="0"/>
                </a:endParaRPr>
              </a:p>
            </p:txBody>
          </p:sp>
          <p:sp>
            <p:nvSpPr>
              <p:cNvPr id="97" name="TextBox 96">
                <a:extLst>
                  <a:ext uri="{FF2B5EF4-FFF2-40B4-BE49-F238E27FC236}">
                    <a16:creationId xmlns:a16="http://schemas.microsoft.com/office/drawing/2014/main" id="{9492D93E-9AF5-E0F5-A9E7-B9895F4DE556}"/>
                  </a:ext>
                </a:extLst>
              </p:cNvPr>
              <p:cNvSpPr txBox="1"/>
              <p:nvPr/>
            </p:nvSpPr>
            <p:spPr>
              <a:xfrm>
                <a:off x="2934306" y="2359389"/>
                <a:ext cx="1033127" cy="153888"/>
              </a:xfrm>
              <a:prstGeom prst="rect">
                <a:avLst/>
              </a:prstGeom>
              <a:noFill/>
            </p:spPr>
            <p:txBody>
              <a:bodyPr wrap="square" lIns="0" tIns="0" rIns="0" bIns="0" rtlCol="0">
                <a:sp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1000" b="0" i="0" u="none" strike="noStrike" kern="0" cap="none" spc="0" normalizeH="0" baseline="0" noProof="0">
                    <a:ln>
                      <a:noFill/>
                    </a:ln>
                    <a:solidFill>
                      <a:srgbClr val="000000"/>
                    </a:solidFill>
                    <a:effectLst/>
                    <a:uLnTx/>
                    <a:uFillTx/>
                    <a:latin typeface="Segoe Sans Display" pitchFamily="2" charset="0"/>
                    <a:cs typeface="Segoe Sans Display" pitchFamily="2" charset="0"/>
                  </a:rPr>
                  <a:t>Website</a:t>
                </a:r>
              </a:p>
            </p:txBody>
          </p:sp>
          <p:pic>
            <p:nvPicPr>
              <p:cNvPr id="98" name="Graphic 97">
                <a:extLst>
                  <a:ext uri="{FF2B5EF4-FFF2-40B4-BE49-F238E27FC236}">
                    <a16:creationId xmlns:a16="http://schemas.microsoft.com/office/drawing/2014/main" id="{5EB6BBDE-9EDA-9F39-4677-01036D81BF23}"/>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9"/>
                  </a:ext>
                </a:extLst>
              </a:blip>
              <a:stretch>
                <a:fillRect/>
              </a:stretch>
            </p:blipFill>
            <p:spPr>
              <a:xfrm>
                <a:off x="3266383" y="1931084"/>
                <a:ext cx="368974" cy="368974"/>
              </a:xfrm>
              <a:prstGeom prst="rect">
                <a:avLst/>
              </a:prstGeom>
            </p:spPr>
          </p:pic>
        </p:grpSp>
      </p:grpSp>
      <p:grpSp>
        <p:nvGrpSpPr>
          <p:cNvPr id="122" name="Group 121">
            <a:extLst>
              <a:ext uri="{FF2B5EF4-FFF2-40B4-BE49-F238E27FC236}">
                <a16:creationId xmlns:a16="http://schemas.microsoft.com/office/drawing/2014/main" id="{FE8465E4-FBC4-472A-0302-FD9FF812DA1B}"/>
              </a:ext>
            </a:extLst>
          </p:cNvPr>
          <p:cNvGrpSpPr/>
          <p:nvPr/>
        </p:nvGrpSpPr>
        <p:grpSpPr>
          <a:xfrm>
            <a:off x="4998994" y="3461984"/>
            <a:ext cx="6090842" cy="1033126"/>
            <a:chOff x="12296976" y="2186776"/>
            <a:chExt cx="6090842" cy="1033126"/>
          </a:xfrm>
        </p:grpSpPr>
        <p:grpSp>
          <p:nvGrpSpPr>
            <p:cNvPr id="5" name="Group 4">
              <a:extLst>
                <a:ext uri="{FF2B5EF4-FFF2-40B4-BE49-F238E27FC236}">
                  <a16:creationId xmlns:a16="http://schemas.microsoft.com/office/drawing/2014/main" id="{029120C8-407C-EA22-3766-A233C5F3557B}"/>
                </a:ext>
              </a:extLst>
            </p:cNvPr>
            <p:cNvGrpSpPr/>
            <p:nvPr/>
          </p:nvGrpSpPr>
          <p:grpSpPr>
            <a:xfrm>
              <a:off x="16090263" y="2186776"/>
              <a:ext cx="1033126" cy="1033126"/>
              <a:chOff x="4149754" y="4239019"/>
              <a:chExt cx="1033126" cy="1033126"/>
            </a:xfrm>
          </p:grpSpPr>
          <p:sp>
            <p:nvSpPr>
              <p:cNvPr id="32" name="Rectangle: Rounded Corners 35">
                <a:extLst>
                  <a:ext uri="{FF2B5EF4-FFF2-40B4-BE49-F238E27FC236}">
                    <a16:creationId xmlns:a16="http://schemas.microsoft.com/office/drawing/2014/main" id="{912B0205-F39B-C213-14AE-FAA187059ECD}"/>
                  </a:ext>
                </a:extLst>
              </p:cNvPr>
              <p:cNvSpPr/>
              <p:nvPr/>
            </p:nvSpPr>
            <p:spPr bwMode="auto">
              <a:xfrm>
                <a:off x="4149754" y="4239019"/>
                <a:ext cx="1033126" cy="1033126"/>
              </a:xfrm>
              <a:prstGeom prst="roundRect">
                <a:avLst>
                  <a:gd name="adj" fmla="val 7249"/>
                </a:avLst>
              </a:prstGeom>
              <a:solidFill>
                <a:srgbClr val="FFFFFF">
                  <a:alpha val="75000"/>
                </a:srgbClr>
              </a:solidFill>
              <a:ln w="12700" cap="flat" cmpd="sng" algn="ctr">
                <a:solidFill>
                  <a:srgbClr val="FFFFFF"/>
                </a:solidFill>
                <a:prstDash val="solid"/>
              </a:ln>
              <a:effectLst>
                <a:outerShdw blurRad="190500" dist="25400" dir="2700000" algn="tl" rotWithShape="0">
                  <a:srgbClr val="463668">
                    <a:alpha val="15000"/>
                  </a:srgbClr>
                </a:outerShdw>
              </a:effectLst>
            </p:spPr>
            <p:txBody>
              <a:bodyPr rot="0" spcFirstLastPara="0" vertOverflow="overflow" horzOverflow="overflow" vert="horz" wrap="square" lIns="182880" tIns="91440" rIns="182880" bIns="182880" numCol="1" spcCol="0" rtlCol="0" fromWordArt="0" anchor="t" anchorCtr="0" forceAA="0" compatLnSpc="1">
                <a:prstTxWarp prst="textNoShape">
                  <a:avLst/>
                </a:prstTxWarp>
                <a:noAutofit/>
              </a:bodyPr>
              <a:lstStyle/>
              <a:p>
                <a:pPr algn="ctr">
                  <a:spcBef>
                    <a:spcPts val="900"/>
                  </a:spcBef>
                </a:pPr>
                <a:endParaRPr lang="en-US" sz="2400" b="1" err="1">
                  <a:solidFill>
                    <a:srgbClr val="000000"/>
                  </a:solidFill>
                  <a:latin typeface="Segoe UI Semibold"/>
                  <a:cs typeface="Segoe UI Semibold" panose="020B0702040204020203" pitchFamily="34" charset="0"/>
                </a:endParaRPr>
              </a:p>
            </p:txBody>
          </p:sp>
          <p:sp>
            <p:nvSpPr>
              <p:cNvPr id="33" name="TextBox 32">
                <a:extLst>
                  <a:ext uri="{FF2B5EF4-FFF2-40B4-BE49-F238E27FC236}">
                    <a16:creationId xmlns:a16="http://schemas.microsoft.com/office/drawing/2014/main" id="{0C6D2E27-5689-580C-5EF5-477734A11481}"/>
                  </a:ext>
                </a:extLst>
              </p:cNvPr>
              <p:cNvSpPr txBox="1"/>
              <p:nvPr/>
            </p:nvSpPr>
            <p:spPr>
              <a:xfrm>
                <a:off x="4149754" y="4909277"/>
                <a:ext cx="1033126" cy="153888"/>
              </a:xfrm>
              <a:prstGeom prst="rect">
                <a:avLst/>
              </a:prstGeom>
              <a:noFill/>
            </p:spPr>
            <p:txBody>
              <a:bodyPr wrap="square" lIns="0" tIns="0" rIns="0" bIns="0" rtlCol="0">
                <a:sp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1000" b="0" i="0" u="none" strike="noStrike" kern="0" cap="none" spc="0" normalizeH="0" baseline="0" noProof="0">
                    <a:ln>
                      <a:noFill/>
                    </a:ln>
                    <a:solidFill>
                      <a:srgbClr val="000000"/>
                    </a:solidFill>
                    <a:effectLst/>
                    <a:uLnTx/>
                    <a:uFillTx/>
                    <a:latin typeface="Segoe Sans Display" pitchFamily="2" charset="0"/>
                    <a:cs typeface="Segoe Sans Display" pitchFamily="2" charset="0"/>
                  </a:rPr>
                  <a:t>SMS*</a:t>
                </a:r>
              </a:p>
            </p:txBody>
          </p:sp>
          <p:pic>
            <p:nvPicPr>
              <p:cNvPr id="34" name="Graphic 33">
                <a:extLst>
                  <a:ext uri="{FF2B5EF4-FFF2-40B4-BE49-F238E27FC236}">
                    <a16:creationId xmlns:a16="http://schemas.microsoft.com/office/drawing/2014/main" id="{CF66B914-D42C-56DB-5DB5-05B88CE1BF54}"/>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10"/>
                  </a:ext>
                </a:extLst>
              </a:blip>
              <a:stretch>
                <a:fillRect/>
              </a:stretch>
            </p:blipFill>
            <p:spPr>
              <a:xfrm>
                <a:off x="4481830" y="4449289"/>
                <a:ext cx="368974" cy="368974"/>
              </a:xfrm>
              <a:prstGeom prst="rect">
                <a:avLst/>
              </a:prstGeom>
            </p:spPr>
          </p:pic>
        </p:grpSp>
        <p:grpSp>
          <p:nvGrpSpPr>
            <p:cNvPr id="10" name="Group 9">
              <a:extLst>
                <a:ext uri="{FF2B5EF4-FFF2-40B4-BE49-F238E27FC236}">
                  <a16:creationId xmlns:a16="http://schemas.microsoft.com/office/drawing/2014/main" id="{1CE3D074-9D3D-84BE-145C-2567B62D7E58}"/>
                </a:ext>
              </a:extLst>
            </p:cNvPr>
            <p:cNvGrpSpPr/>
            <p:nvPr/>
          </p:nvGrpSpPr>
          <p:grpSpPr>
            <a:xfrm>
              <a:off x="12296976" y="2186776"/>
              <a:ext cx="1033126" cy="1033126"/>
              <a:chOff x="5354432" y="4239019"/>
              <a:chExt cx="1033126" cy="1033126"/>
            </a:xfrm>
          </p:grpSpPr>
          <p:sp>
            <p:nvSpPr>
              <p:cNvPr id="25" name="Rectangle: Rounded Corners 40">
                <a:extLst>
                  <a:ext uri="{FF2B5EF4-FFF2-40B4-BE49-F238E27FC236}">
                    <a16:creationId xmlns:a16="http://schemas.microsoft.com/office/drawing/2014/main" id="{C28289B9-3F93-ACC2-449C-4CD5D7CEF8F0}"/>
                  </a:ext>
                </a:extLst>
              </p:cNvPr>
              <p:cNvSpPr/>
              <p:nvPr/>
            </p:nvSpPr>
            <p:spPr bwMode="auto">
              <a:xfrm>
                <a:off x="5354432" y="4239019"/>
                <a:ext cx="1033126" cy="1033126"/>
              </a:xfrm>
              <a:prstGeom prst="roundRect">
                <a:avLst>
                  <a:gd name="adj" fmla="val 7249"/>
                </a:avLst>
              </a:prstGeom>
              <a:solidFill>
                <a:srgbClr val="FFFFFF">
                  <a:alpha val="75000"/>
                </a:srgbClr>
              </a:solidFill>
              <a:ln w="12700" cap="flat" cmpd="sng" algn="ctr">
                <a:solidFill>
                  <a:srgbClr val="FFFFFF"/>
                </a:solidFill>
                <a:prstDash val="solid"/>
              </a:ln>
              <a:effectLst>
                <a:outerShdw blurRad="190500" dist="25400" dir="2700000" algn="tl" rotWithShape="0">
                  <a:srgbClr val="463668">
                    <a:alpha val="15000"/>
                  </a:srgbClr>
                </a:outerShdw>
              </a:effectLst>
            </p:spPr>
            <p:txBody>
              <a:bodyPr rot="0" spcFirstLastPara="0" vertOverflow="overflow" horzOverflow="overflow" vert="horz" wrap="square" lIns="182880" tIns="91440" rIns="182880" bIns="182880" numCol="1" spcCol="0" rtlCol="0" fromWordArt="0" anchor="t" anchorCtr="0" forceAA="0" compatLnSpc="1">
                <a:prstTxWarp prst="textNoShape">
                  <a:avLst/>
                </a:prstTxWarp>
                <a:noAutofit/>
              </a:bodyPr>
              <a:lstStyle/>
              <a:p>
                <a:pPr algn="ctr">
                  <a:spcBef>
                    <a:spcPts val="900"/>
                  </a:spcBef>
                </a:pPr>
                <a:endParaRPr lang="en-US" sz="2400" b="1" err="1">
                  <a:solidFill>
                    <a:srgbClr val="000000"/>
                  </a:solidFill>
                  <a:latin typeface="Segoe UI Semibold"/>
                  <a:cs typeface="Segoe UI Semibold" panose="020B0702040204020203" pitchFamily="34" charset="0"/>
                </a:endParaRPr>
              </a:p>
            </p:txBody>
          </p:sp>
          <p:sp>
            <p:nvSpPr>
              <p:cNvPr id="26" name="TextBox 25">
                <a:extLst>
                  <a:ext uri="{FF2B5EF4-FFF2-40B4-BE49-F238E27FC236}">
                    <a16:creationId xmlns:a16="http://schemas.microsoft.com/office/drawing/2014/main" id="{6CD12D7F-E40E-C059-D2A6-DDB5FE3BC371}"/>
                  </a:ext>
                </a:extLst>
              </p:cNvPr>
              <p:cNvSpPr txBox="1"/>
              <p:nvPr/>
            </p:nvSpPr>
            <p:spPr>
              <a:xfrm>
                <a:off x="5354432" y="4909277"/>
                <a:ext cx="1033126" cy="153888"/>
              </a:xfrm>
              <a:prstGeom prst="rect">
                <a:avLst/>
              </a:prstGeom>
              <a:noFill/>
            </p:spPr>
            <p:txBody>
              <a:bodyPr wrap="square" lIns="0" tIns="0" rIns="0" bIns="0" rtlCol="0">
                <a:sp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1000" b="0" i="0" u="none" strike="noStrike" kern="0" cap="none" spc="0" normalizeH="0" baseline="0" noProof="0">
                    <a:ln>
                      <a:noFill/>
                    </a:ln>
                    <a:solidFill>
                      <a:srgbClr val="000000"/>
                    </a:solidFill>
                    <a:effectLst/>
                    <a:uLnTx/>
                    <a:uFillTx/>
                    <a:latin typeface="Segoe Sans Display" pitchFamily="2" charset="0"/>
                    <a:cs typeface="Segoe Sans Display" pitchFamily="2" charset="0"/>
                  </a:rPr>
                  <a:t>Telegram</a:t>
                </a:r>
              </a:p>
            </p:txBody>
          </p:sp>
          <p:pic>
            <p:nvPicPr>
              <p:cNvPr id="28" name="Picture 27" descr="A blue circle with a white triangle in it&#10;&#10;AI-generated content may be incorrect.">
                <a:extLst>
                  <a:ext uri="{FF2B5EF4-FFF2-40B4-BE49-F238E27FC236}">
                    <a16:creationId xmlns:a16="http://schemas.microsoft.com/office/drawing/2014/main" id="{1DC63DD6-F96D-2206-4C09-B1651425923D}"/>
                  </a:ext>
                </a:extLst>
              </p:cNvPr>
              <p:cNvPicPr>
                <a:picLocks noChangeAspect="1"/>
              </p:cNvPicPr>
              <p:nvPr/>
            </p:nvPicPr>
            <p:blipFill>
              <a:blip r:embed="rId11">
                <a:extLst>
                  <a:ext uri="{28A0092B-C50C-407E-A947-70E740481C1C}">
                    <a14:useLocalDpi xmlns:a14="http://schemas.microsoft.com/office/drawing/2010/main" val="0"/>
                  </a:ext>
                </a:extLst>
              </a:blip>
              <a:stretch>
                <a:fillRect/>
              </a:stretch>
            </p:blipFill>
            <p:spPr>
              <a:xfrm>
                <a:off x="5694832" y="4457613"/>
                <a:ext cx="352326" cy="352326"/>
              </a:xfrm>
              <a:prstGeom prst="rect">
                <a:avLst/>
              </a:prstGeom>
            </p:spPr>
          </p:pic>
        </p:grpSp>
        <p:grpSp>
          <p:nvGrpSpPr>
            <p:cNvPr id="41" name="Group 40">
              <a:extLst>
                <a:ext uri="{FF2B5EF4-FFF2-40B4-BE49-F238E27FC236}">
                  <a16:creationId xmlns:a16="http://schemas.microsoft.com/office/drawing/2014/main" id="{266DC7D5-39A8-029E-9B25-02C09D5E9B07}"/>
                </a:ext>
              </a:extLst>
            </p:cNvPr>
            <p:cNvGrpSpPr/>
            <p:nvPr/>
          </p:nvGrpSpPr>
          <p:grpSpPr>
            <a:xfrm>
              <a:off x="14825834" y="2186776"/>
              <a:ext cx="1033126" cy="1033126"/>
              <a:chOff x="6567458" y="1690215"/>
              <a:chExt cx="1033126" cy="1033126"/>
            </a:xfrm>
          </p:grpSpPr>
          <p:sp>
            <p:nvSpPr>
              <p:cNvPr id="93" name="Rectangle: Rounded Corners 14">
                <a:extLst>
                  <a:ext uri="{FF2B5EF4-FFF2-40B4-BE49-F238E27FC236}">
                    <a16:creationId xmlns:a16="http://schemas.microsoft.com/office/drawing/2014/main" id="{DB18BF71-D66E-C257-4520-93FF1818E2B4}"/>
                  </a:ext>
                </a:extLst>
              </p:cNvPr>
              <p:cNvSpPr/>
              <p:nvPr/>
            </p:nvSpPr>
            <p:spPr bwMode="auto">
              <a:xfrm>
                <a:off x="6567458" y="1690215"/>
                <a:ext cx="1033126" cy="1033126"/>
              </a:xfrm>
              <a:prstGeom prst="roundRect">
                <a:avLst>
                  <a:gd name="adj" fmla="val 7249"/>
                </a:avLst>
              </a:prstGeom>
              <a:solidFill>
                <a:srgbClr val="FFFFFF">
                  <a:alpha val="75000"/>
                </a:srgbClr>
              </a:solidFill>
              <a:ln w="12700" cap="flat" cmpd="sng" algn="ctr">
                <a:solidFill>
                  <a:srgbClr val="FFFFFF"/>
                </a:solidFill>
                <a:prstDash val="solid"/>
              </a:ln>
              <a:effectLst>
                <a:outerShdw blurRad="190500" dist="25400" dir="2700000" algn="tl" rotWithShape="0">
                  <a:srgbClr val="463668">
                    <a:alpha val="15000"/>
                  </a:srgbClr>
                </a:outerShdw>
              </a:effectLst>
            </p:spPr>
            <p:txBody>
              <a:bodyPr rot="0" spcFirstLastPara="0" vertOverflow="overflow" horzOverflow="overflow" vert="horz" wrap="square" lIns="182880" tIns="91440" rIns="182880" bIns="182880" numCol="1" spcCol="0" rtlCol="0" fromWordArt="0" anchor="t" anchorCtr="0" forceAA="0" compatLnSpc="1">
                <a:prstTxWarp prst="textNoShape">
                  <a:avLst/>
                </a:prstTxWarp>
                <a:noAutofit/>
              </a:bodyPr>
              <a:lstStyle/>
              <a:p>
                <a:pPr algn="ctr">
                  <a:spcBef>
                    <a:spcPts val="900"/>
                  </a:spcBef>
                </a:pPr>
                <a:endParaRPr lang="en-US" sz="2400" b="1" err="1">
                  <a:solidFill>
                    <a:srgbClr val="000000"/>
                  </a:solidFill>
                  <a:latin typeface="Segoe UI Semibold"/>
                  <a:cs typeface="Segoe UI Semibold" panose="020B0702040204020203" pitchFamily="34" charset="0"/>
                </a:endParaRPr>
              </a:p>
            </p:txBody>
          </p:sp>
          <p:sp>
            <p:nvSpPr>
              <p:cNvPr id="94" name="TextBox 93">
                <a:extLst>
                  <a:ext uri="{FF2B5EF4-FFF2-40B4-BE49-F238E27FC236}">
                    <a16:creationId xmlns:a16="http://schemas.microsoft.com/office/drawing/2014/main" id="{497D5C33-2F49-D377-B867-9050838A8FC2}"/>
                  </a:ext>
                </a:extLst>
              </p:cNvPr>
              <p:cNvSpPr txBox="1"/>
              <p:nvPr/>
            </p:nvSpPr>
            <p:spPr>
              <a:xfrm>
                <a:off x="6567458" y="2359389"/>
                <a:ext cx="1033126" cy="153888"/>
              </a:xfrm>
              <a:prstGeom prst="rect">
                <a:avLst/>
              </a:prstGeom>
              <a:noFill/>
            </p:spPr>
            <p:txBody>
              <a:bodyPr wrap="square" lIns="0" tIns="0" rIns="0" bIns="0" rtlCol="0">
                <a:sp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1000" b="0" i="0" u="none" strike="noStrike" kern="0" cap="none" spc="0" normalizeH="0" baseline="0" noProof="0">
                    <a:ln>
                      <a:noFill/>
                    </a:ln>
                    <a:solidFill>
                      <a:srgbClr val="000000"/>
                    </a:solidFill>
                    <a:effectLst/>
                    <a:uLnTx/>
                    <a:uFillTx/>
                    <a:latin typeface="Segoe Sans Display" pitchFamily="2" charset="0"/>
                    <a:cs typeface="Segoe Sans Display" pitchFamily="2" charset="0"/>
                  </a:rPr>
                  <a:t>Facebook</a:t>
                </a:r>
              </a:p>
            </p:txBody>
          </p:sp>
          <p:pic>
            <p:nvPicPr>
              <p:cNvPr id="95" name="Picture 94">
                <a:extLst>
                  <a:ext uri="{FF2B5EF4-FFF2-40B4-BE49-F238E27FC236}">
                    <a16:creationId xmlns:a16="http://schemas.microsoft.com/office/drawing/2014/main" id="{4FFEBC81-53DE-D150-EDC8-132AD7E692BC}"/>
                  </a:ext>
                </a:extLst>
              </p:cNvPr>
              <p:cNvPicPr>
                <a:picLocks noChangeAspect="1"/>
              </p:cNvPicPr>
              <p:nvPr/>
            </p:nvPicPr>
            <p:blipFill>
              <a:blip r:embed="rId12" cstate="print">
                <a:extLst>
                  <a:ext uri="{28A0092B-C50C-407E-A947-70E740481C1C}">
                    <a14:useLocalDpi xmlns:a14="http://schemas.microsoft.com/office/drawing/2010/main" val="0"/>
                  </a:ext>
                </a:extLst>
              </a:blip>
              <a:stretch>
                <a:fillRect/>
              </a:stretch>
            </p:blipFill>
            <p:spPr>
              <a:xfrm>
                <a:off x="6920288" y="1920820"/>
                <a:ext cx="327467" cy="327467"/>
              </a:xfrm>
              <a:prstGeom prst="rect">
                <a:avLst/>
              </a:prstGeom>
            </p:spPr>
          </p:pic>
        </p:grpSp>
        <p:grpSp>
          <p:nvGrpSpPr>
            <p:cNvPr id="44" name="Group 43">
              <a:extLst>
                <a:ext uri="{FF2B5EF4-FFF2-40B4-BE49-F238E27FC236}">
                  <a16:creationId xmlns:a16="http://schemas.microsoft.com/office/drawing/2014/main" id="{DF2042E2-EB25-F44B-AF23-ACDE688F8BB5}"/>
                </a:ext>
              </a:extLst>
            </p:cNvPr>
            <p:cNvGrpSpPr/>
            <p:nvPr/>
          </p:nvGrpSpPr>
          <p:grpSpPr>
            <a:xfrm>
              <a:off x="13561405" y="2186776"/>
              <a:ext cx="1033126" cy="1033126"/>
              <a:chOff x="5348994" y="1690215"/>
              <a:chExt cx="1033126" cy="1033126"/>
            </a:xfrm>
          </p:grpSpPr>
          <p:sp>
            <p:nvSpPr>
              <p:cNvPr id="84" name="Rectangle: Rounded Corners 25">
                <a:extLst>
                  <a:ext uri="{FF2B5EF4-FFF2-40B4-BE49-F238E27FC236}">
                    <a16:creationId xmlns:a16="http://schemas.microsoft.com/office/drawing/2014/main" id="{B4FDAB1C-64DE-C558-1AA7-46FCC76A22F9}"/>
                  </a:ext>
                </a:extLst>
              </p:cNvPr>
              <p:cNvSpPr/>
              <p:nvPr/>
            </p:nvSpPr>
            <p:spPr bwMode="auto">
              <a:xfrm>
                <a:off x="5348994" y="1690215"/>
                <a:ext cx="1033126" cy="1033126"/>
              </a:xfrm>
              <a:prstGeom prst="roundRect">
                <a:avLst>
                  <a:gd name="adj" fmla="val 7249"/>
                </a:avLst>
              </a:prstGeom>
              <a:solidFill>
                <a:srgbClr val="FFFFFF">
                  <a:alpha val="75000"/>
                </a:srgbClr>
              </a:solidFill>
              <a:ln w="12700" cap="flat" cmpd="sng" algn="ctr">
                <a:solidFill>
                  <a:srgbClr val="FFFFFF"/>
                </a:solidFill>
                <a:prstDash val="solid"/>
              </a:ln>
              <a:effectLst>
                <a:outerShdw blurRad="190500" dist="25400" dir="2700000" algn="tl" rotWithShape="0">
                  <a:srgbClr val="463668">
                    <a:alpha val="15000"/>
                  </a:srgbClr>
                </a:outerShdw>
              </a:effectLst>
            </p:spPr>
            <p:txBody>
              <a:bodyPr rot="0" spcFirstLastPara="0" vertOverflow="overflow" horzOverflow="overflow" vert="horz" wrap="square" lIns="182880" tIns="91440" rIns="182880" bIns="182880" numCol="1" spcCol="0" rtlCol="0" fromWordArt="0" anchor="t" anchorCtr="0" forceAA="0" compatLnSpc="1">
                <a:prstTxWarp prst="textNoShape">
                  <a:avLst/>
                </a:prstTxWarp>
                <a:noAutofit/>
              </a:bodyPr>
              <a:lstStyle/>
              <a:p>
                <a:pPr algn="ctr">
                  <a:spcBef>
                    <a:spcPts val="900"/>
                  </a:spcBef>
                </a:pPr>
                <a:endParaRPr lang="en-US" sz="2400" b="1" err="1">
                  <a:solidFill>
                    <a:srgbClr val="000000"/>
                  </a:solidFill>
                  <a:latin typeface="Segoe UI Semibold"/>
                  <a:cs typeface="Segoe UI Semibold" panose="020B0702040204020203" pitchFamily="34" charset="0"/>
                </a:endParaRPr>
              </a:p>
            </p:txBody>
          </p:sp>
          <p:sp>
            <p:nvSpPr>
              <p:cNvPr id="85" name="TextBox 84">
                <a:extLst>
                  <a:ext uri="{FF2B5EF4-FFF2-40B4-BE49-F238E27FC236}">
                    <a16:creationId xmlns:a16="http://schemas.microsoft.com/office/drawing/2014/main" id="{4845557B-252F-82B5-CBE0-6BA29FB54264}"/>
                  </a:ext>
                </a:extLst>
              </p:cNvPr>
              <p:cNvSpPr txBox="1"/>
              <p:nvPr/>
            </p:nvSpPr>
            <p:spPr>
              <a:xfrm>
                <a:off x="5348994" y="2359389"/>
                <a:ext cx="1033126" cy="153888"/>
              </a:xfrm>
              <a:prstGeom prst="rect">
                <a:avLst/>
              </a:prstGeom>
              <a:noFill/>
            </p:spPr>
            <p:txBody>
              <a:bodyPr wrap="square" lIns="0" tIns="0" rIns="0" bIns="0" rtlCol="0">
                <a:sp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1000" b="0" i="0" u="none" strike="noStrike" kern="0" cap="none" spc="0" normalizeH="0" baseline="0" noProof="0">
                    <a:ln>
                      <a:noFill/>
                    </a:ln>
                    <a:solidFill>
                      <a:srgbClr val="000000"/>
                    </a:solidFill>
                    <a:effectLst/>
                    <a:uLnTx/>
                    <a:uFillTx/>
                    <a:latin typeface="Segoe Sans Display" pitchFamily="2" charset="0"/>
                    <a:cs typeface="Segoe Sans Display" pitchFamily="2" charset="0"/>
                  </a:rPr>
                  <a:t>WhatsApp</a:t>
                </a:r>
              </a:p>
            </p:txBody>
          </p:sp>
          <p:pic>
            <p:nvPicPr>
              <p:cNvPr id="86" name="Picture 4" descr="undefined">
                <a:extLst>
                  <a:ext uri="{FF2B5EF4-FFF2-40B4-BE49-F238E27FC236}">
                    <a16:creationId xmlns:a16="http://schemas.microsoft.com/office/drawing/2014/main" id="{6ED7A193-3DC9-46B1-9F80-4D733166863B}"/>
                  </a:ext>
                </a:extLst>
              </p:cNvPr>
              <p:cNvPicPr>
                <a:picLocks noChangeAspect="1" noChangeArrowheads="1"/>
              </p:cNvPicPr>
              <p:nvPr/>
            </p:nvPicPr>
            <p:blipFill>
              <a:blip r:embed="rId13" cstate="print">
                <a:extLst>
                  <a:ext uri="{28A0092B-C50C-407E-A947-70E740481C1C}">
                    <a14:useLocalDpi xmlns:a14="http://schemas.microsoft.com/office/drawing/2010/main" val="0"/>
                  </a:ext>
                </a:extLst>
              </a:blip>
              <a:srcRect/>
              <a:stretch>
                <a:fillRect/>
              </a:stretch>
            </p:blipFill>
            <p:spPr bwMode="auto">
              <a:xfrm>
                <a:off x="5662067" y="1890707"/>
                <a:ext cx="406981" cy="409351"/>
              </a:xfrm>
              <a:prstGeom prst="rect">
                <a:avLst/>
              </a:prstGeom>
              <a:noFill/>
              <a:extLst>
                <a:ext uri="{909E8E84-426E-40DD-AFC4-6F175D3DCCD1}">
                  <a14:hiddenFill xmlns:a14="http://schemas.microsoft.com/office/drawing/2010/main">
                    <a:solidFill>
                      <a:srgbClr val="FFFFFF"/>
                    </a:solidFill>
                  </a14:hiddenFill>
                </a:ext>
              </a:extLst>
            </p:spPr>
          </p:pic>
        </p:grpSp>
        <p:grpSp>
          <p:nvGrpSpPr>
            <p:cNvPr id="49" name="Group 48">
              <a:extLst>
                <a:ext uri="{FF2B5EF4-FFF2-40B4-BE49-F238E27FC236}">
                  <a16:creationId xmlns:a16="http://schemas.microsoft.com/office/drawing/2014/main" id="{8613D3C9-3801-C115-055B-639EC4FDCFB9}"/>
                </a:ext>
              </a:extLst>
            </p:cNvPr>
            <p:cNvGrpSpPr/>
            <p:nvPr/>
          </p:nvGrpSpPr>
          <p:grpSpPr>
            <a:xfrm>
              <a:off x="17354692" y="2186776"/>
              <a:ext cx="1033126" cy="1033126"/>
              <a:chOff x="6575878" y="2945705"/>
              <a:chExt cx="1033126" cy="1033126"/>
            </a:xfrm>
          </p:grpSpPr>
          <p:sp>
            <p:nvSpPr>
              <p:cNvPr id="69" name="Rectangle: Rounded Corners 38">
                <a:extLst>
                  <a:ext uri="{FF2B5EF4-FFF2-40B4-BE49-F238E27FC236}">
                    <a16:creationId xmlns:a16="http://schemas.microsoft.com/office/drawing/2014/main" id="{A55A0E7E-4F77-17AB-C6CF-AF8FA95D3EFE}"/>
                  </a:ext>
                </a:extLst>
              </p:cNvPr>
              <p:cNvSpPr/>
              <p:nvPr/>
            </p:nvSpPr>
            <p:spPr bwMode="auto">
              <a:xfrm>
                <a:off x="6575878" y="2945705"/>
                <a:ext cx="1033126" cy="1033126"/>
              </a:xfrm>
              <a:prstGeom prst="roundRect">
                <a:avLst>
                  <a:gd name="adj" fmla="val 7249"/>
                </a:avLst>
              </a:prstGeom>
              <a:solidFill>
                <a:srgbClr val="FFFFFF">
                  <a:alpha val="75000"/>
                </a:srgbClr>
              </a:solidFill>
              <a:ln w="12700" cap="flat" cmpd="sng" algn="ctr">
                <a:solidFill>
                  <a:srgbClr val="FFFFFF"/>
                </a:solidFill>
                <a:prstDash val="solid"/>
              </a:ln>
              <a:effectLst>
                <a:outerShdw blurRad="190500" dist="25400" dir="2700000" algn="tl" rotWithShape="0">
                  <a:srgbClr val="463668">
                    <a:alpha val="15000"/>
                  </a:srgbClr>
                </a:outerShdw>
              </a:effectLst>
            </p:spPr>
            <p:txBody>
              <a:bodyPr rot="0" spcFirstLastPara="0" vertOverflow="overflow" horzOverflow="overflow" vert="horz" wrap="square" lIns="182880" tIns="91440" rIns="182880" bIns="182880" numCol="1" spcCol="0" rtlCol="0" fromWordArt="0" anchor="t" anchorCtr="0" forceAA="0" compatLnSpc="1">
                <a:prstTxWarp prst="textNoShape">
                  <a:avLst/>
                </a:prstTxWarp>
                <a:noAutofit/>
              </a:bodyPr>
              <a:lstStyle/>
              <a:p>
                <a:pPr algn="ctr">
                  <a:spcBef>
                    <a:spcPts val="900"/>
                  </a:spcBef>
                </a:pPr>
                <a:endParaRPr lang="en-US" sz="2400" b="1" err="1">
                  <a:solidFill>
                    <a:srgbClr val="000000"/>
                  </a:solidFill>
                  <a:latin typeface="Segoe UI Semibold"/>
                  <a:cs typeface="Segoe UI Semibold" panose="020B0702040204020203" pitchFamily="34" charset="0"/>
                </a:endParaRPr>
              </a:p>
            </p:txBody>
          </p:sp>
          <p:sp>
            <p:nvSpPr>
              <p:cNvPr id="70" name="TextBox 69">
                <a:extLst>
                  <a:ext uri="{FF2B5EF4-FFF2-40B4-BE49-F238E27FC236}">
                    <a16:creationId xmlns:a16="http://schemas.microsoft.com/office/drawing/2014/main" id="{0F1689AA-DED4-32A7-86BE-9D99677D607B}"/>
                  </a:ext>
                </a:extLst>
              </p:cNvPr>
              <p:cNvSpPr txBox="1"/>
              <p:nvPr/>
            </p:nvSpPr>
            <p:spPr>
              <a:xfrm>
                <a:off x="6575878" y="3615963"/>
                <a:ext cx="1033126" cy="153888"/>
              </a:xfrm>
              <a:prstGeom prst="rect">
                <a:avLst/>
              </a:prstGeom>
              <a:noFill/>
            </p:spPr>
            <p:txBody>
              <a:bodyPr wrap="square" lIns="0" tIns="0" rIns="0" bIns="0" rtlCol="0">
                <a:sp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1000" b="0" i="0" u="none" strike="noStrike" kern="0" cap="none" spc="0" normalizeH="0" baseline="0" noProof="0">
                    <a:ln>
                      <a:noFill/>
                    </a:ln>
                    <a:solidFill>
                      <a:srgbClr val="000000"/>
                    </a:solidFill>
                    <a:effectLst/>
                    <a:uLnTx/>
                    <a:uFillTx/>
                    <a:latin typeface="Segoe Sans Display" pitchFamily="2" charset="0"/>
                    <a:cs typeface="Segoe Sans Display" pitchFamily="2" charset="0"/>
                  </a:rPr>
                  <a:t>GroupMe</a:t>
                </a:r>
              </a:p>
            </p:txBody>
          </p:sp>
          <p:pic>
            <p:nvPicPr>
              <p:cNvPr id="71" name="Picture 70" descr="A blue square with a white face and a hashtag&#10;&#10;AI-generated content may be incorrect.">
                <a:extLst>
                  <a:ext uri="{FF2B5EF4-FFF2-40B4-BE49-F238E27FC236}">
                    <a16:creationId xmlns:a16="http://schemas.microsoft.com/office/drawing/2014/main" id="{B8D47CB0-51F5-1431-6A5F-03B988A066A3}"/>
                  </a:ext>
                </a:extLst>
              </p:cNvPr>
              <p:cNvPicPr>
                <a:picLocks noChangeAspect="1"/>
              </p:cNvPicPr>
              <p:nvPr/>
            </p:nvPicPr>
            <p:blipFill>
              <a:blip r:embed="rId14">
                <a:extLst>
                  <a:ext uri="{28A0092B-C50C-407E-A947-70E740481C1C}">
                    <a14:useLocalDpi xmlns:a14="http://schemas.microsoft.com/office/drawing/2010/main" val="0"/>
                  </a:ext>
                </a:extLst>
              </a:blip>
              <a:stretch>
                <a:fillRect/>
              </a:stretch>
            </p:blipFill>
            <p:spPr>
              <a:xfrm>
                <a:off x="6914089" y="3140148"/>
                <a:ext cx="356705" cy="356705"/>
              </a:xfrm>
              <a:prstGeom prst="rect">
                <a:avLst/>
              </a:prstGeom>
            </p:spPr>
          </p:pic>
        </p:grpSp>
      </p:grpSp>
      <p:grpSp>
        <p:nvGrpSpPr>
          <p:cNvPr id="119" name="Group 118">
            <a:extLst>
              <a:ext uri="{FF2B5EF4-FFF2-40B4-BE49-F238E27FC236}">
                <a16:creationId xmlns:a16="http://schemas.microsoft.com/office/drawing/2014/main" id="{596DA3B9-5CB9-135E-9118-80D20BEAE178}"/>
              </a:ext>
            </a:extLst>
          </p:cNvPr>
          <p:cNvGrpSpPr/>
          <p:nvPr/>
        </p:nvGrpSpPr>
        <p:grpSpPr>
          <a:xfrm>
            <a:off x="1311266" y="3461984"/>
            <a:ext cx="2297557" cy="1033126"/>
            <a:chOff x="897745" y="2186776"/>
            <a:chExt cx="2297557" cy="1033126"/>
          </a:xfrm>
        </p:grpSpPr>
        <p:grpSp>
          <p:nvGrpSpPr>
            <p:cNvPr id="8" name="Group 7">
              <a:extLst>
                <a:ext uri="{FF2B5EF4-FFF2-40B4-BE49-F238E27FC236}">
                  <a16:creationId xmlns:a16="http://schemas.microsoft.com/office/drawing/2014/main" id="{8DD35977-ABCC-BCBE-A1C3-05D6C5B54189}"/>
                </a:ext>
              </a:extLst>
            </p:cNvPr>
            <p:cNvGrpSpPr/>
            <p:nvPr/>
          </p:nvGrpSpPr>
          <p:grpSpPr>
            <a:xfrm>
              <a:off x="897745" y="2186776"/>
              <a:ext cx="1033128" cy="1033126"/>
              <a:chOff x="2929635" y="5515043"/>
              <a:chExt cx="1033128" cy="1033126"/>
            </a:xfrm>
          </p:grpSpPr>
          <p:sp>
            <p:nvSpPr>
              <p:cNvPr id="29" name="Rectangle: Rounded Corners 12">
                <a:extLst>
                  <a:ext uri="{FF2B5EF4-FFF2-40B4-BE49-F238E27FC236}">
                    <a16:creationId xmlns:a16="http://schemas.microsoft.com/office/drawing/2014/main" id="{21DC63C7-B2DF-7F94-2125-CD45FA97872D}"/>
                  </a:ext>
                </a:extLst>
              </p:cNvPr>
              <p:cNvSpPr/>
              <p:nvPr/>
            </p:nvSpPr>
            <p:spPr bwMode="auto">
              <a:xfrm>
                <a:off x="2929636" y="5515043"/>
                <a:ext cx="1033127" cy="1033126"/>
              </a:xfrm>
              <a:prstGeom prst="roundRect">
                <a:avLst>
                  <a:gd name="adj" fmla="val 7249"/>
                </a:avLst>
              </a:prstGeom>
              <a:solidFill>
                <a:srgbClr val="FFFFFF">
                  <a:alpha val="75000"/>
                </a:srgbClr>
              </a:solidFill>
              <a:ln w="12700" cap="flat" cmpd="sng" algn="ctr">
                <a:solidFill>
                  <a:srgbClr val="FFFFFF"/>
                </a:solidFill>
                <a:prstDash val="solid"/>
              </a:ln>
              <a:effectLst>
                <a:outerShdw blurRad="190500" dist="25400" dir="2700000" algn="tl" rotWithShape="0">
                  <a:srgbClr val="463668">
                    <a:alpha val="15000"/>
                  </a:srgbClr>
                </a:outerShdw>
              </a:effectLst>
            </p:spPr>
            <p:txBody>
              <a:bodyPr rot="0" spcFirstLastPara="0" vertOverflow="overflow" horzOverflow="overflow" vert="horz" wrap="square" lIns="182880" tIns="91440" rIns="182880" bIns="182880" numCol="1" spcCol="0" rtlCol="0" fromWordArt="0" anchor="t" anchorCtr="0" forceAA="0" compatLnSpc="1">
                <a:prstTxWarp prst="textNoShape">
                  <a:avLst/>
                </a:prstTxWarp>
                <a:noAutofit/>
              </a:bodyPr>
              <a:lstStyle/>
              <a:p>
                <a:pPr algn="ctr">
                  <a:spcBef>
                    <a:spcPts val="900"/>
                  </a:spcBef>
                </a:pPr>
                <a:endParaRPr lang="en-US" sz="2400" b="1">
                  <a:solidFill>
                    <a:srgbClr val="000000"/>
                  </a:solidFill>
                  <a:latin typeface="Segoe UI Semibold"/>
                  <a:cs typeface="Segoe UI Semibold" panose="020B0702040204020203" pitchFamily="34" charset="0"/>
                </a:endParaRPr>
              </a:p>
            </p:txBody>
          </p:sp>
          <p:sp>
            <p:nvSpPr>
              <p:cNvPr id="30" name="TextBox 29">
                <a:extLst>
                  <a:ext uri="{FF2B5EF4-FFF2-40B4-BE49-F238E27FC236}">
                    <a16:creationId xmlns:a16="http://schemas.microsoft.com/office/drawing/2014/main" id="{E4FE5F98-444D-6420-37F3-D1EF2BBAEA43}"/>
                  </a:ext>
                </a:extLst>
              </p:cNvPr>
              <p:cNvSpPr txBox="1"/>
              <p:nvPr/>
            </p:nvSpPr>
            <p:spPr>
              <a:xfrm>
                <a:off x="2929635" y="6109065"/>
                <a:ext cx="1033126" cy="323486"/>
              </a:xfrm>
              <a:prstGeom prst="rect">
                <a:avLst/>
              </a:prstGeom>
              <a:noFill/>
            </p:spPr>
            <p:txBody>
              <a:bodyPr wrap="square" lIns="0" tIns="0" rIns="0" bIns="0" rtlCol="0">
                <a:spAutoFit/>
              </a:bodyPr>
              <a:lstStyle/>
              <a:p>
                <a:pPr marL="0" marR="0" lvl="0" indent="0" algn="ctr" defTabSz="914400" eaLnBrk="1" fontAlgn="auto" latinLnBrk="0" hangingPunct="1">
                  <a:lnSpc>
                    <a:spcPct val="110000"/>
                  </a:lnSpc>
                  <a:spcBef>
                    <a:spcPts val="0"/>
                  </a:spcBef>
                  <a:spcAft>
                    <a:spcPts val="0"/>
                  </a:spcAft>
                  <a:buClrTx/>
                  <a:buSzTx/>
                  <a:buFontTx/>
                  <a:buNone/>
                  <a:tabLst/>
                  <a:defRPr/>
                </a:pPr>
                <a:r>
                  <a:rPr kumimoji="0" lang="en-US" sz="1000" b="0" i="0" u="none" strike="noStrike" kern="0" cap="none" spc="0" normalizeH="0" baseline="0" noProof="0">
                    <a:ln>
                      <a:noFill/>
                    </a:ln>
                    <a:solidFill>
                      <a:srgbClr val="000000"/>
                    </a:solidFill>
                    <a:effectLst/>
                    <a:uLnTx/>
                    <a:uFillTx/>
                    <a:latin typeface="Segoe Sans Display" pitchFamily="2" charset="0"/>
                    <a:cs typeface="Segoe Sans Display" pitchFamily="2" charset="0"/>
                  </a:rPr>
                  <a:t>Microsoft </a:t>
                </a:r>
                <a:br>
                  <a:rPr kumimoji="0" lang="en-US" sz="1000" b="0" i="0" u="none" strike="noStrike" kern="0" cap="none" spc="0" normalizeH="0" baseline="0" noProof="0">
                    <a:ln>
                      <a:noFill/>
                    </a:ln>
                    <a:solidFill>
                      <a:srgbClr val="000000"/>
                    </a:solidFill>
                    <a:effectLst/>
                    <a:uLnTx/>
                    <a:uFillTx/>
                    <a:latin typeface="Segoe Sans Display" pitchFamily="2" charset="0"/>
                    <a:cs typeface="Segoe Sans Display" pitchFamily="2" charset="0"/>
                  </a:rPr>
                </a:br>
                <a:r>
                  <a:rPr kumimoji="0" lang="en-US" sz="1000" b="0" i="0" u="none" strike="noStrike" kern="0" cap="none" spc="0" normalizeH="0" baseline="0" noProof="0">
                    <a:ln>
                      <a:noFill/>
                    </a:ln>
                    <a:solidFill>
                      <a:srgbClr val="000000"/>
                    </a:solidFill>
                    <a:effectLst/>
                    <a:uLnTx/>
                    <a:uFillTx/>
                    <a:latin typeface="Segoe Sans Display" pitchFamily="2" charset="0"/>
                    <a:cs typeface="Segoe Sans Display" pitchFamily="2" charset="0"/>
                  </a:rPr>
                  <a:t>365 Copilot</a:t>
                </a:r>
              </a:p>
            </p:txBody>
          </p:sp>
          <p:pic>
            <p:nvPicPr>
              <p:cNvPr id="31" name="Picture 30" descr="A rainbow colored logo on a black background&#10;&#10;AI-generated content may be incorrect.">
                <a:extLst>
                  <a:ext uri="{FF2B5EF4-FFF2-40B4-BE49-F238E27FC236}">
                    <a16:creationId xmlns:a16="http://schemas.microsoft.com/office/drawing/2014/main" id="{F3D32304-F778-273F-0265-1497C0434E45}"/>
                  </a:ext>
                </a:extLst>
              </p:cNvPr>
              <p:cNvPicPr>
                <a:picLocks noChangeAspect="1"/>
              </p:cNvPicPr>
              <p:nvPr/>
            </p:nvPicPr>
            <p:blipFill>
              <a:blip r:embed="rId15">
                <a:extLst>
                  <a:ext uri="{28A0092B-C50C-407E-A947-70E740481C1C}">
                    <a14:useLocalDpi xmlns:a14="http://schemas.microsoft.com/office/drawing/2010/main" val="0"/>
                  </a:ext>
                </a:extLst>
              </a:blip>
              <a:stretch>
                <a:fillRect/>
              </a:stretch>
            </p:blipFill>
            <p:spPr>
              <a:xfrm>
                <a:off x="3184807" y="5750221"/>
                <a:ext cx="542063" cy="304911"/>
              </a:xfrm>
              <a:prstGeom prst="rect">
                <a:avLst/>
              </a:prstGeom>
            </p:spPr>
          </p:pic>
        </p:grpSp>
        <p:grpSp>
          <p:nvGrpSpPr>
            <p:cNvPr id="51" name="Group 50">
              <a:extLst>
                <a:ext uri="{FF2B5EF4-FFF2-40B4-BE49-F238E27FC236}">
                  <a16:creationId xmlns:a16="http://schemas.microsoft.com/office/drawing/2014/main" id="{71627690-FAEF-BDA7-97F8-F55493472489}"/>
                </a:ext>
              </a:extLst>
            </p:cNvPr>
            <p:cNvGrpSpPr/>
            <p:nvPr/>
          </p:nvGrpSpPr>
          <p:grpSpPr>
            <a:xfrm>
              <a:off x="2162176" y="2186776"/>
              <a:ext cx="1033126" cy="1033126"/>
              <a:chOff x="7822836" y="5534180"/>
              <a:chExt cx="1033126" cy="1033126"/>
            </a:xfrm>
          </p:grpSpPr>
          <p:sp>
            <p:nvSpPr>
              <p:cNvPr id="57" name="Rectangle: Rounded Corners 50">
                <a:extLst>
                  <a:ext uri="{FF2B5EF4-FFF2-40B4-BE49-F238E27FC236}">
                    <a16:creationId xmlns:a16="http://schemas.microsoft.com/office/drawing/2014/main" id="{5FE4C71F-454E-7DD0-A7D8-6E43A1B64D1B}"/>
                  </a:ext>
                </a:extLst>
              </p:cNvPr>
              <p:cNvSpPr/>
              <p:nvPr/>
            </p:nvSpPr>
            <p:spPr bwMode="auto">
              <a:xfrm>
                <a:off x="7822836" y="5534180"/>
                <a:ext cx="1033126" cy="1033126"/>
              </a:xfrm>
              <a:prstGeom prst="roundRect">
                <a:avLst>
                  <a:gd name="adj" fmla="val 7249"/>
                </a:avLst>
              </a:prstGeom>
              <a:solidFill>
                <a:srgbClr val="FFFFFF">
                  <a:alpha val="75000"/>
                </a:srgbClr>
              </a:solidFill>
              <a:ln w="12700" cap="flat" cmpd="sng" algn="ctr">
                <a:solidFill>
                  <a:srgbClr val="FFFFFF"/>
                </a:solidFill>
                <a:prstDash val="solid"/>
              </a:ln>
              <a:effectLst>
                <a:outerShdw blurRad="190500" dist="25400" dir="2700000" algn="tl" rotWithShape="0">
                  <a:srgbClr val="463668">
                    <a:alpha val="15000"/>
                  </a:srgbClr>
                </a:outerShdw>
              </a:effectLst>
            </p:spPr>
            <p:txBody>
              <a:bodyPr rot="0" spcFirstLastPara="0" vertOverflow="overflow" horzOverflow="overflow" vert="horz" wrap="square" lIns="182880" tIns="91440" rIns="182880" bIns="182880" numCol="1" spcCol="0" rtlCol="0" fromWordArt="0" anchor="t" anchorCtr="0" forceAA="0" compatLnSpc="1">
                <a:prstTxWarp prst="textNoShape">
                  <a:avLst/>
                </a:prstTxWarp>
                <a:noAutofit/>
              </a:bodyPr>
              <a:lstStyle/>
              <a:p>
                <a:pPr algn="ctr">
                  <a:spcBef>
                    <a:spcPts val="900"/>
                  </a:spcBef>
                </a:pPr>
                <a:endParaRPr lang="en-US" sz="2400" b="1" err="1">
                  <a:solidFill>
                    <a:srgbClr val="000000"/>
                  </a:solidFill>
                  <a:latin typeface="Segoe UI Semibold"/>
                  <a:cs typeface="Segoe UI Semibold" panose="020B0702040204020203" pitchFamily="34" charset="0"/>
                </a:endParaRPr>
              </a:p>
            </p:txBody>
          </p:sp>
          <p:sp>
            <p:nvSpPr>
              <p:cNvPr id="59" name="TextBox 58">
                <a:extLst>
                  <a:ext uri="{FF2B5EF4-FFF2-40B4-BE49-F238E27FC236}">
                    <a16:creationId xmlns:a16="http://schemas.microsoft.com/office/drawing/2014/main" id="{E51DBC1A-9DEA-B8B5-56E1-9B4190D4CCE1}"/>
                  </a:ext>
                </a:extLst>
              </p:cNvPr>
              <p:cNvSpPr txBox="1"/>
              <p:nvPr/>
            </p:nvSpPr>
            <p:spPr>
              <a:xfrm>
                <a:off x="7822836" y="6204438"/>
                <a:ext cx="1033126" cy="153888"/>
              </a:xfrm>
              <a:prstGeom prst="rect">
                <a:avLst/>
              </a:prstGeom>
              <a:noFill/>
            </p:spPr>
            <p:txBody>
              <a:bodyPr wrap="square" lIns="0" tIns="0" rIns="0" bIns="0" rtlCol="0">
                <a:sp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1000" b="0" i="0" u="none" strike="noStrike" kern="0" cap="none" spc="0" normalizeH="0" baseline="0" noProof="0">
                    <a:ln>
                      <a:noFill/>
                    </a:ln>
                    <a:solidFill>
                      <a:srgbClr val="000000"/>
                    </a:solidFill>
                    <a:effectLst/>
                    <a:uLnTx/>
                    <a:uFillTx/>
                    <a:latin typeface="Segoe Sans Display" pitchFamily="2" charset="0"/>
                    <a:cs typeface="Segoe Sans Display" pitchFamily="2" charset="0"/>
                  </a:rPr>
                  <a:t>Power Pages</a:t>
                </a:r>
              </a:p>
            </p:txBody>
          </p:sp>
          <p:pic>
            <p:nvPicPr>
              <p:cNvPr id="64" name="Picture 63" descr="A close up of a logo&#10;&#10;AI-generated content may be incorrect.">
                <a:extLst>
                  <a:ext uri="{FF2B5EF4-FFF2-40B4-BE49-F238E27FC236}">
                    <a16:creationId xmlns:a16="http://schemas.microsoft.com/office/drawing/2014/main" id="{382CF828-18D9-B134-103F-8B10545049BA}"/>
                  </a:ext>
                </a:extLst>
              </p:cNvPr>
              <p:cNvPicPr>
                <a:picLocks noChangeAspect="1"/>
              </p:cNvPicPr>
              <p:nvPr/>
            </p:nvPicPr>
            <p:blipFill>
              <a:blip r:embed="rId16">
                <a:extLst>
                  <a:ext uri="{28A0092B-C50C-407E-A947-70E740481C1C}">
                    <a14:useLocalDpi xmlns:a14="http://schemas.microsoft.com/office/drawing/2010/main" val="0"/>
                  </a:ext>
                </a:extLst>
              </a:blip>
              <a:stretch>
                <a:fillRect/>
              </a:stretch>
            </p:blipFill>
            <p:spPr>
              <a:xfrm>
                <a:off x="8143819" y="5707096"/>
                <a:ext cx="391160" cy="391160"/>
              </a:xfrm>
              <a:prstGeom prst="rect">
                <a:avLst/>
              </a:prstGeom>
            </p:spPr>
          </p:pic>
        </p:grpSp>
      </p:grpSp>
      <p:grpSp>
        <p:nvGrpSpPr>
          <p:cNvPr id="121" name="Group 120">
            <a:extLst>
              <a:ext uri="{FF2B5EF4-FFF2-40B4-BE49-F238E27FC236}">
                <a16:creationId xmlns:a16="http://schemas.microsoft.com/office/drawing/2014/main" id="{C2F14931-0268-6BC3-B196-E4AAE3ADB27C}"/>
              </a:ext>
            </a:extLst>
          </p:cNvPr>
          <p:cNvGrpSpPr/>
          <p:nvPr/>
        </p:nvGrpSpPr>
        <p:grpSpPr>
          <a:xfrm>
            <a:off x="5006137" y="4673056"/>
            <a:ext cx="6089904" cy="1033126"/>
            <a:chOff x="5974831" y="2186776"/>
            <a:chExt cx="6090842" cy="1033126"/>
          </a:xfrm>
        </p:grpSpPr>
        <p:grpSp>
          <p:nvGrpSpPr>
            <p:cNvPr id="48" name="Group 47">
              <a:extLst>
                <a:ext uri="{FF2B5EF4-FFF2-40B4-BE49-F238E27FC236}">
                  <a16:creationId xmlns:a16="http://schemas.microsoft.com/office/drawing/2014/main" id="{8E5E16E4-97FD-B1C1-A22C-F31BBB51B51E}"/>
                </a:ext>
              </a:extLst>
            </p:cNvPr>
            <p:cNvGrpSpPr/>
            <p:nvPr/>
          </p:nvGrpSpPr>
          <p:grpSpPr>
            <a:xfrm>
              <a:off x="11032547" y="2186776"/>
              <a:ext cx="1033126" cy="1033126"/>
              <a:chOff x="6589990" y="5519960"/>
              <a:chExt cx="1033126" cy="1033126"/>
            </a:xfrm>
          </p:grpSpPr>
          <p:sp>
            <p:nvSpPr>
              <p:cNvPr id="72" name="Rectangle: Rounded Corners 48">
                <a:extLst>
                  <a:ext uri="{FF2B5EF4-FFF2-40B4-BE49-F238E27FC236}">
                    <a16:creationId xmlns:a16="http://schemas.microsoft.com/office/drawing/2014/main" id="{DA6896C7-C577-3C89-5C94-310398E94106}"/>
                  </a:ext>
                </a:extLst>
              </p:cNvPr>
              <p:cNvSpPr/>
              <p:nvPr/>
            </p:nvSpPr>
            <p:spPr bwMode="auto">
              <a:xfrm>
                <a:off x="6589990" y="5519960"/>
                <a:ext cx="1033126" cy="1033126"/>
              </a:xfrm>
              <a:prstGeom prst="roundRect">
                <a:avLst>
                  <a:gd name="adj" fmla="val 7249"/>
                </a:avLst>
              </a:prstGeom>
              <a:solidFill>
                <a:srgbClr val="FFFFFF">
                  <a:alpha val="75000"/>
                </a:srgbClr>
              </a:solidFill>
              <a:ln w="12700" cap="flat" cmpd="sng" algn="ctr">
                <a:solidFill>
                  <a:srgbClr val="FFFFFF"/>
                </a:solidFill>
                <a:prstDash val="solid"/>
              </a:ln>
              <a:effectLst>
                <a:outerShdw blurRad="190500" dist="25400" dir="2700000" algn="tl" rotWithShape="0">
                  <a:srgbClr val="463668">
                    <a:alpha val="15000"/>
                  </a:srgbClr>
                </a:outerShdw>
              </a:effectLst>
            </p:spPr>
            <p:txBody>
              <a:bodyPr rot="0" spcFirstLastPara="0" vertOverflow="overflow" horzOverflow="overflow" vert="horz" wrap="square" lIns="182880" tIns="91440" rIns="182880" bIns="182880" numCol="1" spcCol="0" rtlCol="0" fromWordArt="0" anchor="t" anchorCtr="0" forceAA="0" compatLnSpc="1">
                <a:prstTxWarp prst="textNoShape">
                  <a:avLst/>
                </a:prstTxWarp>
                <a:noAutofit/>
              </a:bodyPr>
              <a:lstStyle/>
              <a:p>
                <a:pPr algn="ctr">
                  <a:spcBef>
                    <a:spcPts val="900"/>
                  </a:spcBef>
                </a:pPr>
                <a:endParaRPr lang="en-US" sz="2400" b="1" err="1">
                  <a:solidFill>
                    <a:srgbClr val="000000"/>
                  </a:solidFill>
                  <a:latin typeface="Segoe UI Semibold"/>
                  <a:cs typeface="Segoe UI Semibold" panose="020B0702040204020203" pitchFamily="34" charset="0"/>
                </a:endParaRPr>
              </a:p>
            </p:txBody>
          </p:sp>
          <p:sp>
            <p:nvSpPr>
              <p:cNvPr id="73" name="TextBox 72">
                <a:extLst>
                  <a:ext uri="{FF2B5EF4-FFF2-40B4-BE49-F238E27FC236}">
                    <a16:creationId xmlns:a16="http://schemas.microsoft.com/office/drawing/2014/main" id="{4A9E089A-3F0D-3263-BAF7-BAD38CA9A6CC}"/>
                  </a:ext>
                </a:extLst>
              </p:cNvPr>
              <p:cNvSpPr txBox="1"/>
              <p:nvPr/>
            </p:nvSpPr>
            <p:spPr>
              <a:xfrm>
                <a:off x="6589990" y="6190218"/>
                <a:ext cx="1033126" cy="153888"/>
              </a:xfrm>
              <a:prstGeom prst="rect">
                <a:avLst/>
              </a:prstGeom>
              <a:noFill/>
            </p:spPr>
            <p:txBody>
              <a:bodyPr wrap="square" lIns="0" tIns="0" rIns="0" bIns="0" rtlCol="0">
                <a:sp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1000" b="0" i="0" u="none" strike="noStrike" kern="0" cap="none" spc="0" normalizeH="0" baseline="0" noProof="0">
                    <a:ln>
                      <a:noFill/>
                    </a:ln>
                    <a:solidFill>
                      <a:srgbClr val="000000"/>
                    </a:solidFill>
                    <a:effectLst/>
                    <a:uLnTx/>
                    <a:uFillTx/>
                    <a:latin typeface="Segoe Sans Display" pitchFamily="2" charset="0"/>
                    <a:cs typeface="Segoe Sans Display" pitchFamily="2" charset="0"/>
                  </a:rPr>
                  <a:t>Twilio</a:t>
                </a:r>
              </a:p>
            </p:txBody>
          </p:sp>
          <p:pic>
            <p:nvPicPr>
              <p:cNvPr id="74" name="Picture 73" descr="A red text on a black background&#10;&#10;AI-generated content may be incorrect.">
                <a:extLst>
                  <a:ext uri="{FF2B5EF4-FFF2-40B4-BE49-F238E27FC236}">
                    <a16:creationId xmlns:a16="http://schemas.microsoft.com/office/drawing/2014/main" id="{0909B7E7-27CE-3121-1EB9-B957195ADA00}"/>
                  </a:ext>
                </a:extLst>
              </p:cNvPr>
              <p:cNvPicPr>
                <a:picLocks noChangeAspect="1"/>
              </p:cNvPicPr>
              <p:nvPr/>
            </p:nvPicPr>
            <p:blipFill>
              <a:blip r:embed="rId17">
                <a:extLst>
                  <a:ext uri="{28A0092B-C50C-407E-A947-70E740481C1C}">
                    <a14:useLocalDpi xmlns:a14="http://schemas.microsoft.com/office/drawing/2010/main" val="0"/>
                  </a:ext>
                </a:extLst>
              </a:blip>
              <a:srcRect/>
              <a:stretch>
                <a:fillRect/>
              </a:stretch>
            </p:blipFill>
            <p:spPr>
              <a:xfrm>
                <a:off x="6897745" y="5711054"/>
                <a:ext cx="389391" cy="383245"/>
              </a:xfrm>
              <a:prstGeom prst="rect">
                <a:avLst/>
              </a:prstGeom>
            </p:spPr>
          </p:pic>
        </p:grpSp>
        <p:grpSp>
          <p:nvGrpSpPr>
            <p:cNvPr id="43" name="Group 42">
              <a:extLst>
                <a:ext uri="{FF2B5EF4-FFF2-40B4-BE49-F238E27FC236}">
                  <a16:creationId xmlns:a16="http://schemas.microsoft.com/office/drawing/2014/main" id="{0E8E1229-DF31-3B95-95AA-F01602A57335}"/>
                </a:ext>
              </a:extLst>
            </p:cNvPr>
            <p:cNvGrpSpPr/>
            <p:nvPr/>
          </p:nvGrpSpPr>
          <p:grpSpPr>
            <a:xfrm>
              <a:off x="7239260" y="2186776"/>
              <a:ext cx="1033126" cy="1033126"/>
              <a:chOff x="7773518" y="2945705"/>
              <a:chExt cx="1033126" cy="1033126"/>
            </a:xfrm>
          </p:grpSpPr>
          <p:sp>
            <p:nvSpPr>
              <p:cNvPr id="87" name="Rectangle: Rounded Corners 20">
                <a:extLst>
                  <a:ext uri="{FF2B5EF4-FFF2-40B4-BE49-F238E27FC236}">
                    <a16:creationId xmlns:a16="http://schemas.microsoft.com/office/drawing/2014/main" id="{13BA2BE6-E67E-520E-E697-F6611EE3B88C}"/>
                  </a:ext>
                </a:extLst>
              </p:cNvPr>
              <p:cNvSpPr/>
              <p:nvPr/>
            </p:nvSpPr>
            <p:spPr bwMode="auto">
              <a:xfrm>
                <a:off x="7773518" y="2945705"/>
                <a:ext cx="1033126" cy="1033126"/>
              </a:xfrm>
              <a:prstGeom prst="roundRect">
                <a:avLst>
                  <a:gd name="adj" fmla="val 7249"/>
                </a:avLst>
              </a:prstGeom>
              <a:solidFill>
                <a:srgbClr val="FFFFFF">
                  <a:alpha val="75000"/>
                </a:srgbClr>
              </a:solidFill>
              <a:ln w="12700" cap="flat" cmpd="sng" algn="ctr">
                <a:solidFill>
                  <a:srgbClr val="FFFFFF"/>
                </a:solidFill>
                <a:prstDash val="solid"/>
              </a:ln>
              <a:effectLst>
                <a:outerShdw blurRad="190500" dist="25400" dir="2700000" algn="tl" rotWithShape="0">
                  <a:srgbClr val="463668">
                    <a:alpha val="15000"/>
                  </a:srgbClr>
                </a:outerShdw>
              </a:effectLst>
            </p:spPr>
            <p:txBody>
              <a:bodyPr rot="0" spcFirstLastPara="0" vertOverflow="overflow" horzOverflow="overflow" vert="horz" wrap="square" lIns="182880" tIns="91440" rIns="182880" bIns="182880" numCol="1" spcCol="0" rtlCol="0" fromWordArt="0" anchor="t" anchorCtr="0" forceAA="0" compatLnSpc="1">
                <a:prstTxWarp prst="textNoShape">
                  <a:avLst/>
                </a:prstTxWarp>
                <a:noAutofit/>
              </a:bodyPr>
              <a:lstStyle/>
              <a:p>
                <a:pPr algn="ctr">
                  <a:spcBef>
                    <a:spcPts val="900"/>
                  </a:spcBef>
                </a:pPr>
                <a:endParaRPr lang="en-US" sz="2400" b="1" err="1">
                  <a:solidFill>
                    <a:srgbClr val="000000"/>
                  </a:solidFill>
                  <a:latin typeface="Segoe UI Semibold"/>
                  <a:cs typeface="Segoe UI Semibold" panose="020B0702040204020203" pitchFamily="34" charset="0"/>
                </a:endParaRPr>
              </a:p>
            </p:txBody>
          </p:sp>
          <p:sp>
            <p:nvSpPr>
              <p:cNvPr id="88" name="TextBox 87">
                <a:extLst>
                  <a:ext uri="{FF2B5EF4-FFF2-40B4-BE49-F238E27FC236}">
                    <a16:creationId xmlns:a16="http://schemas.microsoft.com/office/drawing/2014/main" id="{238B1F6B-8D4E-A7E6-BC8D-9AD5EDBABD24}"/>
                  </a:ext>
                </a:extLst>
              </p:cNvPr>
              <p:cNvSpPr txBox="1"/>
              <p:nvPr/>
            </p:nvSpPr>
            <p:spPr>
              <a:xfrm>
                <a:off x="7773518" y="3539727"/>
                <a:ext cx="1033126" cy="323486"/>
              </a:xfrm>
              <a:prstGeom prst="rect">
                <a:avLst/>
              </a:prstGeom>
              <a:noFill/>
            </p:spPr>
            <p:txBody>
              <a:bodyPr wrap="square" lIns="0" tIns="0" rIns="0" bIns="0" rtlCol="0">
                <a:spAutoFit/>
              </a:bodyPr>
              <a:lstStyle/>
              <a:p>
                <a:pPr marL="0" marR="0" lvl="0" indent="0" algn="ctr" defTabSz="914400" eaLnBrk="1" fontAlgn="auto" latinLnBrk="0" hangingPunct="1">
                  <a:lnSpc>
                    <a:spcPct val="110000"/>
                  </a:lnSpc>
                  <a:spcBef>
                    <a:spcPts val="0"/>
                  </a:spcBef>
                  <a:spcAft>
                    <a:spcPts val="0"/>
                  </a:spcAft>
                  <a:buClrTx/>
                  <a:buSzTx/>
                  <a:buFontTx/>
                  <a:buNone/>
                  <a:tabLst/>
                  <a:defRPr/>
                </a:pPr>
                <a:r>
                  <a:rPr kumimoji="0" lang="en-US" sz="1000" b="0" i="0" u="none" strike="noStrike" kern="0" cap="none" spc="0" normalizeH="0" baseline="0" noProof="0">
                    <a:ln>
                      <a:noFill/>
                    </a:ln>
                    <a:solidFill>
                      <a:srgbClr val="000000"/>
                    </a:solidFill>
                    <a:effectLst/>
                    <a:uLnTx/>
                    <a:uFillTx/>
                    <a:latin typeface="Segoe Sans Display" pitchFamily="2" charset="0"/>
                    <a:cs typeface="Segoe Sans Display" pitchFamily="2" charset="0"/>
                  </a:rPr>
                  <a:t>Apple Messages </a:t>
                </a:r>
                <a:br>
                  <a:rPr kumimoji="0" lang="en-US" sz="1000" b="0" i="0" u="none" strike="noStrike" kern="0" cap="none" spc="0" normalizeH="0" baseline="0" noProof="0">
                    <a:ln>
                      <a:noFill/>
                    </a:ln>
                    <a:solidFill>
                      <a:srgbClr val="000000"/>
                    </a:solidFill>
                    <a:effectLst/>
                    <a:uLnTx/>
                    <a:uFillTx/>
                    <a:latin typeface="Segoe Sans Display" pitchFamily="2" charset="0"/>
                    <a:cs typeface="Segoe Sans Display" pitchFamily="2" charset="0"/>
                  </a:rPr>
                </a:br>
                <a:r>
                  <a:rPr kumimoji="0" lang="en-US" sz="1000" b="0" i="0" u="none" strike="noStrike" kern="0" cap="none" spc="0" normalizeH="0" baseline="0" noProof="0">
                    <a:ln>
                      <a:noFill/>
                    </a:ln>
                    <a:solidFill>
                      <a:srgbClr val="000000"/>
                    </a:solidFill>
                    <a:effectLst/>
                    <a:uLnTx/>
                    <a:uFillTx/>
                    <a:latin typeface="Segoe Sans Display" pitchFamily="2" charset="0"/>
                    <a:cs typeface="Segoe Sans Display" pitchFamily="2" charset="0"/>
                  </a:rPr>
                  <a:t>for Business</a:t>
                </a:r>
              </a:p>
            </p:txBody>
          </p:sp>
          <p:pic>
            <p:nvPicPr>
              <p:cNvPr id="89" name="Picture 28">
                <a:extLst>
                  <a:ext uri="{FF2B5EF4-FFF2-40B4-BE49-F238E27FC236}">
                    <a16:creationId xmlns:a16="http://schemas.microsoft.com/office/drawing/2014/main" id="{C6DF0F04-CD09-FA86-EB5F-DEDF2AEB9936}"/>
                  </a:ext>
                </a:extLst>
              </p:cNvPr>
              <p:cNvPicPr>
                <a:picLocks noChangeAspect="1" noChangeArrowheads="1"/>
              </p:cNvPicPr>
              <p:nvPr/>
            </p:nvPicPr>
            <p:blipFill>
              <a:blip r:embed="rId18" cstate="print">
                <a:extLst>
                  <a:ext uri="{28A0092B-C50C-407E-A947-70E740481C1C}">
                    <a14:useLocalDpi xmlns:a14="http://schemas.microsoft.com/office/drawing/2010/main" val="0"/>
                  </a:ext>
                </a:extLst>
              </a:blip>
              <a:srcRect/>
              <a:stretch>
                <a:fillRect/>
              </a:stretch>
            </p:blipFill>
            <p:spPr bwMode="auto">
              <a:xfrm>
                <a:off x="8139929" y="3087713"/>
                <a:ext cx="300303" cy="368974"/>
              </a:xfrm>
              <a:prstGeom prst="rect">
                <a:avLst/>
              </a:prstGeom>
              <a:noFill/>
              <a:extLst>
                <a:ext uri="{909E8E84-426E-40DD-AFC4-6F175D3DCCD1}">
                  <a14:hiddenFill xmlns:a14="http://schemas.microsoft.com/office/drawing/2010/main">
                    <a:solidFill>
                      <a:srgbClr val="FFFFFF"/>
                    </a:solidFill>
                  </a14:hiddenFill>
                </a:ext>
              </a:extLst>
            </p:spPr>
          </p:pic>
        </p:grpSp>
        <p:grpSp>
          <p:nvGrpSpPr>
            <p:cNvPr id="45" name="Group 44">
              <a:extLst>
                <a:ext uri="{FF2B5EF4-FFF2-40B4-BE49-F238E27FC236}">
                  <a16:creationId xmlns:a16="http://schemas.microsoft.com/office/drawing/2014/main" id="{950D9E06-B8E1-358F-1EE4-6D9FF79CCA0F}"/>
                </a:ext>
              </a:extLst>
            </p:cNvPr>
            <p:cNvGrpSpPr/>
            <p:nvPr/>
          </p:nvGrpSpPr>
          <p:grpSpPr>
            <a:xfrm>
              <a:off x="5974831" y="2186776"/>
              <a:ext cx="1033126" cy="1033126"/>
              <a:chOff x="4152771" y="2945706"/>
              <a:chExt cx="1033126" cy="1033126"/>
            </a:xfrm>
          </p:grpSpPr>
          <p:sp>
            <p:nvSpPr>
              <p:cNvPr id="81" name="Rectangle: Rounded Corners 32">
                <a:extLst>
                  <a:ext uri="{FF2B5EF4-FFF2-40B4-BE49-F238E27FC236}">
                    <a16:creationId xmlns:a16="http://schemas.microsoft.com/office/drawing/2014/main" id="{EC384861-86F9-6731-7286-A4FE9CF3DB5A}"/>
                  </a:ext>
                </a:extLst>
              </p:cNvPr>
              <p:cNvSpPr/>
              <p:nvPr/>
            </p:nvSpPr>
            <p:spPr bwMode="auto">
              <a:xfrm>
                <a:off x="4152771" y="2945706"/>
                <a:ext cx="1033126" cy="1033126"/>
              </a:xfrm>
              <a:prstGeom prst="roundRect">
                <a:avLst>
                  <a:gd name="adj" fmla="val 7249"/>
                </a:avLst>
              </a:prstGeom>
              <a:solidFill>
                <a:srgbClr val="FFFFFF">
                  <a:alpha val="75000"/>
                </a:srgbClr>
              </a:solidFill>
              <a:ln w="12700" cap="flat" cmpd="sng" algn="ctr">
                <a:solidFill>
                  <a:srgbClr val="FFFFFF"/>
                </a:solidFill>
                <a:prstDash val="solid"/>
              </a:ln>
              <a:effectLst>
                <a:outerShdw blurRad="190500" dist="25400" dir="2700000" algn="tl" rotWithShape="0">
                  <a:srgbClr val="463668">
                    <a:alpha val="15000"/>
                  </a:srgbClr>
                </a:outerShdw>
              </a:effectLst>
            </p:spPr>
            <p:txBody>
              <a:bodyPr rot="0" spcFirstLastPara="0" vertOverflow="overflow" horzOverflow="overflow" vert="horz" wrap="square" lIns="182880" tIns="91440" rIns="182880" bIns="182880" numCol="1" spcCol="0" rtlCol="0" fromWordArt="0" anchor="t" anchorCtr="0" forceAA="0" compatLnSpc="1">
                <a:prstTxWarp prst="textNoShape">
                  <a:avLst/>
                </a:prstTxWarp>
                <a:noAutofit/>
              </a:bodyPr>
              <a:lstStyle/>
              <a:p>
                <a:pPr algn="ctr">
                  <a:spcBef>
                    <a:spcPts val="900"/>
                  </a:spcBef>
                </a:pPr>
                <a:endParaRPr lang="en-US" sz="2400" b="1" err="1">
                  <a:solidFill>
                    <a:srgbClr val="000000"/>
                  </a:solidFill>
                  <a:latin typeface="Segoe UI Semibold"/>
                  <a:cs typeface="Segoe UI Semibold" panose="020B0702040204020203" pitchFamily="34" charset="0"/>
                </a:endParaRPr>
              </a:p>
            </p:txBody>
          </p:sp>
          <p:sp>
            <p:nvSpPr>
              <p:cNvPr id="82" name="TextBox 81">
                <a:extLst>
                  <a:ext uri="{FF2B5EF4-FFF2-40B4-BE49-F238E27FC236}">
                    <a16:creationId xmlns:a16="http://schemas.microsoft.com/office/drawing/2014/main" id="{4BB476E8-F162-EF4A-6CCA-6C1BC392F243}"/>
                  </a:ext>
                </a:extLst>
              </p:cNvPr>
              <p:cNvSpPr txBox="1"/>
              <p:nvPr/>
            </p:nvSpPr>
            <p:spPr>
              <a:xfrm>
                <a:off x="4152771" y="3615964"/>
                <a:ext cx="1033126" cy="153888"/>
              </a:xfrm>
              <a:prstGeom prst="rect">
                <a:avLst/>
              </a:prstGeom>
              <a:noFill/>
            </p:spPr>
            <p:txBody>
              <a:bodyPr wrap="square" lIns="0" tIns="0" rIns="0" bIns="0" rtlCol="0">
                <a:sp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1000" b="0" i="0" u="none" strike="noStrike" kern="0" cap="none" spc="0" normalizeH="0" baseline="0" noProof="0">
                    <a:ln>
                      <a:noFill/>
                    </a:ln>
                    <a:solidFill>
                      <a:srgbClr val="000000"/>
                    </a:solidFill>
                    <a:effectLst/>
                    <a:uLnTx/>
                    <a:uFillTx/>
                    <a:latin typeface="Segoe Sans Display" pitchFamily="2" charset="0"/>
                    <a:cs typeface="Segoe Sans Display" pitchFamily="2" charset="0"/>
                  </a:rPr>
                  <a:t>Line</a:t>
                </a:r>
              </a:p>
            </p:txBody>
          </p:sp>
          <p:pic>
            <p:nvPicPr>
              <p:cNvPr id="83" name="Picture 2">
                <a:extLst>
                  <a:ext uri="{FF2B5EF4-FFF2-40B4-BE49-F238E27FC236}">
                    <a16:creationId xmlns:a16="http://schemas.microsoft.com/office/drawing/2014/main" id="{D4AE23AD-3B43-4991-0644-61F2F55900EF}"/>
                  </a:ext>
                </a:extLst>
              </p:cNvPr>
              <p:cNvPicPr>
                <a:picLocks noChangeAspect="1" noChangeArrowheads="1"/>
              </p:cNvPicPr>
              <p:nvPr/>
            </p:nvPicPr>
            <p:blipFill>
              <a:blip r:embed="rId19" cstate="print">
                <a:extLst>
                  <a:ext uri="{28A0092B-C50C-407E-A947-70E740481C1C}">
                    <a14:useLocalDpi xmlns:a14="http://schemas.microsoft.com/office/drawing/2010/main" val="0"/>
                  </a:ext>
                </a:extLst>
              </a:blip>
              <a:srcRect/>
              <a:stretch>
                <a:fillRect/>
              </a:stretch>
            </p:blipFill>
            <p:spPr bwMode="auto">
              <a:xfrm>
                <a:off x="4484847" y="3134013"/>
                <a:ext cx="368974" cy="368974"/>
              </a:xfrm>
              <a:prstGeom prst="rect">
                <a:avLst/>
              </a:prstGeom>
              <a:noFill/>
              <a:extLst>
                <a:ext uri="{909E8E84-426E-40DD-AFC4-6F175D3DCCD1}">
                  <a14:hiddenFill xmlns:a14="http://schemas.microsoft.com/office/drawing/2010/main">
                    <a:solidFill>
                      <a:srgbClr val="FFFFFF"/>
                    </a:solidFill>
                  </a14:hiddenFill>
                </a:ext>
              </a:extLst>
            </p:spPr>
          </p:pic>
        </p:grpSp>
        <p:grpSp>
          <p:nvGrpSpPr>
            <p:cNvPr id="50" name="Group 49">
              <a:extLst>
                <a:ext uri="{FF2B5EF4-FFF2-40B4-BE49-F238E27FC236}">
                  <a16:creationId xmlns:a16="http://schemas.microsoft.com/office/drawing/2014/main" id="{4C5AA24F-4823-E716-D803-3A273A8519EF}"/>
                </a:ext>
              </a:extLst>
            </p:cNvPr>
            <p:cNvGrpSpPr/>
            <p:nvPr/>
          </p:nvGrpSpPr>
          <p:grpSpPr>
            <a:xfrm>
              <a:off x="9768118" y="2186776"/>
              <a:ext cx="1033126" cy="1033126"/>
              <a:chOff x="5348993" y="5528603"/>
              <a:chExt cx="1033126" cy="1033126"/>
            </a:xfrm>
          </p:grpSpPr>
          <p:sp>
            <p:nvSpPr>
              <p:cNvPr id="65" name="Rectangle: Rounded Corners 46">
                <a:extLst>
                  <a:ext uri="{FF2B5EF4-FFF2-40B4-BE49-F238E27FC236}">
                    <a16:creationId xmlns:a16="http://schemas.microsoft.com/office/drawing/2014/main" id="{D914D0CF-5B98-83C2-C8E1-2B6449E7D874}"/>
                  </a:ext>
                </a:extLst>
              </p:cNvPr>
              <p:cNvSpPr/>
              <p:nvPr/>
            </p:nvSpPr>
            <p:spPr bwMode="auto">
              <a:xfrm>
                <a:off x="5348993" y="5528603"/>
                <a:ext cx="1033126" cy="1033126"/>
              </a:xfrm>
              <a:prstGeom prst="roundRect">
                <a:avLst>
                  <a:gd name="adj" fmla="val 7249"/>
                </a:avLst>
              </a:prstGeom>
              <a:solidFill>
                <a:srgbClr val="FFFFFF">
                  <a:alpha val="75000"/>
                </a:srgbClr>
              </a:solidFill>
              <a:ln w="12700" cap="flat" cmpd="sng" algn="ctr">
                <a:solidFill>
                  <a:srgbClr val="FFFFFF"/>
                </a:solidFill>
                <a:prstDash val="solid"/>
              </a:ln>
              <a:effectLst>
                <a:outerShdw blurRad="190500" dist="25400" dir="2700000" algn="tl" rotWithShape="0">
                  <a:srgbClr val="463668">
                    <a:alpha val="15000"/>
                  </a:srgbClr>
                </a:outerShdw>
              </a:effectLst>
            </p:spPr>
            <p:txBody>
              <a:bodyPr rot="0" spcFirstLastPara="0" vertOverflow="overflow" horzOverflow="overflow" vert="horz" wrap="square" lIns="182880" tIns="91440" rIns="182880" bIns="182880" numCol="1" spcCol="0" rtlCol="0" fromWordArt="0" anchor="t" anchorCtr="0" forceAA="0" compatLnSpc="1">
                <a:prstTxWarp prst="textNoShape">
                  <a:avLst/>
                </a:prstTxWarp>
                <a:noAutofit/>
              </a:bodyPr>
              <a:lstStyle/>
              <a:p>
                <a:pPr algn="ctr">
                  <a:spcBef>
                    <a:spcPts val="900"/>
                  </a:spcBef>
                </a:pPr>
                <a:endParaRPr lang="en-US" sz="2400" b="1" err="1">
                  <a:solidFill>
                    <a:srgbClr val="000000"/>
                  </a:solidFill>
                  <a:latin typeface="Segoe UI Semibold"/>
                  <a:cs typeface="Segoe UI Semibold" panose="020B0702040204020203" pitchFamily="34" charset="0"/>
                </a:endParaRPr>
              </a:p>
            </p:txBody>
          </p:sp>
          <p:sp>
            <p:nvSpPr>
              <p:cNvPr id="67" name="TextBox 66">
                <a:extLst>
                  <a:ext uri="{FF2B5EF4-FFF2-40B4-BE49-F238E27FC236}">
                    <a16:creationId xmlns:a16="http://schemas.microsoft.com/office/drawing/2014/main" id="{45C488C1-9648-15AD-E9A1-0EA196B2E8F7}"/>
                  </a:ext>
                </a:extLst>
              </p:cNvPr>
              <p:cNvSpPr txBox="1"/>
              <p:nvPr/>
            </p:nvSpPr>
            <p:spPr>
              <a:xfrm>
                <a:off x="5348993" y="6198861"/>
                <a:ext cx="1033126" cy="153888"/>
              </a:xfrm>
              <a:prstGeom prst="rect">
                <a:avLst/>
              </a:prstGeom>
              <a:noFill/>
            </p:spPr>
            <p:txBody>
              <a:bodyPr wrap="square" lIns="0" tIns="0" rIns="0" bIns="0" rtlCol="0">
                <a:sp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1000" b="0" i="0" u="none" strike="noStrike" kern="0" cap="none" spc="0" normalizeH="0" baseline="0" noProof="0">
                    <a:ln>
                      <a:noFill/>
                    </a:ln>
                    <a:solidFill>
                      <a:srgbClr val="000000"/>
                    </a:solidFill>
                    <a:effectLst/>
                    <a:uLnTx/>
                    <a:uFillTx/>
                    <a:latin typeface="Segoe Sans Display" pitchFamily="2" charset="0"/>
                    <a:cs typeface="Segoe Sans Display" pitchFamily="2" charset="0"/>
                  </a:rPr>
                  <a:t>WeChat</a:t>
                </a:r>
              </a:p>
            </p:txBody>
          </p:sp>
          <p:pic>
            <p:nvPicPr>
              <p:cNvPr id="68" name="Picture 67" descr="A green circle with black and white circles and black dots&#10;&#10;AI-generated content may be incorrect.">
                <a:extLst>
                  <a:ext uri="{FF2B5EF4-FFF2-40B4-BE49-F238E27FC236}">
                    <a16:creationId xmlns:a16="http://schemas.microsoft.com/office/drawing/2014/main" id="{597F9473-64E8-81A9-82AC-FC09F4859B6E}"/>
                  </a:ext>
                </a:extLst>
              </p:cNvPr>
              <p:cNvPicPr>
                <a:picLocks noChangeAspect="1"/>
              </p:cNvPicPr>
              <p:nvPr/>
            </p:nvPicPr>
            <p:blipFill>
              <a:blip r:embed="rId20">
                <a:extLst>
                  <a:ext uri="{28A0092B-C50C-407E-A947-70E740481C1C}">
                    <a14:useLocalDpi xmlns:a14="http://schemas.microsoft.com/office/drawing/2010/main" val="0"/>
                  </a:ext>
                </a:extLst>
              </a:blip>
              <a:stretch>
                <a:fillRect/>
              </a:stretch>
            </p:blipFill>
            <p:spPr>
              <a:xfrm>
                <a:off x="5673702" y="5710822"/>
                <a:ext cx="383709" cy="383709"/>
              </a:xfrm>
              <a:prstGeom prst="rect">
                <a:avLst/>
              </a:prstGeom>
            </p:spPr>
          </p:pic>
        </p:grpSp>
        <p:grpSp>
          <p:nvGrpSpPr>
            <p:cNvPr id="53" name="Group 52">
              <a:extLst>
                <a:ext uri="{FF2B5EF4-FFF2-40B4-BE49-F238E27FC236}">
                  <a16:creationId xmlns:a16="http://schemas.microsoft.com/office/drawing/2014/main" id="{BC6D56A0-A406-5E55-ACE1-CC9774781D98}"/>
                </a:ext>
              </a:extLst>
            </p:cNvPr>
            <p:cNvGrpSpPr/>
            <p:nvPr/>
          </p:nvGrpSpPr>
          <p:grpSpPr>
            <a:xfrm>
              <a:off x="8503689" y="2186776"/>
              <a:ext cx="1033126" cy="1033126"/>
              <a:chOff x="4149754" y="5519960"/>
              <a:chExt cx="1033126" cy="1033126"/>
            </a:xfrm>
          </p:grpSpPr>
          <p:sp>
            <p:nvSpPr>
              <p:cNvPr id="54" name="Rectangle: Rounded Corners 28">
                <a:extLst>
                  <a:ext uri="{FF2B5EF4-FFF2-40B4-BE49-F238E27FC236}">
                    <a16:creationId xmlns:a16="http://schemas.microsoft.com/office/drawing/2014/main" id="{392358B1-A103-8516-6C06-C666D2D8268B}"/>
                  </a:ext>
                </a:extLst>
              </p:cNvPr>
              <p:cNvSpPr/>
              <p:nvPr/>
            </p:nvSpPr>
            <p:spPr bwMode="auto">
              <a:xfrm>
                <a:off x="4149754" y="5519960"/>
                <a:ext cx="1033126" cy="1033126"/>
              </a:xfrm>
              <a:prstGeom prst="roundRect">
                <a:avLst>
                  <a:gd name="adj" fmla="val 7249"/>
                </a:avLst>
              </a:prstGeom>
              <a:solidFill>
                <a:srgbClr val="FFFFFF">
                  <a:alpha val="75000"/>
                </a:srgbClr>
              </a:solidFill>
              <a:ln w="12700" cap="flat" cmpd="sng" algn="ctr">
                <a:solidFill>
                  <a:srgbClr val="FFFFFF"/>
                </a:solidFill>
                <a:prstDash val="solid"/>
              </a:ln>
              <a:effectLst>
                <a:outerShdw blurRad="190500" dist="25400" dir="2700000" algn="tl" rotWithShape="0">
                  <a:srgbClr val="463668">
                    <a:alpha val="15000"/>
                  </a:srgbClr>
                </a:outerShdw>
              </a:effectLst>
            </p:spPr>
            <p:txBody>
              <a:bodyPr rot="0" spcFirstLastPara="0" vertOverflow="overflow" horzOverflow="overflow" vert="horz" wrap="square" lIns="182880" tIns="91440" rIns="182880" bIns="182880" numCol="1" spcCol="0" rtlCol="0" fromWordArt="0" anchor="t" anchorCtr="0" forceAA="0" compatLnSpc="1">
                <a:prstTxWarp prst="textNoShape">
                  <a:avLst/>
                </a:prstTxWarp>
                <a:noAutofit/>
              </a:bodyPr>
              <a:lstStyle/>
              <a:p>
                <a:pPr algn="ctr">
                  <a:spcBef>
                    <a:spcPts val="900"/>
                  </a:spcBef>
                </a:pPr>
                <a:endParaRPr lang="en-US" sz="2400" b="1" err="1">
                  <a:solidFill>
                    <a:srgbClr val="000000"/>
                  </a:solidFill>
                  <a:latin typeface="Segoe UI Semibold"/>
                  <a:cs typeface="Segoe UI Semibold" panose="020B0702040204020203" pitchFamily="34" charset="0"/>
                </a:endParaRPr>
              </a:p>
            </p:txBody>
          </p:sp>
          <p:sp>
            <p:nvSpPr>
              <p:cNvPr id="55" name="TextBox 54">
                <a:extLst>
                  <a:ext uri="{FF2B5EF4-FFF2-40B4-BE49-F238E27FC236}">
                    <a16:creationId xmlns:a16="http://schemas.microsoft.com/office/drawing/2014/main" id="{7ECA88C0-8BA6-0762-2A39-2F748514FF48}"/>
                  </a:ext>
                </a:extLst>
              </p:cNvPr>
              <p:cNvSpPr txBox="1"/>
              <p:nvPr/>
            </p:nvSpPr>
            <p:spPr>
              <a:xfrm>
                <a:off x="4149754" y="6190218"/>
                <a:ext cx="1033126" cy="153888"/>
              </a:xfrm>
              <a:prstGeom prst="rect">
                <a:avLst/>
              </a:prstGeom>
              <a:noFill/>
            </p:spPr>
            <p:txBody>
              <a:bodyPr wrap="square" lIns="0" tIns="0" rIns="0" bIns="0" rtlCol="0">
                <a:sp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1000" b="0" i="0" u="none" strike="noStrike" kern="0" cap="none" spc="0" normalizeH="0" baseline="0" noProof="0">
                    <a:ln>
                      <a:noFill/>
                    </a:ln>
                    <a:solidFill>
                      <a:srgbClr val="000000"/>
                    </a:solidFill>
                    <a:effectLst/>
                    <a:uLnTx/>
                    <a:uFillTx/>
                    <a:latin typeface="Segoe Sans Display" pitchFamily="2" charset="0"/>
                    <a:cs typeface="Segoe Sans Display" pitchFamily="2" charset="0"/>
                  </a:rPr>
                  <a:t>Custom</a:t>
                </a:r>
              </a:p>
            </p:txBody>
          </p:sp>
          <p:pic>
            <p:nvPicPr>
              <p:cNvPr id="56" name="Graphic 55">
                <a:extLst>
                  <a:ext uri="{FF2B5EF4-FFF2-40B4-BE49-F238E27FC236}">
                    <a16:creationId xmlns:a16="http://schemas.microsoft.com/office/drawing/2014/main" id="{F793F12F-0233-CAAA-C374-0A98EEA4BDE8}"/>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21"/>
                  </a:ext>
                </a:extLst>
              </a:blip>
              <a:stretch>
                <a:fillRect/>
              </a:stretch>
            </p:blipFill>
            <p:spPr>
              <a:xfrm>
                <a:off x="4431545" y="5693047"/>
                <a:ext cx="419259" cy="419259"/>
              </a:xfrm>
              <a:prstGeom prst="rect">
                <a:avLst/>
              </a:prstGeom>
            </p:spPr>
          </p:pic>
        </p:grpSp>
      </p:grpSp>
      <p:sp useBgFill="1">
        <p:nvSpPr>
          <p:cNvPr id="124" name="TextBox 123">
            <a:extLst>
              <a:ext uri="{FF2B5EF4-FFF2-40B4-BE49-F238E27FC236}">
                <a16:creationId xmlns:a16="http://schemas.microsoft.com/office/drawing/2014/main" id="{D607625A-B030-FD46-365A-7EC070B67BAD}"/>
              </a:ext>
            </a:extLst>
          </p:cNvPr>
          <p:cNvSpPr txBox="1"/>
          <p:nvPr/>
        </p:nvSpPr>
        <p:spPr>
          <a:xfrm>
            <a:off x="1874818" y="5879576"/>
            <a:ext cx="1160766" cy="338554"/>
          </a:xfrm>
          <a:prstGeom prst="rect">
            <a:avLst/>
          </a:prstGeom>
        </p:spPr>
        <p:txBody>
          <a:bodyPr wrap="none">
            <a:spAutoFit/>
          </a:bodyPr>
          <a:lstStyle/>
          <a:p>
            <a:pPr marL="0" marR="0" lvl="0" indent="0" algn="ctr" defTabSz="932472" rtl="0" eaLnBrk="1" fontAlgn="base" latinLnBrk="0" hangingPunct="1">
              <a:lnSpc>
                <a:spcPct val="100000"/>
              </a:lnSpc>
              <a:spcBef>
                <a:spcPts val="600"/>
              </a:spcBef>
              <a:spcAft>
                <a:spcPct val="0"/>
              </a:spcAft>
              <a:buClrTx/>
              <a:buSzTx/>
              <a:buFontTx/>
              <a:buNone/>
              <a:tabLst/>
              <a:defRPr/>
            </a:pPr>
            <a:r>
              <a:rPr kumimoji="0" lang="en-US" sz="1600" u="none" strike="noStrike" kern="1200" cap="none" spc="0" normalizeH="0" baseline="0" noProof="0" dirty="0">
                <a:ln>
                  <a:noFill/>
                </a:ln>
                <a:solidFill>
                  <a:srgbClr val="000000"/>
                </a:solidFill>
                <a:effectLst/>
                <a:uLnTx/>
                <a:uFillTx/>
                <a:latin typeface="Segoe UI Variable Display" pitchFamily="2" charset="0"/>
                <a:cs typeface="Segoe UI Variable Display" pitchFamily="2" charset="0"/>
              </a:rPr>
              <a:t>Employees</a:t>
            </a:r>
          </a:p>
        </p:txBody>
      </p:sp>
      <p:sp useBgFill="1">
        <p:nvSpPr>
          <p:cNvPr id="125" name="TextBox 124">
            <a:extLst>
              <a:ext uri="{FF2B5EF4-FFF2-40B4-BE49-F238E27FC236}">
                <a16:creationId xmlns:a16="http://schemas.microsoft.com/office/drawing/2014/main" id="{673AA684-39AF-B379-93D4-EBCD7B7BC61D}"/>
              </a:ext>
            </a:extLst>
          </p:cNvPr>
          <p:cNvSpPr txBox="1"/>
          <p:nvPr/>
        </p:nvSpPr>
        <p:spPr>
          <a:xfrm>
            <a:off x="7576950" y="5884371"/>
            <a:ext cx="898003" cy="338554"/>
          </a:xfrm>
          <a:prstGeom prst="rect">
            <a:avLst/>
          </a:prstGeom>
        </p:spPr>
        <p:txBody>
          <a:bodyPr wrap="none">
            <a:spAutoFit/>
          </a:bodyPr>
          <a:lstStyle/>
          <a:p>
            <a:pPr marL="0" marR="0" lvl="0" indent="0" algn="ctr" defTabSz="932472" rtl="0" eaLnBrk="1" fontAlgn="base" latinLnBrk="0" hangingPunct="1">
              <a:lnSpc>
                <a:spcPct val="100000"/>
              </a:lnSpc>
              <a:spcBef>
                <a:spcPts val="600"/>
              </a:spcBef>
              <a:spcAft>
                <a:spcPct val="0"/>
              </a:spcAft>
              <a:buClrTx/>
              <a:buSzTx/>
              <a:buFontTx/>
              <a:buNone/>
              <a:tabLst/>
              <a:defRPr/>
            </a:pPr>
            <a:r>
              <a:rPr kumimoji="0" lang="en-US" sz="1600" u="none" strike="noStrike" kern="1200" cap="none" spc="0" normalizeH="0" baseline="0" noProof="0" dirty="0">
                <a:ln>
                  <a:noFill/>
                </a:ln>
                <a:solidFill>
                  <a:srgbClr val="000000"/>
                </a:solidFill>
                <a:effectLst/>
                <a:uLnTx/>
                <a:uFillTx/>
                <a:latin typeface="Segoe UI Variable Display" pitchFamily="2" charset="0"/>
                <a:cs typeface="Segoe UI Variable Display" pitchFamily="2" charset="0"/>
              </a:rPr>
              <a:t>Citizens</a:t>
            </a:r>
          </a:p>
        </p:txBody>
      </p:sp>
      <p:sp>
        <p:nvSpPr>
          <p:cNvPr id="13" name="Text 0">
            <a:extLst>
              <a:ext uri="{FF2B5EF4-FFF2-40B4-BE49-F238E27FC236}">
                <a16:creationId xmlns:a16="http://schemas.microsoft.com/office/drawing/2014/main" id="{841FEAFD-8247-0236-9C11-5845F8139C04}"/>
              </a:ext>
            </a:extLst>
          </p:cNvPr>
          <p:cNvSpPr/>
          <p:nvPr/>
        </p:nvSpPr>
        <p:spPr>
          <a:xfrm>
            <a:off x="777240" y="566928"/>
            <a:ext cx="6858000" cy="237744"/>
          </a:xfrm>
          <a:prstGeom prst="rect">
            <a:avLst/>
          </a:prstGeom>
          <a:noFill/>
          <a:ln/>
        </p:spPr>
        <p:txBody>
          <a:bodyPr wrap="square" lIns="0" tIns="0" rIns="0" bIns="0" rtlCol="0" anchor="ctr">
            <a:normAutofit/>
          </a:bodyPr>
          <a:lstStyle/>
          <a:p>
            <a:pPr marL="0" indent="0">
              <a:buNone/>
            </a:pPr>
            <a:r>
              <a:rPr lang="en-US" sz="1100" b="1" kern="0" spc="180" dirty="0">
                <a:solidFill>
                  <a:srgbClr val="0078D4"/>
                </a:solidFill>
                <a:latin typeface="Segoe UI Semibold" pitchFamily="34" charset="0"/>
                <a:ea typeface="Segoe UI Semibold" pitchFamily="34" charset="-122"/>
                <a:cs typeface="Segoe UI Semibold" pitchFamily="34" charset="-120"/>
              </a:rPr>
              <a:t>BEYOND ONE WORK SURFACE</a:t>
            </a:r>
            <a:endParaRPr lang="en-US" sz="1100" dirty="0"/>
          </a:p>
        </p:txBody>
      </p:sp>
      <p:sp>
        <p:nvSpPr>
          <p:cNvPr id="17" name="Text 1">
            <a:extLst>
              <a:ext uri="{FF2B5EF4-FFF2-40B4-BE49-F238E27FC236}">
                <a16:creationId xmlns:a16="http://schemas.microsoft.com/office/drawing/2014/main" id="{8F1DE1ED-FB48-6D83-4CFD-0F9B8216CC7B}"/>
              </a:ext>
            </a:extLst>
          </p:cNvPr>
          <p:cNvSpPr/>
          <p:nvPr/>
        </p:nvSpPr>
        <p:spPr>
          <a:xfrm>
            <a:off x="777240" y="932688"/>
            <a:ext cx="10744200" cy="466003"/>
          </a:xfrm>
          <a:prstGeom prst="rect">
            <a:avLst/>
          </a:prstGeom>
          <a:noFill/>
          <a:ln/>
        </p:spPr>
        <p:txBody>
          <a:bodyPr wrap="square" lIns="0" tIns="0" rIns="0" bIns="0" rtlCol="0" anchor="ctr">
            <a:normAutofit/>
          </a:bodyPr>
          <a:lstStyle/>
          <a:p>
            <a:pPr marL="0" indent="0">
              <a:buNone/>
            </a:pPr>
            <a:r>
              <a:rPr lang="en-US" sz="2400" b="1" dirty="0">
                <a:solidFill>
                  <a:srgbClr val="091F2C"/>
                </a:solidFill>
                <a:latin typeface="Segoe UI Semibold" pitchFamily="34" charset="0"/>
                <a:ea typeface="Segoe UI Semibold" pitchFamily="34" charset="-122"/>
                <a:cs typeface="Segoe UI Semibold" pitchFamily="34" charset="-120"/>
              </a:rPr>
              <a:t>The same platform serves employees, citizens, and service channels</a:t>
            </a:r>
            <a:endParaRPr lang="en-US" sz="2400" dirty="0"/>
          </a:p>
        </p:txBody>
      </p:sp>
      <p:sp>
        <p:nvSpPr>
          <p:cNvPr id="21" name="Text 19">
            <a:extLst>
              <a:ext uri="{FF2B5EF4-FFF2-40B4-BE49-F238E27FC236}">
                <a16:creationId xmlns:a16="http://schemas.microsoft.com/office/drawing/2014/main" id="{9D03BFC0-A964-D3E5-1A61-C86FA9A0E4FE}"/>
              </a:ext>
            </a:extLst>
          </p:cNvPr>
          <p:cNvSpPr/>
          <p:nvPr/>
        </p:nvSpPr>
        <p:spPr>
          <a:xfrm>
            <a:off x="777240" y="6510528"/>
            <a:ext cx="1828800" cy="155448"/>
          </a:xfrm>
          <a:prstGeom prst="rect">
            <a:avLst/>
          </a:prstGeom>
          <a:noFill/>
          <a:ln/>
        </p:spPr>
        <p:txBody>
          <a:bodyPr wrap="square" lIns="0" tIns="0" rIns="0" bIns="0" rtlCol="0" anchor="ctr">
            <a:normAutofit/>
          </a:bodyPr>
          <a:lstStyle/>
          <a:p>
            <a:pPr marL="0" indent="0">
              <a:buNone/>
            </a:pPr>
            <a:r>
              <a:rPr lang="en-US" sz="850" dirty="0">
                <a:solidFill>
                  <a:srgbClr val="9AA3AD"/>
                </a:solidFill>
                <a:latin typeface="Segoe UI" pitchFamily="34" charset="0"/>
                <a:ea typeface="Segoe UI" pitchFamily="34" charset="-122"/>
                <a:cs typeface="Segoe UI" pitchFamily="34" charset="-120"/>
              </a:rPr>
              <a:t>Copilot Studio</a:t>
            </a:r>
            <a:endParaRPr lang="en-US" sz="850" dirty="0"/>
          </a:p>
        </p:txBody>
      </p:sp>
      <p:sp>
        <p:nvSpPr>
          <p:cNvPr id="27" name="Text 2">
            <a:extLst>
              <a:ext uri="{FF2B5EF4-FFF2-40B4-BE49-F238E27FC236}">
                <a16:creationId xmlns:a16="http://schemas.microsoft.com/office/drawing/2014/main" id="{D9CAE55C-6513-5F17-F424-5BB7E75BF72B}"/>
              </a:ext>
            </a:extLst>
          </p:cNvPr>
          <p:cNvSpPr/>
          <p:nvPr/>
        </p:nvSpPr>
        <p:spPr>
          <a:xfrm>
            <a:off x="777240" y="1357960"/>
            <a:ext cx="10698480" cy="411480"/>
          </a:xfrm>
          <a:prstGeom prst="rect">
            <a:avLst/>
          </a:prstGeom>
          <a:noFill/>
          <a:ln/>
        </p:spPr>
        <p:txBody>
          <a:bodyPr wrap="square" lIns="0" tIns="0" rIns="0" bIns="0" rtlCol="0" anchor="ctr">
            <a:normAutofit/>
          </a:bodyPr>
          <a:lstStyle/>
          <a:p>
            <a:pPr marL="0" indent="0">
              <a:buNone/>
            </a:pPr>
            <a:r>
              <a:rPr lang="en-US" sz="1320" dirty="0">
                <a:solidFill>
                  <a:srgbClr val="5B6672"/>
                </a:solidFill>
                <a:latin typeface="Segoe UI" pitchFamily="34" charset="0"/>
                <a:ea typeface="Segoe UI" pitchFamily="34" charset="-122"/>
                <a:cs typeface="Segoe UI" pitchFamily="34" charset="-120"/>
              </a:rPr>
              <a:t>External audiences change the channel, identity, data, and operating model — not the platform.</a:t>
            </a:r>
            <a:endParaRPr lang="en-US" sz="1320" dirty="0"/>
          </a:p>
        </p:txBody>
      </p:sp>
      <p:sp>
        <p:nvSpPr>
          <p:cNvPr id="38" name="TextBox 37">
            <a:extLst>
              <a:ext uri="{FF2B5EF4-FFF2-40B4-BE49-F238E27FC236}">
                <a16:creationId xmlns:a16="http://schemas.microsoft.com/office/drawing/2014/main" id="{E37039B1-3005-539B-BE33-1417B14BD5BB}"/>
              </a:ext>
            </a:extLst>
          </p:cNvPr>
          <p:cNvSpPr txBox="1"/>
          <p:nvPr/>
        </p:nvSpPr>
        <p:spPr>
          <a:xfrm>
            <a:off x="11201400" y="6473952"/>
            <a:ext cx="320040" cy="276999"/>
          </a:xfrm>
          <a:prstGeom prst="rect">
            <a:avLst/>
          </a:prstGeom>
          <a:noFill/>
        </p:spPr>
        <p:txBody>
          <a:bodyPr vert="horz" wrap="square" lIns="0" tIns="0" rIns="0" bIns="0" rtlCol="0" anchor="t">
            <a:normAutofit/>
          </a:bodyPr>
          <a:lstStyle/>
          <a:p>
            <a:pPr algn="r"/>
            <a:r>
              <a:rPr lang="en-US" sz="900">
                <a:solidFill>
                  <a:srgbClr val="9AA3AD"/>
                </a:solidFill>
                <a:latin typeface="Segoe UI" panose="020B0502040204020203" pitchFamily="34" charset="0"/>
              </a:rPr>
              <a:t>5</a:t>
            </a:r>
          </a:p>
        </p:txBody>
      </p:sp>
    </p:spTree>
    <p:extLst>
      <p:ext uri="{BB962C8B-B14F-4D97-AF65-F5344CB8AC3E}">
        <p14:creationId xmlns:p14="http://schemas.microsoft.com/office/powerpoint/2010/main" val="304239562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fade">
                                      <p:cBhvr>
                                        <p:cTn id="7" dur="500"/>
                                        <p:tgtEl>
                                          <p:spTgt spid="7"/>
                                        </p:tgtEl>
                                      </p:cBhvr>
                                    </p:animEffect>
                                  </p:childTnLst>
                                </p:cTn>
                              </p:par>
                              <p:par>
                                <p:cTn id="8" presetID="21" presetClass="entr" presetSubtype="1" fill="hold" grpId="1" nodeType="withEffect">
                                  <p:stCondLst>
                                    <p:cond delay="0"/>
                                  </p:stCondLst>
                                  <p:childTnLst>
                                    <p:set>
                                      <p:cBhvr>
                                        <p:cTn id="9" dur="1" fill="hold">
                                          <p:stCondLst>
                                            <p:cond delay="0"/>
                                          </p:stCondLst>
                                        </p:cTn>
                                        <p:tgtEl>
                                          <p:spTgt spid="7"/>
                                        </p:tgtEl>
                                        <p:attrNameLst>
                                          <p:attrName>style.visibility</p:attrName>
                                        </p:attrNameLst>
                                      </p:cBhvr>
                                      <p:to>
                                        <p:strVal val="visible"/>
                                      </p:to>
                                    </p:set>
                                    <p:animEffect transition="in" filter="wheel(1)">
                                      <p:cBhvr>
                                        <p:cTn id="10" dur="500"/>
                                        <p:tgtEl>
                                          <p:spTgt spid="7"/>
                                        </p:tgtEl>
                                      </p:cBhvr>
                                    </p:animEffect>
                                  </p:childTnLst>
                                </p:cTn>
                              </p:par>
                            </p:childTnLst>
                          </p:cTn>
                        </p:par>
                        <p:par>
                          <p:cTn id="11" fill="hold">
                            <p:stCondLst>
                              <p:cond delay="500"/>
                            </p:stCondLst>
                            <p:childTnLst>
                              <p:par>
                                <p:cTn id="12" presetID="10" presetClass="entr" presetSubtype="0" fill="hold" grpId="0" nodeType="afterEffect">
                                  <p:stCondLst>
                                    <p:cond delay="0"/>
                                  </p:stCondLst>
                                  <p:childTnLst>
                                    <p:set>
                                      <p:cBhvr>
                                        <p:cTn id="13" dur="1" fill="hold">
                                          <p:stCondLst>
                                            <p:cond delay="0"/>
                                          </p:stCondLst>
                                        </p:cTn>
                                        <p:tgtEl>
                                          <p:spTgt spid="124"/>
                                        </p:tgtEl>
                                        <p:attrNameLst>
                                          <p:attrName>style.visibility</p:attrName>
                                        </p:attrNameLst>
                                      </p:cBhvr>
                                      <p:to>
                                        <p:strVal val="visible"/>
                                      </p:to>
                                    </p:set>
                                    <p:animEffect transition="in" filter="fade">
                                      <p:cBhvr>
                                        <p:cTn id="14" dur="500"/>
                                        <p:tgtEl>
                                          <p:spTgt spid="124"/>
                                        </p:tgtEl>
                                      </p:cBhvr>
                                    </p:animEffect>
                                  </p:childTnLst>
                                </p:cTn>
                              </p:par>
                              <p:par>
                                <p:cTn id="15" presetID="42" presetClass="path" presetSubtype="0" decel="100000" fill="hold" grpId="1" nodeType="withEffect">
                                  <p:stCondLst>
                                    <p:cond delay="0"/>
                                  </p:stCondLst>
                                  <p:childTnLst>
                                    <p:animMotion origin="layout" path="M -2.08333E-6 -4.44444E-6 L -2.08333E-6 0.03542 " pathEditMode="relative" rAng="0" ptsTypes="AA">
                                      <p:cBhvr>
                                        <p:cTn id="16" dur="700" spd="-100000" fill="hold"/>
                                        <p:tgtEl>
                                          <p:spTgt spid="124"/>
                                        </p:tgtEl>
                                        <p:attrNameLst>
                                          <p:attrName>ppt_x</p:attrName>
                                          <p:attrName>ppt_y</p:attrName>
                                        </p:attrNameLst>
                                      </p:cBhvr>
                                      <p:rCtr x="0" y="1759"/>
                                    </p:animMotion>
                                  </p:childTnLst>
                                </p:cTn>
                              </p:par>
                            </p:childTnLst>
                          </p:cTn>
                        </p:par>
                        <p:par>
                          <p:cTn id="17" fill="hold">
                            <p:stCondLst>
                              <p:cond delay="1200"/>
                            </p:stCondLst>
                            <p:childTnLst>
                              <p:par>
                                <p:cTn id="18" presetID="10" presetClass="entr" presetSubtype="0" fill="hold" nodeType="afterEffect">
                                  <p:stCondLst>
                                    <p:cond delay="0"/>
                                  </p:stCondLst>
                                  <p:childTnLst>
                                    <p:set>
                                      <p:cBhvr>
                                        <p:cTn id="19" dur="1" fill="hold">
                                          <p:stCondLst>
                                            <p:cond delay="0"/>
                                          </p:stCondLst>
                                        </p:cTn>
                                        <p:tgtEl>
                                          <p:spTgt spid="120"/>
                                        </p:tgtEl>
                                        <p:attrNameLst>
                                          <p:attrName>style.visibility</p:attrName>
                                        </p:attrNameLst>
                                      </p:cBhvr>
                                      <p:to>
                                        <p:strVal val="visible"/>
                                      </p:to>
                                    </p:set>
                                    <p:animEffect transition="in" filter="fade">
                                      <p:cBhvr>
                                        <p:cTn id="20" dur="500"/>
                                        <p:tgtEl>
                                          <p:spTgt spid="120"/>
                                        </p:tgtEl>
                                      </p:cBhvr>
                                    </p:animEffect>
                                  </p:childTnLst>
                                </p:cTn>
                              </p:par>
                              <p:par>
                                <p:cTn id="21" presetID="42" presetClass="path" presetSubtype="0" decel="100000" fill="hold" nodeType="withEffect">
                                  <p:stCondLst>
                                    <p:cond delay="0"/>
                                  </p:stCondLst>
                                  <p:childTnLst>
                                    <p:animMotion origin="layout" path="M -2.70833E-6 -2.96296E-6 L -2.70833E-6 0.03542 " pathEditMode="relative" rAng="0" ptsTypes="AA">
                                      <p:cBhvr>
                                        <p:cTn id="22" dur="700" spd="-100000" fill="hold"/>
                                        <p:tgtEl>
                                          <p:spTgt spid="120"/>
                                        </p:tgtEl>
                                        <p:attrNameLst>
                                          <p:attrName>ppt_x</p:attrName>
                                          <p:attrName>ppt_y</p:attrName>
                                        </p:attrNameLst>
                                      </p:cBhvr>
                                      <p:rCtr x="0" y="1759"/>
                                    </p:animMotion>
                                  </p:childTnLst>
                                </p:cTn>
                              </p:par>
                            </p:childTnLst>
                          </p:cTn>
                        </p:par>
                        <p:par>
                          <p:cTn id="23" fill="hold">
                            <p:stCondLst>
                              <p:cond delay="1900"/>
                            </p:stCondLst>
                            <p:childTnLst>
                              <p:par>
                                <p:cTn id="24" presetID="10" presetClass="entr" presetSubtype="0" fill="hold" nodeType="afterEffect">
                                  <p:stCondLst>
                                    <p:cond delay="0"/>
                                  </p:stCondLst>
                                  <p:childTnLst>
                                    <p:set>
                                      <p:cBhvr>
                                        <p:cTn id="25" dur="1" fill="hold">
                                          <p:stCondLst>
                                            <p:cond delay="0"/>
                                          </p:stCondLst>
                                        </p:cTn>
                                        <p:tgtEl>
                                          <p:spTgt spid="119"/>
                                        </p:tgtEl>
                                        <p:attrNameLst>
                                          <p:attrName>style.visibility</p:attrName>
                                        </p:attrNameLst>
                                      </p:cBhvr>
                                      <p:to>
                                        <p:strVal val="visible"/>
                                      </p:to>
                                    </p:set>
                                    <p:animEffect transition="in" filter="fade">
                                      <p:cBhvr>
                                        <p:cTn id="26" dur="500"/>
                                        <p:tgtEl>
                                          <p:spTgt spid="119"/>
                                        </p:tgtEl>
                                      </p:cBhvr>
                                    </p:animEffect>
                                  </p:childTnLst>
                                </p:cTn>
                              </p:par>
                              <p:par>
                                <p:cTn id="27" presetID="42" presetClass="path" presetSubtype="0" decel="100000" fill="hold" nodeType="withEffect">
                                  <p:stCondLst>
                                    <p:cond delay="0"/>
                                  </p:stCondLst>
                                  <p:childTnLst>
                                    <p:animMotion origin="layout" path="M -2.70833E-6 -2.59259E-6 L -2.70833E-6 0.03542 " pathEditMode="relative" rAng="0" ptsTypes="AA">
                                      <p:cBhvr>
                                        <p:cTn id="28" dur="700" spd="-100000" fill="hold"/>
                                        <p:tgtEl>
                                          <p:spTgt spid="119"/>
                                        </p:tgtEl>
                                        <p:attrNameLst>
                                          <p:attrName>ppt_x</p:attrName>
                                          <p:attrName>ppt_y</p:attrName>
                                        </p:attrNameLst>
                                      </p:cBhvr>
                                      <p:rCtr x="0" y="1759"/>
                                    </p:animMotion>
                                  </p:childTnLst>
                                </p:cTn>
                              </p:par>
                            </p:childTnLst>
                          </p:cTn>
                        </p:par>
                        <p:par>
                          <p:cTn id="29" fill="hold">
                            <p:stCondLst>
                              <p:cond delay="2600"/>
                            </p:stCondLst>
                            <p:childTnLst>
                              <p:par>
                                <p:cTn id="30" presetID="10" presetClass="entr" presetSubtype="0" fill="hold" nodeType="afterEffect">
                                  <p:stCondLst>
                                    <p:cond delay="0"/>
                                  </p:stCondLst>
                                  <p:childTnLst>
                                    <p:set>
                                      <p:cBhvr>
                                        <p:cTn id="31" dur="1" fill="hold">
                                          <p:stCondLst>
                                            <p:cond delay="0"/>
                                          </p:stCondLst>
                                        </p:cTn>
                                        <p:tgtEl>
                                          <p:spTgt spid="118"/>
                                        </p:tgtEl>
                                        <p:attrNameLst>
                                          <p:attrName>style.visibility</p:attrName>
                                        </p:attrNameLst>
                                      </p:cBhvr>
                                      <p:to>
                                        <p:strVal val="visible"/>
                                      </p:to>
                                    </p:set>
                                    <p:animEffect transition="in" filter="fade">
                                      <p:cBhvr>
                                        <p:cTn id="32" dur="500"/>
                                        <p:tgtEl>
                                          <p:spTgt spid="118"/>
                                        </p:tgtEl>
                                      </p:cBhvr>
                                    </p:animEffect>
                                  </p:childTnLst>
                                </p:cTn>
                              </p:par>
                              <p:par>
                                <p:cTn id="33" presetID="42" presetClass="path" presetSubtype="0" decel="100000" fill="hold" nodeType="withEffect">
                                  <p:stCondLst>
                                    <p:cond delay="0"/>
                                  </p:stCondLst>
                                  <p:childTnLst>
                                    <p:animMotion origin="layout" path="M -2.70833E-6 -2.22222E-6 L -2.70833E-6 0.03542 " pathEditMode="relative" rAng="0" ptsTypes="AA">
                                      <p:cBhvr>
                                        <p:cTn id="34" dur="700" spd="-100000" fill="hold"/>
                                        <p:tgtEl>
                                          <p:spTgt spid="118"/>
                                        </p:tgtEl>
                                        <p:attrNameLst>
                                          <p:attrName>ppt_x</p:attrName>
                                          <p:attrName>ppt_y</p:attrName>
                                        </p:attrNameLst>
                                      </p:cBhvr>
                                      <p:rCtr x="0" y="1759"/>
                                    </p:animMotion>
                                  </p:childTnLst>
                                </p:cTn>
                              </p:par>
                            </p:childTnLst>
                          </p:cTn>
                        </p:par>
                        <p:par>
                          <p:cTn id="35" fill="hold">
                            <p:stCondLst>
                              <p:cond delay="3300"/>
                            </p:stCondLst>
                            <p:childTnLst>
                              <p:par>
                                <p:cTn id="36" presetID="10" presetClass="entr" presetSubtype="0" fill="hold" grpId="0" nodeType="afterEffect">
                                  <p:stCondLst>
                                    <p:cond delay="0"/>
                                  </p:stCondLst>
                                  <p:childTnLst>
                                    <p:set>
                                      <p:cBhvr>
                                        <p:cTn id="37" dur="1" fill="hold">
                                          <p:stCondLst>
                                            <p:cond delay="0"/>
                                          </p:stCondLst>
                                        </p:cTn>
                                        <p:tgtEl>
                                          <p:spTgt spid="125"/>
                                        </p:tgtEl>
                                        <p:attrNameLst>
                                          <p:attrName>style.visibility</p:attrName>
                                        </p:attrNameLst>
                                      </p:cBhvr>
                                      <p:to>
                                        <p:strVal val="visible"/>
                                      </p:to>
                                    </p:set>
                                    <p:animEffect transition="in" filter="fade">
                                      <p:cBhvr>
                                        <p:cTn id="38" dur="500"/>
                                        <p:tgtEl>
                                          <p:spTgt spid="125"/>
                                        </p:tgtEl>
                                      </p:cBhvr>
                                    </p:animEffect>
                                  </p:childTnLst>
                                </p:cTn>
                              </p:par>
                              <p:par>
                                <p:cTn id="39" presetID="42" presetClass="path" presetSubtype="0" decel="100000" fill="hold" grpId="1" nodeType="withEffect">
                                  <p:stCondLst>
                                    <p:cond delay="0"/>
                                  </p:stCondLst>
                                  <p:childTnLst>
                                    <p:animMotion origin="layout" path="M -3.33333E-6 1.11111E-6 L -3.33333E-6 0.03542 " pathEditMode="relative" rAng="0" ptsTypes="AA">
                                      <p:cBhvr>
                                        <p:cTn id="40" dur="700" spd="-100000" fill="hold"/>
                                        <p:tgtEl>
                                          <p:spTgt spid="125"/>
                                        </p:tgtEl>
                                        <p:attrNameLst>
                                          <p:attrName>ppt_x</p:attrName>
                                          <p:attrName>ppt_y</p:attrName>
                                        </p:attrNameLst>
                                      </p:cBhvr>
                                      <p:rCtr x="0" y="1759"/>
                                    </p:animMotion>
                                  </p:childTnLst>
                                </p:cTn>
                              </p:par>
                            </p:childTnLst>
                          </p:cTn>
                        </p:par>
                        <p:par>
                          <p:cTn id="41" fill="hold">
                            <p:stCondLst>
                              <p:cond delay="4000"/>
                            </p:stCondLst>
                            <p:childTnLst>
                              <p:par>
                                <p:cTn id="42" presetID="10" presetClass="entr" presetSubtype="0" fill="hold" nodeType="afterEffect">
                                  <p:stCondLst>
                                    <p:cond delay="0"/>
                                  </p:stCondLst>
                                  <p:childTnLst>
                                    <p:set>
                                      <p:cBhvr>
                                        <p:cTn id="43" dur="1" fill="hold">
                                          <p:stCondLst>
                                            <p:cond delay="0"/>
                                          </p:stCondLst>
                                        </p:cTn>
                                        <p:tgtEl>
                                          <p:spTgt spid="121"/>
                                        </p:tgtEl>
                                        <p:attrNameLst>
                                          <p:attrName>style.visibility</p:attrName>
                                        </p:attrNameLst>
                                      </p:cBhvr>
                                      <p:to>
                                        <p:strVal val="visible"/>
                                      </p:to>
                                    </p:set>
                                    <p:animEffect transition="in" filter="fade">
                                      <p:cBhvr>
                                        <p:cTn id="44" dur="500"/>
                                        <p:tgtEl>
                                          <p:spTgt spid="121"/>
                                        </p:tgtEl>
                                      </p:cBhvr>
                                    </p:animEffect>
                                  </p:childTnLst>
                                </p:cTn>
                              </p:par>
                              <p:par>
                                <p:cTn id="45" presetID="42" presetClass="path" presetSubtype="0" decel="100000" fill="hold" nodeType="withEffect">
                                  <p:stCondLst>
                                    <p:cond delay="0"/>
                                  </p:stCondLst>
                                  <p:childTnLst>
                                    <p:animMotion origin="layout" path="M -2.70833E-6 -1.48148E-6 L -2.70833E-6 0.03542 " pathEditMode="relative" rAng="0" ptsTypes="AA">
                                      <p:cBhvr>
                                        <p:cTn id="46" dur="700" spd="-100000" fill="hold"/>
                                        <p:tgtEl>
                                          <p:spTgt spid="121"/>
                                        </p:tgtEl>
                                        <p:attrNameLst>
                                          <p:attrName>ppt_x</p:attrName>
                                          <p:attrName>ppt_y</p:attrName>
                                        </p:attrNameLst>
                                      </p:cBhvr>
                                      <p:rCtr x="0" y="1759"/>
                                    </p:animMotion>
                                  </p:childTnLst>
                                </p:cTn>
                              </p:par>
                            </p:childTnLst>
                          </p:cTn>
                        </p:par>
                        <p:par>
                          <p:cTn id="47" fill="hold">
                            <p:stCondLst>
                              <p:cond delay="4700"/>
                            </p:stCondLst>
                            <p:childTnLst>
                              <p:par>
                                <p:cTn id="48" presetID="10" presetClass="entr" presetSubtype="0" fill="hold" nodeType="afterEffect">
                                  <p:stCondLst>
                                    <p:cond delay="0"/>
                                  </p:stCondLst>
                                  <p:childTnLst>
                                    <p:set>
                                      <p:cBhvr>
                                        <p:cTn id="49" dur="1" fill="hold">
                                          <p:stCondLst>
                                            <p:cond delay="0"/>
                                          </p:stCondLst>
                                        </p:cTn>
                                        <p:tgtEl>
                                          <p:spTgt spid="122"/>
                                        </p:tgtEl>
                                        <p:attrNameLst>
                                          <p:attrName>style.visibility</p:attrName>
                                        </p:attrNameLst>
                                      </p:cBhvr>
                                      <p:to>
                                        <p:strVal val="visible"/>
                                      </p:to>
                                    </p:set>
                                    <p:animEffect transition="in" filter="fade">
                                      <p:cBhvr>
                                        <p:cTn id="50" dur="500"/>
                                        <p:tgtEl>
                                          <p:spTgt spid="122"/>
                                        </p:tgtEl>
                                      </p:cBhvr>
                                    </p:animEffect>
                                  </p:childTnLst>
                                </p:cTn>
                              </p:par>
                              <p:par>
                                <p:cTn id="51" presetID="42" presetClass="path" presetSubtype="0" decel="100000" fill="hold" nodeType="withEffect">
                                  <p:stCondLst>
                                    <p:cond delay="0"/>
                                  </p:stCondLst>
                                  <p:childTnLst>
                                    <p:animMotion origin="layout" path="M -2.70833E-6 -1.48148E-6 L -2.70833E-6 0.03542 " pathEditMode="relative" rAng="0" ptsTypes="AA">
                                      <p:cBhvr>
                                        <p:cTn id="52" dur="700" spd="-100000" fill="hold"/>
                                        <p:tgtEl>
                                          <p:spTgt spid="122"/>
                                        </p:tgtEl>
                                        <p:attrNameLst>
                                          <p:attrName>ppt_x</p:attrName>
                                          <p:attrName>ppt_y</p:attrName>
                                        </p:attrNameLst>
                                      </p:cBhvr>
                                      <p:rCtr x="0" y="1759"/>
                                    </p:animMotion>
                                  </p:childTnLst>
                                </p:cTn>
                              </p:par>
                            </p:childTnLst>
                          </p:cTn>
                        </p:par>
                        <p:par>
                          <p:cTn id="53" fill="hold">
                            <p:stCondLst>
                              <p:cond delay="5400"/>
                            </p:stCondLst>
                            <p:childTnLst>
                              <p:par>
                                <p:cTn id="54" presetID="10" presetClass="entr" presetSubtype="0" fill="hold" nodeType="afterEffect">
                                  <p:stCondLst>
                                    <p:cond delay="0"/>
                                  </p:stCondLst>
                                  <p:childTnLst>
                                    <p:set>
                                      <p:cBhvr>
                                        <p:cTn id="55" dur="1" fill="hold">
                                          <p:stCondLst>
                                            <p:cond delay="0"/>
                                          </p:stCondLst>
                                        </p:cTn>
                                        <p:tgtEl>
                                          <p:spTgt spid="123"/>
                                        </p:tgtEl>
                                        <p:attrNameLst>
                                          <p:attrName>style.visibility</p:attrName>
                                        </p:attrNameLst>
                                      </p:cBhvr>
                                      <p:to>
                                        <p:strVal val="visible"/>
                                      </p:to>
                                    </p:set>
                                    <p:animEffect transition="in" filter="fade">
                                      <p:cBhvr>
                                        <p:cTn id="56" dur="500"/>
                                        <p:tgtEl>
                                          <p:spTgt spid="123"/>
                                        </p:tgtEl>
                                      </p:cBhvr>
                                    </p:animEffect>
                                  </p:childTnLst>
                                </p:cTn>
                              </p:par>
                              <p:par>
                                <p:cTn id="57" presetID="42" presetClass="path" presetSubtype="0" decel="100000" fill="hold" nodeType="withEffect">
                                  <p:stCondLst>
                                    <p:cond delay="0"/>
                                  </p:stCondLst>
                                  <p:childTnLst>
                                    <p:animMotion origin="layout" path="M -2.70833E-6 -1.48148E-6 L -2.70833E-6 0.03542 " pathEditMode="relative" rAng="0" ptsTypes="AA">
                                      <p:cBhvr>
                                        <p:cTn id="58" dur="700" spd="-100000" fill="hold"/>
                                        <p:tgtEl>
                                          <p:spTgt spid="123"/>
                                        </p:tgtEl>
                                        <p:attrNameLst>
                                          <p:attrName>ppt_x</p:attrName>
                                          <p:attrName>ppt_y</p:attrName>
                                        </p:attrNameLst>
                                      </p:cBhvr>
                                      <p:rCtr x="0" y="1759"/>
                                    </p:animMotion>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P spid="7" grpId="1" animBg="1"/>
      <p:bldP spid="124" grpId="0" animBg="1"/>
      <p:bldP spid="124" grpId="1" animBg="1"/>
      <p:bldP spid="125" grpId="0" animBg="1"/>
      <p:bldP spid="125" grpId="1" animBg="1"/>
    </p:bldLst>
  </p:timing>
</p:sld>
</file>

<file path=ppt/slides/slide6.xml><?xml version="1.0" encoding="utf-8"?>
<p:sld xmlns:a="http://schemas.openxmlformats.org/drawingml/2006/main" xmlns:r="http://schemas.openxmlformats.org/officeDocument/2006/relationships" xmlns:p="http://schemas.openxmlformats.org/presentationml/2006/main">
  <p:cSld name="Slide 8">
    <p:bg>
      <p:bgPr>
        <a:solidFill>
          <a:srgbClr val="F2F1F7"/>
        </a:solidFill>
        <a:effectLst/>
      </p:bgPr>
    </p:bg>
    <p:spTree>
      <p:nvGrpSpPr>
        <p:cNvPr id="1" name=""/>
        <p:cNvGrpSpPr/>
        <p:nvPr/>
      </p:nvGrpSpPr>
      <p:grpSpPr>
        <a:xfrm>
          <a:off x="0" y="0"/>
          <a:ext cx="0" cy="0"/>
          <a:chOff x="0" y="0"/>
          <a:chExt cx="0" cy="0"/>
        </a:xfrm>
      </p:grpSpPr>
      <p:sp>
        <p:nvSpPr>
          <p:cNvPr id="2" name="Text 0"/>
          <p:cNvSpPr/>
          <p:nvPr/>
        </p:nvSpPr>
        <p:spPr>
          <a:xfrm>
            <a:off x="777240" y="566928"/>
            <a:ext cx="6858000" cy="237744"/>
          </a:xfrm>
          <a:prstGeom prst="rect">
            <a:avLst/>
          </a:prstGeom>
          <a:noFill/>
          <a:ln/>
        </p:spPr>
        <p:txBody>
          <a:bodyPr wrap="square" lIns="0" tIns="0" rIns="0" bIns="0" rtlCol="0" anchor="ctr">
            <a:normAutofit/>
          </a:bodyPr>
          <a:lstStyle/>
          <a:p>
            <a:pPr marL="0" indent="0">
              <a:buNone/>
            </a:pPr>
            <a:r>
              <a:rPr lang="en-US" sz="1100" b="1" kern="0" spc="180" dirty="0">
                <a:solidFill>
                  <a:srgbClr val="0078D4"/>
                </a:solidFill>
                <a:latin typeface="Segoe UI Semibold" pitchFamily="34" charset="0"/>
                <a:ea typeface="Segoe UI Semibold" pitchFamily="34" charset="-122"/>
                <a:cs typeface="Segoe UI Semibold" pitchFamily="34" charset="-120"/>
              </a:rPr>
              <a:t>DEMO 2 · CITIZEN SELF-SERVICE</a:t>
            </a:r>
            <a:endParaRPr lang="en-US" sz="1100" dirty="0"/>
          </a:p>
        </p:txBody>
      </p:sp>
      <p:sp>
        <p:nvSpPr>
          <p:cNvPr id="3" name="Text 1"/>
          <p:cNvSpPr/>
          <p:nvPr/>
        </p:nvSpPr>
        <p:spPr>
          <a:xfrm>
            <a:off x="777240" y="932688"/>
            <a:ext cx="10744200" cy="822960"/>
          </a:xfrm>
          <a:prstGeom prst="rect">
            <a:avLst/>
          </a:prstGeom>
          <a:noFill/>
          <a:ln/>
        </p:spPr>
        <p:txBody>
          <a:bodyPr wrap="square" lIns="0" tIns="0" rIns="0" bIns="0" rtlCol="0" anchor="ctr">
            <a:normAutofit/>
          </a:bodyPr>
          <a:lstStyle/>
          <a:p>
            <a:pPr marL="0" indent="0">
              <a:buNone/>
            </a:pPr>
            <a:r>
              <a:rPr lang="en-US" sz="2400" b="1" dirty="0">
                <a:solidFill>
                  <a:srgbClr val="091F2C"/>
                </a:solidFill>
                <a:latin typeface="Segoe UI Semibold" pitchFamily="34" charset="0"/>
                <a:ea typeface="Segoe UI Semibold" pitchFamily="34" charset="-122"/>
                <a:cs typeface="Segoe UI Semibold" pitchFamily="34" charset="-120"/>
              </a:rPr>
              <a:t>A governed public agent guides a resident from question to a confirmed request.</a:t>
            </a:r>
            <a:endParaRPr lang="en-US" sz="2400" dirty="0"/>
          </a:p>
        </p:txBody>
      </p:sp>
      <p:sp>
        <p:nvSpPr>
          <p:cNvPr id="4" name="Text 2"/>
          <p:cNvSpPr/>
          <p:nvPr/>
        </p:nvSpPr>
        <p:spPr>
          <a:xfrm>
            <a:off x="777240" y="1828800"/>
            <a:ext cx="10698480" cy="411480"/>
          </a:xfrm>
          <a:prstGeom prst="rect">
            <a:avLst/>
          </a:prstGeom>
          <a:noFill/>
          <a:ln/>
        </p:spPr>
        <p:txBody>
          <a:bodyPr wrap="square" lIns="0" tIns="0" rIns="0" bIns="0" rtlCol="0" anchor="ctr">
            <a:normAutofit/>
          </a:bodyPr>
          <a:lstStyle/>
          <a:p>
            <a:pPr marL="0" indent="0">
              <a:buNone/>
            </a:pPr>
            <a:r>
              <a:rPr lang="en-US" sz="1320" dirty="0">
                <a:solidFill>
                  <a:srgbClr val="5B6672"/>
                </a:solidFill>
                <a:latin typeface="Segoe UI" pitchFamily="34" charset="0"/>
                <a:ea typeface="Segoe UI" pitchFamily="34" charset="-122"/>
                <a:cs typeface="Segoe UI" pitchFamily="34" charset="-120"/>
              </a:rPr>
              <a:t>Same platform patterns as the employee agent — a different, carefully drawn audience boundary.</a:t>
            </a:r>
            <a:endParaRPr lang="en-US" sz="1320" dirty="0"/>
          </a:p>
        </p:txBody>
      </p:sp>
      <p:pic>
        <p:nvPicPr>
          <p:cNvPr id="5" name="Image 0" descr="preencoded.png"/>
          <p:cNvPicPr>
            <a:picLocks noChangeAspect="1"/>
          </p:cNvPicPr>
          <p:nvPr/>
        </p:nvPicPr>
        <p:blipFill>
          <a:blip r:embed="rId3"/>
          <a:stretch>
            <a:fillRect/>
          </a:stretch>
        </p:blipFill>
        <p:spPr>
          <a:xfrm>
            <a:off x="9802368" y="438912"/>
            <a:ext cx="384048" cy="384048"/>
          </a:xfrm>
          <a:prstGeom prst="rect">
            <a:avLst/>
          </a:prstGeom>
        </p:spPr>
      </p:pic>
      <p:sp>
        <p:nvSpPr>
          <p:cNvPr id="6" name="Shape 3"/>
          <p:cNvSpPr/>
          <p:nvPr/>
        </p:nvSpPr>
        <p:spPr>
          <a:xfrm>
            <a:off x="10405872" y="484632"/>
            <a:ext cx="960120" cy="310896"/>
          </a:xfrm>
          <a:prstGeom prst="roundRect">
            <a:avLst>
              <a:gd name="adj" fmla="val 50000"/>
            </a:avLst>
          </a:prstGeom>
          <a:solidFill>
            <a:srgbClr val="8661C5"/>
          </a:solidFill>
          <a:ln w="12700">
            <a:solidFill>
              <a:srgbClr val="8661C5"/>
            </a:solidFill>
            <a:prstDash val="solid"/>
          </a:ln>
        </p:spPr>
        <p:txBody>
          <a:bodyPr/>
          <a:lstStyle/>
          <a:p>
            <a:endParaRPr lang="en-US"/>
          </a:p>
        </p:txBody>
      </p:sp>
      <p:sp>
        <p:nvSpPr>
          <p:cNvPr id="7" name="Text 4"/>
          <p:cNvSpPr/>
          <p:nvPr/>
        </p:nvSpPr>
        <p:spPr>
          <a:xfrm>
            <a:off x="10405872" y="493776"/>
            <a:ext cx="960120" cy="274320"/>
          </a:xfrm>
          <a:prstGeom prst="rect">
            <a:avLst/>
          </a:prstGeom>
          <a:noFill/>
          <a:ln/>
        </p:spPr>
        <p:txBody>
          <a:bodyPr wrap="square" lIns="0" tIns="0" rIns="0" bIns="0" rtlCol="0" anchor="ctr">
            <a:normAutofit/>
          </a:bodyPr>
          <a:lstStyle/>
          <a:p>
            <a:pPr marL="0" indent="0" algn="ctr">
              <a:buNone/>
            </a:pPr>
            <a:r>
              <a:rPr lang="en-US" sz="980" b="1" dirty="0">
                <a:solidFill>
                  <a:srgbClr val="FFFFFF"/>
                </a:solidFill>
                <a:latin typeface="Segoe UI Semibold" pitchFamily="34" charset="0"/>
                <a:ea typeface="Segoe UI Semibold" pitchFamily="34" charset="-122"/>
                <a:cs typeface="Segoe UI Semibold" pitchFamily="34" charset="-120"/>
              </a:rPr>
              <a:t>RECORDED</a:t>
            </a:r>
            <a:endParaRPr lang="en-US" sz="980" dirty="0"/>
          </a:p>
        </p:txBody>
      </p:sp>
      <p:sp>
        <p:nvSpPr>
          <p:cNvPr id="8" name="Shape 5"/>
          <p:cNvSpPr/>
          <p:nvPr/>
        </p:nvSpPr>
        <p:spPr>
          <a:xfrm>
            <a:off x="685800" y="2880360"/>
            <a:ext cx="2331720" cy="2560320"/>
          </a:xfrm>
          <a:prstGeom prst="roundRect">
            <a:avLst>
              <a:gd name="adj" fmla="val 3529"/>
            </a:avLst>
          </a:prstGeom>
          <a:solidFill>
            <a:srgbClr val="FFFFFF"/>
          </a:solidFill>
          <a:ln w="12700">
            <a:solidFill>
              <a:srgbClr val="E7E5F0"/>
            </a:solidFill>
            <a:prstDash val="solid"/>
          </a:ln>
          <a:effectLst>
            <a:outerShdw blurRad="63500" dist="50800" dir="5400000" algn="bl" rotWithShape="0">
              <a:srgbClr val="8A83B0">
                <a:alpha val="18000"/>
              </a:srgbClr>
            </a:outerShdw>
          </a:effectLst>
        </p:spPr>
        <p:txBody>
          <a:bodyPr/>
          <a:lstStyle/>
          <a:p>
            <a:endParaRPr lang="en-US"/>
          </a:p>
        </p:txBody>
      </p:sp>
      <p:sp>
        <p:nvSpPr>
          <p:cNvPr id="9" name="Text 6"/>
          <p:cNvSpPr/>
          <p:nvPr/>
        </p:nvSpPr>
        <p:spPr>
          <a:xfrm>
            <a:off x="941832" y="3172968"/>
            <a:ext cx="438912" cy="502920"/>
          </a:xfrm>
          <a:prstGeom prst="rect">
            <a:avLst/>
          </a:prstGeom>
          <a:noFill/>
          <a:ln/>
        </p:spPr>
        <p:txBody>
          <a:bodyPr wrap="square" lIns="0" tIns="0" rIns="0" bIns="0" rtlCol="0" anchor="ctr">
            <a:normAutofit/>
          </a:bodyPr>
          <a:lstStyle/>
          <a:p>
            <a:pPr marL="0" indent="0">
              <a:buNone/>
            </a:pPr>
            <a:r>
              <a:rPr lang="en-US" sz="2800" b="1" dirty="0">
                <a:solidFill>
                  <a:srgbClr val="0078D4"/>
                </a:solidFill>
                <a:latin typeface="Segoe UI Semibold" pitchFamily="34" charset="0"/>
                <a:ea typeface="Segoe UI Semibold" pitchFamily="34" charset="-122"/>
                <a:cs typeface="Segoe UI Semibold" pitchFamily="34" charset="-120"/>
              </a:rPr>
              <a:t>1</a:t>
            </a:r>
            <a:endParaRPr lang="en-US" sz="2800" dirty="0"/>
          </a:p>
        </p:txBody>
      </p:sp>
      <p:pic>
        <p:nvPicPr>
          <p:cNvPr id="10" name="Image 1" descr="preencoded.png"/>
          <p:cNvPicPr>
            <a:picLocks noChangeAspect="1"/>
          </p:cNvPicPr>
          <p:nvPr/>
        </p:nvPicPr>
        <p:blipFill>
          <a:blip r:embed="rId4"/>
          <a:stretch>
            <a:fillRect/>
          </a:stretch>
        </p:blipFill>
        <p:spPr>
          <a:xfrm>
            <a:off x="2221992" y="3127248"/>
            <a:ext cx="530352" cy="530352"/>
          </a:xfrm>
          <a:prstGeom prst="rect">
            <a:avLst/>
          </a:prstGeom>
        </p:spPr>
      </p:pic>
      <p:sp>
        <p:nvSpPr>
          <p:cNvPr id="11" name="Text 7"/>
          <p:cNvSpPr/>
          <p:nvPr/>
        </p:nvSpPr>
        <p:spPr>
          <a:xfrm>
            <a:off x="941832" y="3950208"/>
            <a:ext cx="1828800" cy="502920"/>
          </a:xfrm>
          <a:prstGeom prst="rect">
            <a:avLst/>
          </a:prstGeom>
          <a:noFill/>
          <a:ln/>
        </p:spPr>
        <p:txBody>
          <a:bodyPr wrap="square" lIns="0" tIns="0" rIns="0" bIns="0" rtlCol="0" anchor="ctr">
            <a:normAutofit/>
          </a:bodyPr>
          <a:lstStyle/>
          <a:p>
            <a:pPr marL="0" indent="0">
              <a:buNone/>
            </a:pPr>
            <a:r>
              <a:rPr lang="en-US" sz="1420" b="1" dirty="0">
                <a:solidFill>
                  <a:srgbClr val="091F2C"/>
                </a:solidFill>
                <a:latin typeface="Segoe UI Semibold" pitchFamily="34" charset="0"/>
                <a:ea typeface="Segoe UI Semibold" pitchFamily="34" charset="-122"/>
                <a:cs typeface="Segoe UI Semibold" pitchFamily="34" charset="-120"/>
              </a:rPr>
              <a:t>Describe the need</a:t>
            </a:r>
            <a:endParaRPr lang="en-US" sz="1420" dirty="0"/>
          </a:p>
        </p:txBody>
      </p:sp>
      <p:sp>
        <p:nvSpPr>
          <p:cNvPr id="12" name="Text 8"/>
          <p:cNvSpPr/>
          <p:nvPr/>
        </p:nvSpPr>
        <p:spPr>
          <a:xfrm>
            <a:off x="941832" y="4562856"/>
            <a:ext cx="1828800" cy="603504"/>
          </a:xfrm>
          <a:prstGeom prst="rect">
            <a:avLst/>
          </a:prstGeom>
          <a:noFill/>
          <a:ln/>
        </p:spPr>
        <p:txBody>
          <a:bodyPr wrap="square" lIns="0" tIns="0" rIns="0" bIns="0" rtlCol="0" anchor="ctr">
            <a:normAutofit/>
          </a:bodyPr>
          <a:lstStyle/>
          <a:p>
            <a:pPr marL="0" indent="0">
              <a:buNone/>
            </a:pPr>
            <a:r>
              <a:rPr lang="en-US" sz="1150" dirty="0">
                <a:solidFill>
                  <a:srgbClr val="5B6672"/>
                </a:solidFill>
                <a:latin typeface="Segoe UI" pitchFamily="34" charset="0"/>
                <a:ea typeface="Segoe UI" pitchFamily="34" charset="-122"/>
                <a:cs typeface="Segoe UI" pitchFamily="34" charset="-120"/>
              </a:rPr>
              <a:t>The resident explains it in plain language</a:t>
            </a:r>
            <a:endParaRPr lang="en-US" sz="1150" dirty="0"/>
          </a:p>
        </p:txBody>
      </p:sp>
      <p:sp>
        <p:nvSpPr>
          <p:cNvPr id="13" name="Shape 9"/>
          <p:cNvSpPr/>
          <p:nvPr/>
        </p:nvSpPr>
        <p:spPr>
          <a:xfrm>
            <a:off x="3584448" y="2880360"/>
            <a:ext cx="2331720" cy="2560320"/>
          </a:xfrm>
          <a:prstGeom prst="roundRect">
            <a:avLst>
              <a:gd name="adj" fmla="val 3529"/>
            </a:avLst>
          </a:prstGeom>
          <a:solidFill>
            <a:srgbClr val="FFFFFF"/>
          </a:solidFill>
          <a:ln w="12700">
            <a:solidFill>
              <a:srgbClr val="E7E5F0"/>
            </a:solidFill>
            <a:prstDash val="solid"/>
          </a:ln>
          <a:effectLst>
            <a:outerShdw blurRad="63500" dist="50800" dir="5400000" algn="bl" rotWithShape="0">
              <a:srgbClr val="8A83B0">
                <a:alpha val="18000"/>
              </a:srgbClr>
            </a:outerShdw>
          </a:effectLst>
        </p:spPr>
        <p:txBody>
          <a:bodyPr/>
          <a:lstStyle/>
          <a:p>
            <a:endParaRPr lang="en-US"/>
          </a:p>
        </p:txBody>
      </p:sp>
      <p:sp>
        <p:nvSpPr>
          <p:cNvPr id="14" name="Text 10"/>
          <p:cNvSpPr/>
          <p:nvPr/>
        </p:nvSpPr>
        <p:spPr>
          <a:xfrm>
            <a:off x="3840480" y="3172968"/>
            <a:ext cx="438912" cy="502920"/>
          </a:xfrm>
          <a:prstGeom prst="rect">
            <a:avLst/>
          </a:prstGeom>
          <a:noFill/>
          <a:ln/>
        </p:spPr>
        <p:txBody>
          <a:bodyPr wrap="square" lIns="0" tIns="0" rIns="0" bIns="0" rtlCol="0" anchor="ctr">
            <a:normAutofit/>
          </a:bodyPr>
          <a:lstStyle/>
          <a:p>
            <a:pPr marL="0" indent="0">
              <a:buNone/>
            </a:pPr>
            <a:r>
              <a:rPr lang="en-US" sz="2800" b="1" dirty="0">
                <a:solidFill>
                  <a:srgbClr val="8661C5"/>
                </a:solidFill>
                <a:latin typeface="Segoe UI Semibold" pitchFamily="34" charset="0"/>
                <a:ea typeface="Segoe UI Semibold" pitchFamily="34" charset="-122"/>
                <a:cs typeface="Segoe UI Semibold" pitchFamily="34" charset="-120"/>
              </a:rPr>
              <a:t>2</a:t>
            </a:r>
            <a:endParaRPr lang="en-US" sz="2800" dirty="0"/>
          </a:p>
        </p:txBody>
      </p:sp>
      <p:pic>
        <p:nvPicPr>
          <p:cNvPr id="15" name="Image 2" descr="preencoded.png"/>
          <p:cNvPicPr>
            <a:picLocks noChangeAspect="1"/>
          </p:cNvPicPr>
          <p:nvPr/>
        </p:nvPicPr>
        <p:blipFill>
          <a:blip r:embed="rId5"/>
          <a:stretch>
            <a:fillRect/>
          </a:stretch>
        </p:blipFill>
        <p:spPr>
          <a:xfrm>
            <a:off x="5120640" y="3127248"/>
            <a:ext cx="530352" cy="530352"/>
          </a:xfrm>
          <a:prstGeom prst="rect">
            <a:avLst/>
          </a:prstGeom>
        </p:spPr>
      </p:pic>
      <p:sp>
        <p:nvSpPr>
          <p:cNvPr id="16" name="Text 11"/>
          <p:cNvSpPr/>
          <p:nvPr/>
        </p:nvSpPr>
        <p:spPr>
          <a:xfrm>
            <a:off x="3840480" y="3950208"/>
            <a:ext cx="1828800" cy="502920"/>
          </a:xfrm>
          <a:prstGeom prst="rect">
            <a:avLst/>
          </a:prstGeom>
          <a:noFill/>
          <a:ln/>
        </p:spPr>
        <p:txBody>
          <a:bodyPr wrap="square" lIns="0" tIns="0" rIns="0" bIns="0" rtlCol="0" anchor="ctr">
            <a:normAutofit/>
          </a:bodyPr>
          <a:lstStyle/>
          <a:p>
            <a:pPr marL="0" indent="0">
              <a:buNone/>
            </a:pPr>
            <a:r>
              <a:rPr lang="en-US" sz="1420" b="1" dirty="0">
                <a:solidFill>
                  <a:srgbClr val="091F2C"/>
                </a:solidFill>
                <a:latin typeface="Segoe UI Semibold" pitchFamily="34" charset="0"/>
                <a:ea typeface="Segoe UI Semibold" pitchFamily="34" charset="-122"/>
                <a:cs typeface="Segoe UI Semibold" pitchFamily="34" charset="-120"/>
              </a:rPr>
              <a:t>Navigate the service</a:t>
            </a:r>
            <a:endParaRPr lang="en-US" sz="1420" dirty="0"/>
          </a:p>
        </p:txBody>
      </p:sp>
      <p:sp>
        <p:nvSpPr>
          <p:cNvPr id="17" name="Text 12"/>
          <p:cNvSpPr/>
          <p:nvPr/>
        </p:nvSpPr>
        <p:spPr>
          <a:xfrm>
            <a:off x="3840480" y="4562856"/>
            <a:ext cx="1828800" cy="603504"/>
          </a:xfrm>
          <a:prstGeom prst="rect">
            <a:avLst/>
          </a:prstGeom>
          <a:noFill/>
          <a:ln/>
        </p:spPr>
        <p:txBody>
          <a:bodyPr wrap="square" lIns="0" tIns="0" rIns="0" bIns="0" rtlCol="0" anchor="ctr">
            <a:normAutofit/>
          </a:bodyPr>
          <a:lstStyle/>
          <a:p>
            <a:pPr marL="0" indent="0">
              <a:buNone/>
            </a:pPr>
            <a:r>
              <a:rPr lang="en-US" sz="1150" dirty="0">
                <a:solidFill>
                  <a:srgbClr val="5B6672"/>
                </a:solidFill>
                <a:latin typeface="Segoe UI" pitchFamily="34" charset="0"/>
                <a:ea typeface="Segoe UI" pitchFamily="34" charset="-122"/>
                <a:cs typeface="Segoe UI" pitchFamily="34" charset="-120"/>
              </a:rPr>
              <a:t>Approved public guidance finds the next step</a:t>
            </a:r>
            <a:endParaRPr lang="en-US" sz="1150" dirty="0"/>
          </a:p>
        </p:txBody>
      </p:sp>
      <p:sp>
        <p:nvSpPr>
          <p:cNvPr id="18" name="Shape 13"/>
          <p:cNvSpPr/>
          <p:nvPr/>
        </p:nvSpPr>
        <p:spPr>
          <a:xfrm>
            <a:off x="6483096" y="2880360"/>
            <a:ext cx="2331720" cy="2560320"/>
          </a:xfrm>
          <a:prstGeom prst="roundRect">
            <a:avLst>
              <a:gd name="adj" fmla="val 3529"/>
            </a:avLst>
          </a:prstGeom>
          <a:solidFill>
            <a:srgbClr val="FFFFFF"/>
          </a:solidFill>
          <a:ln w="12700">
            <a:solidFill>
              <a:srgbClr val="E7E5F0"/>
            </a:solidFill>
            <a:prstDash val="solid"/>
          </a:ln>
          <a:effectLst>
            <a:outerShdw blurRad="63500" dist="50800" dir="5400000" algn="bl" rotWithShape="0">
              <a:srgbClr val="8A83B0">
                <a:alpha val="18000"/>
              </a:srgbClr>
            </a:outerShdw>
          </a:effectLst>
        </p:spPr>
        <p:txBody>
          <a:bodyPr/>
          <a:lstStyle/>
          <a:p>
            <a:endParaRPr lang="en-US"/>
          </a:p>
        </p:txBody>
      </p:sp>
      <p:sp>
        <p:nvSpPr>
          <p:cNvPr id="19" name="Text 14"/>
          <p:cNvSpPr/>
          <p:nvPr/>
        </p:nvSpPr>
        <p:spPr>
          <a:xfrm>
            <a:off x="6739128" y="3172968"/>
            <a:ext cx="438912" cy="502920"/>
          </a:xfrm>
          <a:prstGeom prst="rect">
            <a:avLst/>
          </a:prstGeom>
          <a:noFill/>
          <a:ln/>
        </p:spPr>
        <p:txBody>
          <a:bodyPr wrap="square" lIns="0" tIns="0" rIns="0" bIns="0" rtlCol="0" anchor="ctr">
            <a:normAutofit/>
          </a:bodyPr>
          <a:lstStyle/>
          <a:p>
            <a:pPr marL="0" indent="0">
              <a:buNone/>
            </a:pPr>
            <a:r>
              <a:rPr lang="en-US" sz="2800" b="1" dirty="0">
                <a:solidFill>
                  <a:srgbClr val="C03BC4"/>
                </a:solidFill>
                <a:latin typeface="Segoe UI Semibold" pitchFamily="34" charset="0"/>
                <a:ea typeface="Segoe UI Semibold" pitchFamily="34" charset="-122"/>
                <a:cs typeface="Segoe UI Semibold" pitchFamily="34" charset="-120"/>
              </a:rPr>
              <a:t>3</a:t>
            </a:r>
            <a:endParaRPr lang="en-US" sz="2800" dirty="0"/>
          </a:p>
        </p:txBody>
      </p:sp>
      <p:pic>
        <p:nvPicPr>
          <p:cNvPr id="20" name="Image 3" descr="preencoded.png"/>
          <p:cNvPicPr>
            <a:picLocks noChangeAspect="1"/>
          </p:cNvPicPr>
          <p:nvPr/>
        </p:nvPicPr>
        <p:blipFill>
          <a:blip r:embed="rId6"/>
          <a:stretch>
            <a:fillRect/>
          </a:stretch>
        </p:blipFill>
        <p:spPr>
          <a:xfrm>
            <a:off x="8019288" y="3127248"/>
            <a:ext cx="530352" cy="530352"/>
          </a:xfrm>
          <a:prstGeom prst="rect">
            <a:avLst/>
          </a:prstGeom>
        </p:spPr>
      </p:pic>
      <p:sp>
        <p:nvSpPr>
          <p:cNvPr id="21" name="Text 15"/>
          <p:cNvSpPr/>
          <p:nvPr/>
        </p:nvSpPr>
        <p:spPr>
          <a:xfrm>
            <a:off x="6739128" y="3950208"/>
            <a:ext cx="1828800" cy="502920"/>
          </a:xfrm>
          <a:prstGeom prst="rect">
            <a:avLst/>
          </a:prstGeom>
          <a:noFill/>
          <a:ln/>
        </p:spPr>
        <p:txBody>
          <a:bodyPr wrap="square" lIns="0" tIns="0" rIns="0" bIns="0" rtlCol="0" anchor="ctr">
            <a:normAutofit/>
          </a:bodyPr>
          <a:lstStyle/>
          <a:p>
            <a:pPr marL="0" indent="0">
              <a:buNone/>
            </a:pPr>
            <a:r>
              <a:rPr lang="en-US" sz="1420" b="1" dirty="0">
                <a:solidFill>
                  <a:srgbClr val="091F2C"/>
                </a:solidFill>
                <a:latin typeface="Segoe UI Semibold" pitchFamily="34" charset="0"/>
                <a:ea typeface="Segoe UI Semibold" pitchFamily="34" charset="-122"/>
                <a:cs typeface="Segoe UI Semibold" pitchFamily="34" charset="-120"/>
              </a:rPr>
              <a:t>Create the request</a:t>
            </a:r>
            <a:endParaRPr lang="en-US" sz="1420" dirty="0"/>
          </a:p>
        </p:txBody>
      </p:sp>
      <p:sp>
        <p:nvSpPr>
          <p:cNvPr id="22" name="Text 16"/>
          <p:cNvSpPr/>
          <p:nvPr/>
        </p:nvSpPr>
        <p:spPr>
          <a:xfrm>
            <a:off x="6739128" y="4562856"/>
            <a:ext cx="1828800" cy="603504"/>
          </a:xfrm>
          <a:prstGeom prst="rect">
            <a:avLst/>
          </a:prstGeom>
          <a:noFill/>
          <a:ln/>
        </p:spPr>
        <p:txBody>
          <a:bodyPr wrap="square" lIns="0" tIns="0" rIns="0" bIns="0" rtlCol="0" anchor="ctr">
            <a:normAutofit/>
          </a:bodyPr>
          <a:lstStyle/>
          <a:p>
            <a:pPr marL="0" indent="0">
              <a:buNone/>
            </a:pPr>
            <a:r>
              <a:rPr lang="en-US" sz="1150" dirty="0">
                <a:solidFill>
                  <a:srgbClr val="5B6672"/>
                </a:solidFill>
                <a:latin typeface="Segoe UI" pitchFamily="34" charset="0"/>
                <a:ea typeface="Segoe UI" pitchFamily="34" charset="-122"/>
                <a:cs typeface="Segoe UI" pitchFamily="34" charset="-120"/>
              </a:rPr>
              <a:t>A governed flow writes to the service system</a:t>
            </a:r>
            <a:endParaRPr lang="en-US" sz="1150" dirty="0"/>
          </a:p>
        </p:txBody>
      </p:sp>
      <p:sp>
        <p:nvSpPr>
          <p:cNvPr id="23" name="Shape 17"/>
          <p:cNvSpPr/>
          <p:nvPr/>
        </p:nvSpPr>
        <p:spPr>
          <a:xfrm>
            <a:off x="9381744" y="2880360"/>
            <a:ext cx="2331720" cy="2560320"/>
          </a:xfrm>
          <a:prstGeom prst="roundRect">
            <a:avLst>
              <a:gd name="adj" fmla="val 3529"/>
            </a:avLst>
          </a:prstGeom>
          <a:solidFill>
            <a:srgbClr val="FFFFFF"/>
          </a:solidFill>
          <a:ln w="12700">
            <a:solidFill>
              <a:srgbClr val="E7E5F0"/>
            </a:solidFill>
            <a:prstDash val="solid"/>
          </a:ln>
          <a:effectLst>
            <a:outerShdw blurRad="63500" dist="50800" dir="5400000" algn="bl" rotWithShape="0">
              <a:srgbClr val="8A83B0">
                <a:alpha val="18000"/>
              </a:srgbClr>
            </a:outerShdw>
          </a:effectLst>
        </p:spPr>
        <p:txBody>
          <a:bodyPr/>
          <a:lstStyle/>
          <a:p>
            <a:endParaRPr lang="en-US"/>
          </a:p>
        </p:txBody>
      </p:sp>
      <p:sp>
        <p:nvSpPr>
          <p:cNvPr id="24" name="Text 18"/>
          <p:cNvSpPr/>
          <p:nvPr/>
        </p:nvSpPr>
        <p:spPr>
          <a:xfrm>
            <a:off x="9637776" y="3172968"/>
            <a:ext cx="438912" cy="502920"/>
          </a:xfrm>
          <a:prstGeom prst="rect">
            <a:avLst/>
          </a:prstGeom>
          <a:noFill/>
          <a:ln/>
        </p:spPr>
        <p:txBody>
          <a:bodyPr wrap="square" lIns="0" tIns="0" rIns="0" bIns="0" rtlCol="0" anchor="ctr">
            <a:normAutofit/>
          </a:bodyPr>
          <a:lstStyle/>
          <a:p>
            <a:pPr marL="0" indent="0">
              <a:buNone/>
            </a:pPr>
            <a:r>
              <a:rPr lang="en-US" sz="2800" b="1" dirty="0">
                <a:solidFill>
                  <a:srgbClr val="FF5C39"/>
                </a:solidFill>
                <a:latin typeface="Segoe UI Semibold" pitchFamily="34" charset="0"/>
                <a:ea typeface="Segoe UI Semibold" pitchFamily="34" charset="-122"/>
                <a:cs typeface="Segoe UI Semibold" pitchFamily="34" charset="-120"/>
              </a:rPr>
              <a:t>4</a:t>
            </a:r>
            <a:endParaRPr lang="en-US" sz="2800" dirty="0"/>
          </a:p>
        </p:txBody>
      </p:sp>
      <p:pic>
        <p:nvPicPr>
          <p:cNvPr id="25" name="Image 4" descr="preencoded.png"/>
          <p:cNvPicPr>
            <a:picLocks noChangeAspect="1"/>
          </p:cNvPicPr>
          <p:nvPr/>
        </p:nvPicPr>
        <p:blipFill>
          <a:blip r:embed="rId7"/>
          <a:stretch>
            <a:fillRect/>
          </a:stretch>
        </p:blipFill>
        <p:spPr>
          <a:xfrm>
            <a:off x="10917936" y="3127248"/>
            <a:ext cx="530352" cy="530352"/>
          </a:xfrm>
          <a:prstGeom prst="rect">
            <a:avLst/>
          </a:prstGeom>
        </p:spPr>
      </p:pic>
      <p:sp>
        <p:nvSpPr>
          <p:cNvPr id="26" name="Text 19"/>
          <p:cNvSpPr/>
          <p:nvPr/>
        </p:nvSpPr>
        <p:spPr>
          <a:xfrm>
            <a:off x="9637776" y="3950208"/>
            <a:ext cx="1828800" cy="502920"/>
          </a:xfrm>
          <a:prstGeom prst="rect">
            <a:avLst/>
          </a:prstGeom>
          <a:noFill/>
          <a:ln/>
        </p:spPr>
        <p:txBody>
          <a:bodyPr wrap="square" lIns="0" tIns="0" rIns="0" bIns="0" rtlCol="0" anchor="ctr">
            <a:normAutofit/>
          </a:bodyPr>
          <a:lstStyle/>
          <a:p>
            <a:pPr marL="0" indent="0">
              <a:buNone/>
            </a:pPr>
            <a:r>
              <a:rPr lang="en-US" sz="1420" b="1" dirty="0">
                <a:solidFill>
                  <a:srgbClr val="091F2C"/>
                </a:solidFill>
                <a:latin typeface="Segoe UI Semibold" pitchFamily="34" charset="0"/>
                <a:ea typeface="Segoe UI Semibold" pitchFamily="34" charset="-122"/>
                <a:cs typeface="Segoe UI Semibold" pitchFamily="34" charset="-120"/>
              </a:rPr>
              <a:t>Confirm &amp; track</a:t>
            </a:r>
            <a:endParaRPr lang="en-US" sz="1420" dirty="0"/>
          </a:p>
        </p:txBody>
      </p:sp>
      <p:sp>
        <p:nvSpPr>
          <p:cNvPr id="27" name="Text 20"/>
          <p:cNvSpPr/>
          <p:nvPr/>
        </p:nvSpPr>
        <p:spPr>
          <a:xfrm>
            <a:off x="9637776" y="4562856"/>
            <a:ext cx="1828800" cy="603504"/>
          </a:xfrm>
          <a:prstGeom prst="rect">
            <a:avLst/>
          </a:prstGeom>
          <a:noFill/>
          <a:ln/>
        </p:spPr>
        <p:txBody>
          <a:bodyPr wrap="square" lIns="0" tIns="0" rIns="0" bIns="0" rtlCol="0" anchor="ctr">
            <a:normAutofit/>
          </a:bodyPr>
          <a:lstStyle/>
          <a:p>
            <a:pPr marL="0" indent="0">
              <a:buNone/>
            </a:pPr>
            <a:r>
              <a:rPr lang="en-US" sz="1150" dirty="0">
                <a:solidFill>
                  <a:srgbClr val="5B6672"/>
                </a:solidFill>
                <a:latin typeface="Segoe UI" pitchFamily="34" charset="0"/>
                <a:ea typeface="Segoe UI" pitchFamily="34" charset="-122"/>
                <a:cs typeface="Segoe UI" pitchFamily="34" charset="-120"/>
              </a:rPr>
              <a:t>The resident gets a reference number</a:t>
            </a:r>
            <a:endParaRPr lang="en-US" sz="1150" dirty="0"/>
          </a:p>
        </p:txBody>
      </p:sp>
      <p:sp>
        <p:nvSpPr>
          <p:cNvPr id="28" name="Shape 21"/>
          <p:cNvSpPr/>
          <p:nvPr/>
        </p:nvSpPr>
        <p:spPr>
          <a:xfrm>
            <a:off x="685800" y="5669280"/>
            <a:ext cx="11027664" cy="475488"/>
          </a:xfrm>
          <a:prstGeom prst="roundRect">
            <a:avLst>
              <a:gd name="adj" fmla="val 17308"/>
            </a:avLst>
          </a:prstGeom>
          <a:solidFill>
            <a:srgbClr val="ECEAF6"/>
          </a:solidFill>
          <a:ln w="12700">
            <a:solidFill>
              <a:srgbClr val="ECEAF6"/>
            </a:solidFill>
            <a:prstDash val="solid"/>
          </a:ln>
        </p:spPr>
        <p:txBody>
          <a:bodyPr/>
          <a:lstStyle/>
          <a:p>
            <a:endParaRPr lang="en-US"/>
          </a:p>
        </p:txBody>
      </p:sp>
      <p:pic>
        <p:nvPicPr>
          <p:cNvPr id="29" name="Image 5" descr="preencoded.png"/>
          <p:cNvPicPr>
            <a:picLocks noChangeAspect="1"/>
          </p:cNvPicPr>
          <p:nvPr/>
        </p:nvPicPr>
        <p:blipFill>
          <a:blip r:embed="rId8"/>
          <a:stretch>
            <a:fillRect/>
          </a:stretch>
        </p:blipFill>
        <p:spPr>
          <a:xfrm>
            <a:off x="914400" y="5742432"/>
            <a:ext cx="320040" cy="320040"/>
          </a:xfrm>
          <a:prstGeom prst="rect">
            <a:avLst/>
          </a:prstGeom>
        </p:spPr>
      </p:pic>
      <p:sp>
        <p:nvSpPr>
          <p:cNvPr id="30" name="Text 22"/>
          <p:cNvSpPr/>
          <p:nvPr/>
        </p:nvSpPr>
        <p:spPr>
          <a:xfrm>
            <a:off x="1371600" y="5733288"/>
            <a:ext cx="9875520" cy="310896"/>
          </a:xfrm>
          <a:prstGeom prst="rect">
            <a:avLst/>
          </a:prstGeom>
          <a:noFill/>
          <a:ln/>
        </p:spPr>
        <p:txBody>
          <a:bodyPr wrap="square" lIns="0" tIns="0" rIns="0" bIns="0" rtlCol="0" anchor="ctr">
            <a:normAutofit/>
          </a:bodyPr>
          <a:lstStyle/>
          <a:p>
            <a:pPr marL="0" indent="0">
              <a:buNone/>
            </a:pPr>
            <a:r>
              <a:rPr lang="en-US" sz="1120" b="1" dirty="0">
                <a:solidFill>
                  <a:srgbClr val="684189"/>
                </a:solidFill>
                <a:latin typeface="Segoe UI Semibold" pitchFamily="34" charset="0"/>
                <a:ea typeface="Segoe UI Semibold" pitchFamily="34" charset="-122"/>
                <a:cs typeface="Segoe UI Semibold" pitchFamily="34" charset="-120"/>
              </a:rPr>
              <a:t>Optional:  a supported AI Builder model extracts fields after submission — validated before use.</a:t>
            </a:r>
            <a:endParaRPr lang="en-US" sz="1120" dirty="0"/>
          </a:p>
        </p:txBody>
      </p:sp>
      <p:sp>
        <p:nvSpPr>
          <p:cNvPr id="31" name="Text 23"/>
          <p:cNvSpPr/>
          <p:nvPr/>
        </p:nvSpPr>
        <p:spPr>
          <a:xfrm>
            <a:off x="777240" y="6510528"/>
            <a:ext cx="1828800" cy="155448"/>
          </a:xfrm>
          <a:prstGeom prst="rect">
            <a:avLst/>
          </a:prstGeom>
          <a:noFill/>
          <a:ln/>
        </p:spPr>
        <p:txBody>
          <a:bodyPr wrap="square" lIns="0" tIns="0" rIns="0" bIns="0" rtlCol="0" anchor="ctr">
            <a:normAutofit/>
          </a:bodyPr>
          <a:lstStyle/>
          <a:p>
            <a:pPr marL="0" indent="0">
              <a:buNone/>
            </a:pPr>
            <a:r>
              <a:rPr lang="en-US" sz="850" dirty="0">
                <a:solidFill>
                  <a:srgbClr val="9AA3AD"/>
                </a:solidFill>
                <a:latin typeface="Segoe UI" pitchFamily="34" charset="0"/>
                <a:ea typeface="Segoe UI" pitchFamily="34" charset="-122"/>
                <a:cs typeface="Segoe UI" pitchFamily="34" charset="-120"/>
              </a:rPr>
              <a:t>Copilot Studio</a:t>
            </a:r>
            <a:endParaRPr lang="en-US" sz="850" dirty="0"/>
          </a:p>
        </p:txBody>
      </p:sp>
      <p:sp>
        <p:nvSpPr>
          <p:cNvPr id="32" name="Text 24"/>
          <p:cNvSpPr/>
          <p:nvPr/>
        </p:nvSpPr>
        <p:spPr>
          <a:xfrm>
            <a:off x="11228832" y="6473952"/>
            <a:ext cx="320040" cy="164592"/>
          </a:xfrm>
          <a:prstGeom prst="rect">
            <a:avLst/>
          </a:prstGeom>
          <a:noFill/>
          <a:ln/>
        </p:spPr>
        <p:txBody>
          <a:bodyPr wrap="square" lIns="0" tIns="0" rIns="0" bIns="0" rtlCol="0" anchor="ctr">
            <a:normAutofit/>
          </a:bodyPr>
          <a:lstStyle/>
          <a:p>
            <a:pPr marL="0" indent="0" algn="r">
              <a:buNone/>
            </a:pPr>
            <a:r>
              <a:rPr lang="en-US" sz="900">
                <a:solidFill>
                  <a:srgbClr val="9AA3AD"/>
                </a:solidFill>
                <a:latin typeface="Segoe UI" pitchFamily="34" charset="0"/>
                <a:ea typeface="Segoe UI" pitchFamily="34" charset="-122"/>
                <a:cs typeface="Segoe UI" pitchFamily="34" charset="-120"/>
              </a:rPr>
              <a:t>6</a:t>
            </a:r>
            <a:endParaRPr lang="en-US" sz="9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9">
    <p:bg>
      <p:bgPr>
        <a:solidFill>
          <a:srgbClr val="F2F1F7"/>
        </a:solidFill>
        <a:effectLst/>
      </p:bgPr>
    </p:bg>
    <p:spTree>
      <p:nvGrpSpPr>
        <p:cNvPr id="1" name=""/>
        <p:cNvGrpSpPr/>
        <p:nvPr/>
      </p:nvGrpSpPr>
      <p:grpSpPr>
        <a:xfrm>
          <a:off x="0" y="0"/>
          <a:ext cx="0" cy="0"/>
          <a:chOff x="0" y="0"/>
          <a:chExt cx="0" cy="0"/>
        </a:xfrm>
      </p:grpSpPr>
      <p:sp>
        <p:nvSpPr>
          <p:cNvPr id="2" name="Text 0"/>
          <p:cNvSpPr/>
          <p:nvPr/>
        </p:nvSpPr>
        <p:spPr>
          <a:xfrm>
            <a:off x="777240" y="566928"/>
            <a:ext cx="6858000" cy="237744"/>
          </a:xfrm>
          <a:prstGeom prst="rect">
            <a:avLst/>
          </a:prstGeom>
          <a:noFill/>
          <a:ln/>
        </p:spPr>
        <p:txBody>
          <a:bodyPr wrap="square" lIns="0" tIns="0" rIns="0" bIns="0" rtlCol="0" anchor="ctr">
            <a:normAutofit/>
          </a:bodyPr>
          <a:lstStyle/>
          <a:p>
            <a:pPr marL="0" indent="0">
              <a:buNone/>
            </a:pPr>
            <a:r>
              <a:rPr lang="en-US" sz="1100" b="1" kern="0" spc="180" dirty="0">
                <a:solidFill>
                  <a:srgbClr val="0078D4"/>
                </a:solidFill>
                <a:latin typeface="Segoe UI Semibold" pitchFamily="34" charset="0"/>
                <a:ea typeface="Segoe UI Semibold" pitchFamily="34" charset="-122"/>
                <a:cs typeface="Segoe UI Semibold" pitchFamily="34" charset="-120"/>
              </a:rPr>
              <a:t>CHOOSE THE CENTER OF GRAVITY</a:t>
            </a:r>
            <a:endParaRPr lang="en-US" sz="1100" dirty="0"/>
          </a:p>
        </p:txBody>
      </p:sp>
      <p:sp>
        <p:nvSpPr>
          <p:cNvPr id="3" name="Text 1"/>
          <p:cNvSpPr/>
          <p:nvPr/>
        </p:nvSpPr>
        <p:spPr>
          <a:xfrm>
            <a:off x="777240" y="932688"/>
            <a:ext cx="10744200" cy="822960"/>
          </a:xfrm>
          <a:prstGeom prst="rect">
            <a:avLst/>
          </a:prstGeom>
          <a:noFill/>
          <a:ln/>
        </p:spPr>
        <p:txBody>
          <a:bodyPr wrap="square" lIns="0" tIns="0" rIns="0" bIns="0" rtlCol="0" anchor="ctr">
            <a:normAutofit/>
          </a:bodyPr>
          <a:lstStyle/>
          <a:p>
            <a:pPr marL="0" indent="0">
              <a:buNone/>
            </a:pPr>
            <a:r>
              <a:rPr lang="en-US" sz="2500" b="1" dirty="0">
                <a:solidFill>
                  <a:srgbClr val="091F2C"/>
                </a:solidFill>
                <a:latin typeface="Segoe UI Semibold" pitchFamily="34" charset="0"/>
                <a:ea typeface="Segoe UI Semibold" pitchFamily="34" charset="-122"/>
                <a:cs typeface="Segoe UI Semibold" pitchFamily="34" charset="-120"/>
              </a:rPr>
              <a:t>Start where the solution belongs; connect where the value is clear.</a:t>
            </a:r>
            <a:endParaRPr lang="en-US" sz="2500" dirty="0"/>
          </a:p>
        </p:txBody>
      </p:sp>
      <p:sp>
        <p:nvSpPr>
          <p:cNvPr id="4" name="Text 2"/>
          <p:cNvSpPr/>
          <p:nvPr/>
        </p:nvSpPr>
        <p:spPr>
          <a:xfrm>
            <a:off x="777240" y="1828800"/>
            <a:ext cx="10698480" cy="411480"/>
          </a:xfrm>
          <a:prstGeom prst="rect">
            <a:avLst/>
          </a:prstGeom>
          <a:noFill/>
          <a:ln/>
        </p:spPr>
        <p:txBody>
          <a:bodyPr wrap="square" lIns="0" tIns="0" rIns="0" bIns="0" rtlCol="0" anchor="ctr">
            <a:normAutofit/>
          </a:bodyPr>
          <a:lstStyle/>
          <a:p>
            <a:pPr marL="0" indent="0">
              <a:buNone/>
            </a:pPr>
            <a:r>
              <a:rPr lang="en-US" sz="1320" dirty="0">
                <a:solidFill>
                  <a:srgbClr val="5B6672"/>
                </a:solidFill>
                <a:latin typeface="Segoe UI" pitchFamily="34" charset="0"/>
                <a:ea typeface="Segoe UI" pitchFamily="34" charset="-122"/>
                <a:cs typeface="Segoe UI" pitchFamily="34" charset="-120"/>
              </a:rPr>
              <a:t>Center of gravity picks the starting point — integration always stays open.</a:t>
            </a:r>
            <a:endParaRPr lang="en-US" sz="1320" dirty="0"/>
          </a:p>
        </p:txBody>
      </p:sp>
      <p:sp>
        <p:nvSpPr>
          <p:cNvPr id="5" name="Shape 3"/>
          <p:cNvSpPr/>
          <p:nvPr/>
        </p:nvSpPr>
        <p:spPr>
          <a:xfrm>
            <a:off x="457200" y="2907792"/>
            <a:ext cx="3337560" cy="2606040"/>
          </a:xfrm>
          <a:prstGeom prst="roundRect">
            <a:avLst>
              <a:gd name="adj" fmla="val 3158"/>
            </a:avLst>
          </a:prstGeom>
          <a:solidFill>
            <a:srgbClr val="FFFFFF"/>
          </a:solidFill>
          <a:ln w="12700">
            <a:solidFill>
              <a:srgbClr val="E7E5F0"/>
            </a:solidFill>
            <a:prstDash val="solid"/>
          </a:ln>
          <a:effectLst>
            <a:outerShdw blurRad="63500" dist="50800" dir="5400000" algn="bl" rotWithShape="0">
              <a:srgbClr val="8A83B0">
                <a:alpha val="18000"/>
              </a:srgbClr>
            </a:outerShdw>
          </a:effectLst>
        </p:spPr>
        <p:txBody>
          <a:bodyPr/>
          <a:lstStyle/>
          <a:p>
            <a:endParaRPr lang="en-US"/>
          </a:p>
        </p:txBody>
      </p:sp>
      <p:pic>
        <p:nvPicPr>
          <p:cNvPr id="7" name="Image 1" descr="preencoded.png"/>
          <p:cNvPicPr>
            <a:picLocks noChangeAspect="1"/>
          </p:cNvPicPr>
          <p:nvPr/>
        </p:nvPicPr>
        <p:blipFill>
          <a:blip r:embed="rId3"/>
          <a:stretch>
            <a:fillRect/>
          </a:stretch>
        </p:blipFill>
        <p:spPr>
          <a:xfrm>
            <a:off x="1764792" y="3154680"/>
            <a:ext cx="731520" cy="731520"/>
          </a:xfrm>
          <a:prstGeom prst="rect">
            <a:avLst/>
          </a:prstGeom>
        </p:spPr>
      </p:pic>
      <p:sp>
        <p:nvSpPr>
          <p:cNvPr id="8" name="Text 4"/>
          <p:cNvSpPr/>
          <p:nvPr/>
        </p:nvSpPr>
        <p:spPr>
          <a:xfrm>
            <a:off x="640080" y="4059936"/>
            <a:ext cx="2971800" cy="256032"/>
          </a:xfrm>
          <a:prstGeom prst="rect">
            <a:avLst/>
          </a:prstGeom>
          <a:noFill/>
          <a:ln/>
        </p:spPr>
        <p:txBody>
          <a:bodyPr wrap="square" lIns="0" tIns="0" rIns="0" bIns="0" rtlCol="0" anchor="ctr">
            <a:normAutofit/>
          </a:bodyPr>
          <a:lstStyle/>
          <a:p>
            <a:pPr marL="0" indent="0" algn="ctr">
              <a:buNone/>
            </a:pPr>
            <a:r>
              <a:rPr lang="en-US" sz="1080" b="1" dirty="0">
                <a:solidFill>
                  <a:srgbClr val="0078D4"/>
                </a:solidFill>
                <a:latin typeface="Segoe UI Semibold" pitchFamily="34" charset="0"/>
                <a:ea typeface="Segoe UI Semibold" pitchFamily="34" charset="-122"/>
                <a:cs typeface="Segoe UI Semibold" pitchFamily="34" charset="-120"/>
              </a:rPr>
              <a:t>EMPLOYEE EXPERIENCE</a:t>
            </a:r>
            <a:endParaRPr lang="en-US" sz="1080" dirty="0"/>
          </a:p>
        </p:txBody>
      </p:sp>
      <p:sp>
        <p:nvSpPr>
          <p:cNvPr id="9" name="Text 5"/>
          <p:cNvSpPr/>
          <p:nvPr/>
        </p:nvSpPr>
        <p:spPr>
          <a:xfrm>
            <a:off x="640080" y="4416552"/>
            <a:ext cx="2971800" cy="365760"/>
          </a:xfrm>
          <a:prstGeom prst="rect">
            <a:avLst/>
          </a:prstGeom>
          <a:noFill/>
          <a:ln/>
        </p:spPr>
        <p:txBody>
          <a:bodyPr wrap="square" lIns="0" tIns="0" rIns="0" bIns="0" rtlCol="0" anchor="ctr">
            <a:normAutofit/>
          </a:bodyPr>
          <a:lstStyle/>
          <a:p>
            <a:pPr marL="0" indent="0" algn="ctr">
              <a:buNone/>
            </a:pPr>
            <a:r>
              <a:rPr lang="en-US" sz="1700" b="1" dirty="0">
                <a:solidFill>
                  <a:srgbClr val="091F2C"/>
                </a:solidFill>
                <a:latin typeface="Segoe UI Semibold" pitchFamily="34" charset="0"/>
                <a:ea typeface="Segoe UI Semibold" pitchFamily="34" charset="-122"/>
                <a:cs typeface="Segoe UI Semibold" pitchFamily="34" charset="-120"/>
              </a:rPr>
              <a:t>M365 Copilot</a:t>
            </a:r>
            <a:endParaRPr lang="en-US" sz="1700" dirty="0"/>
          </a:p>
        </p:txBody>
      </p:sp>
      <p:sp>
        <p:nvSpPr>
          <p:cNvPr id="10" name="Text 6"/>
          <p:cNvSpPr/>
          <p:nvPr/>
        </p:nvSpPr>
        <p:spPr>
          <a:xfrm>
            <a:off x="804672" y="4864608"/>
            <a:ext cx="2642616" cy="548640"/>
          </a:xfrm>
          <a:prstGeom prst="rect">
            <a:avLst/>
          </a:prstGeom>
          <a:noFill/>
          <a:ln/>
        </p:spPr>
        <p:txBody>
          <a:bodyPr wrap="square" lIns="0" tIns="0" rIns="0" bIns="0" rtlCol="0" anchor="ctr">
            <a:normAutofit/>
          </a:bodyPr>
          <a:lstStyle/>
          <a:p>
            <a:pPr marL="0" indent="0" algn="ctr">
              <a:buNone/>
            </a:pPr>
            <a:r>
              <a:rPr lang="en-US" sz="1130" dirty="0">
                <a:solidFill>
                  <a:srgbClr val="5B6672"/>
                </a:solidFill>
                <a:latin typeface="Segoe UI" pitchFamily="34" charset="0"/>
                <a:ea typeface="Segoe UI" pitchFamily="34" charset="-122"/>
                <a:cs typeface="Segoe UI" pitchFamily="34" charset="-120"/>
              </a:rPr>
              <a:t>Productivity grounded in your Microsoft 365 work</a:t>
            </a:r>
            <a:endParaRPr lang="en-US" sz="1130" dirty="0"/>
          </a:p>
        </p:txBody>
      </p:sp>
      <p:grpSp>
        <p:nvGrpSpPr>
          <p:cNvPr id="32" name="Group 31">
            <a:extLst>
              <a:ext uri="{FF2B5EF4-FFF2-40B4-BE49-F238E27FC236}">
                <a16:creationId xmlns:a16="http://schemas.microsoft.com/office/drawing/2014/main" id="{06C1A239-C8E9-A76B-77CF-3198603860CE}"/>
              </a:ext>
            </a:extLst>
          </p:cNvPr>
          <p:cNvGrpSpPr/>
          <p:nvPr/>
        </p:nvGrpSpPr>
        <p:grpSpPr>
          <a:xfrm>
            <a:off x="4425696" y="2907792"/>
            <a:ext cx="3337560" cy="2606040"/>
            <a:chOff x="4425696" y="2907792"/>
            <a:chExt cx="3337560" cy="2606040"/>
          </a:xfrm>
        </p:grpSpPr>
        <p:sp>
          <p:nvSpPr>
            <p:cNvPr id="11" name="Shape 7"/>
            <p:cNvSpPr/>
            <p:nvPr/>
          </p:nvSpPr>
          <p:spPr>
            <a:xfrm>
              <a:off x="4425696" y="2907792"/>
              <a:ext cx="3337560" cy="2606040"/>
            </a:xfrm>
            <a:prstGeom prst="roundRect">
              <a:avLst>
                <a:gd name="adj" fmla="val 3158"/>
              </a:avLst>
            </a:prstGeom>
            <a:solidFill>
              <a:srgbClr val="091F2C"/>
            </a:solidFill>
            <a:ln w="12700">
              <a:solidFill>
                <a:srgbClr val="0078D4"/>
              </a:solidFill>
              <a:prstDash val="solid"/>
            </a:ln>
            <a:effectLst>
              <a:outerShdw blurRad="88900" dist="50800" dir="5400000" algn="bl" rotWithShape="0">
                <a:srgbClr val="5C5776">
                  <a:alpha val="22000"/>
                </a:srgbClr>
              </a:outerShdw>
            </a:effectLst>
          </p:spPr>
          <p:txBody>
            <a:bodyPr/>
            <a:lstStyle/>
            <a:p>
              <a:endParaRPr lang="en-US"/>
            </a:p>
          </p:txBody>
        </p:sp>
        <p:pic>
          <p:nvPicPr>
            <p:cNvPr id="13" name="Image 3" descr="preencoded.png"/>
            <p:cNvPicPr>
              <a:picLocks noChangeAspect="1"/>
            </p:cNvPicPr>
            <p:nvPr/>
          </p:nvPicPr>
          <p:blipFill>
            <a:blip r:embed="rId4"/>
            <a:stretch>
              <a:fillRect/>
            </a:stretch>
          </p:blipFill>
          <p:spPr>
            <a:xfrm>
              <a:off x="5733288" y="3154680"/>
              <a:ext cx="731520" cy="731520"/>
            </a:xfrm>
            <a:prstGeom prst="rect">
              <a:avLst/>
            </a:prstGeom>
          </p:spPr>
        </p:pic>
        <p:sp>
          <p:nvSpPr>
            <p:cNvPr id="14" name="Text 8"/>
            <p:cNvSpPr/>
            <p:nvPr/>
          </p:nvSpPr>
          <p:spPr>
            <a:xfrm>
              <a:off x="4608576" y="4059936"/>
              <a:ext cx="2971800" cy="256032"/>
            </a:xfrm>
            <a:prstGeom prst="rect">
              <a:avLst/>
            </a:prstGeom>
            <a:noFill/>
            <a:ln/>
          </p:spPr>
          <p:txBody>
            <a:bodyPr wrap="square" lIns="0" tIns="0" rIns="0" bIns="0" rtlCol="0" anchor="ctr">
              <a:normAutofit/>
            </a:bodyPr>
            <a:lstStyle/>
            <a:p>
              <a:pPr marL="0" indent="0" algn="ctr">
                <a:buNone/>
              </a:pPr>
              <a:r>
                <a:rPr lang="en-US" sz="1080" b="1" dirty="0">
                  <a:solidFill>
                    <a:srgbClr val="8DC8E8"/>
                  </a:solidFill>
                  <a:latin typeface="Segoe UI Semibold" pitchFamily="34" charset="0"/>
                  <a:ea typeface="Segoe UI Semibold" pitchFamily="34" charset="-122"/>
                  <a:cs typeface="Segoe UI Semibold" pitchFamily="34" charset="-120"/>
                </a:rPr>
                <a:t>BUSINESS AGENT</a:t>
              </a:r>
              <a:endParaRPr lang="en-US" sz="1080" dirty="0"/>
            </a:p>
          </p:txBody>
        </p:sp>
        <p:sp>
          <p:nvSpPr>
            <p:cNvPr id="15" name="Text 9"/>
            <p:cNvSpPr/>
            <p:nvPr/>
          </p:nvSpPr>
          <p:spPr>
            <a:xfrm>
              <a:off x="4608576" y="4416552"/>
              <a:ext cx="2971800" cy="365760"/>
            </a:xfrm>
            <a:prstGeom prst="rect">
              <a:avLst/>
            </a:prstGeom>
            <a:noFill/>
            <a:ln/>
          </p:spPr>
          <p:txBody>
            <a:bodyPr wrap="square" lIns="0" tIns="0" rIns="0" bIns="0" rtlCol="0" anchor="ctr">
              <a:normAutofit/>
            </a:bodyPr>
            <a:lstStyle/>
            <a:p>
              <a:pPr marL="0" indent="0" algn="ctr">
                <a:buNone/>
              </a:pPr>
              <a:r>
                <a:rPr lang="en-US" sz="1700" b="1" dirty="0">
                  <a:solidFill>
                    <a:srgbClr val="FFFFFF"/>
                  </a:solidFill>
                  <a:latin typeface="Segoe UI Semibold" pitchFamily="34" charset="0"/>
                  <a:ea typeface="Segoe UI Semibold" pitchFamily="34" charset="-122"/>
                  <a:cs typeface="Segoe UI Semibold" pitchFamily="34" charset="-120"/>
                </a:rPr>
                <a:t>Copilot Studio</a:t>
              </a:r>
              <a:endParaRPr lang="en-US" sz="1700" dirty="0"/>
            </a:p>
          </p:txBody>
        </p:sp>
        <p:sp>
          <p:nvSpPr>
            <p:cNvPr id="16" name="Text 10"/>
            <p:cNvSpPr/>
            <p:nvPr/>
          </p:nvSpPr>
          <p:spPr>
            <a:xfrm>
              <a:off x="4773168" y="4864608"/>
              <a:ext cx="2642616" cy="548640"/>
            </a:xfrm>
            <a:prstGeom prst="rect">
              <a:avLst/>
            </a:prstGeom>
            <a:noFill/>
            <a:ln/>
          </p:spPr>
          <p:txBody>
            <a:bodyPr wrap="square" lIns="0" tIns="0" rIns="0" bIns="0" rtlCol="0" anchor="ctr">
              <a:normAutofit/>
            </a:bodyPr>
            <a:lstStyle/>
            <a:p>
              <a:pPr marL="0" indent="0" algn="ctr">
                <a:buNone/>
              </a:pPr>
              <a:r>
                <a:rPr lang="en-US" sz="1130" dirty="0">
                  <a:solidFill>
                    <a:srgbClr val="C8D8E5"/>
                  </a:solidFill>
                  <a:latin typeface="Segoe UI" pitchFamily="34" charset="0"/>
                  <a:ea typeface="Segoe UI" pitchFamily="34" charset="-122"/>
                  <a:cs typeface="Segoe UI" pitchFamily="34" charset="-120"/>
                </a:rPr>
                <a:t>Governed knowledge, actions, channels, and lifecycle</a:t>
              </a:r>
              <a:endParaRPr lang="en-US" sz="1130" dirty="0"/>
            </a:p>
          </p:txBody>
        </p:sp>
      </p:grpSp>
      <p:grpSp>
        <p:nvGrpSpPr>
          <p:cNvPr id="33" name="Group 32">
            <a:extLst>
              <a:ext uri="{FF2B5EF4-FFF2-40B4-BE49-F238E27FC236}">
                <a16:creationId xmlns:a16="http://schemas.microsoft.com/office/drawing/2014/main" id="{8125F5D9-2221-F018-0357-1C79BB1F8D6F}"/>
              </a:ext>
            </a:extLst>
          </p:cNvPr>
          <p:cNvGrpSpPr/>
          <p:nvPr/>
        </p:nvGrpSpPr>
        <p:grpSpPr>
          <a:xfrm>
            <a:off x="8394192" y="2907792"/>
            <a:ext cx="3337560" cy="2606040"/>
            <a:chOff x="8394192" y="2907792"/>
            <a:chExt cx="3337560" cy="2606040"/>
          </a:xfrm>
        </p:grpSpPr>
        <p:sp>
          <p:nvSpPr>
            <p:cNvPr id="17" name="Shape 11"/>
            <p:cNvSpPr/>
            <p:nvPr/>
          </p:nvSpPr>
          <p:spPr>
            <a:xfrm>
              <a:off x="8394192" y="2907792"/>
              <a:ext cx="3337560" cy="2606040"/>
            </a:xfrm>
            <a:prstGeom prst="roundRect">
              <a:avLst>
                <a:gd name="adj" fmla="val 3158"/>
              </a:avLst>
            </a:prstGeom>
            <a:solidFill>
              <a:srgbClr val="FFFFFF"/>
            </a:solidFill>
            <a:ln w="12700">
              <a:solidFill>
                <a:srgbClr val="E7E5F0"/>
              </a:solidFill>
              <a:prstDash val="solid"/>
            </a:ln>
            <a:effectLst>
              <a:outerShdw blurRad="63500" dist="50800" dir="5400000" algn="bl" rotWithShape="0">
                <a:srgbClr val="8A83B0">
                  <a:alpha val="18000"/>
                </a:srgbClr>
              </a:outerShdw>
            </a:effectLst>
          </p:spPr>
          <p:txBody>
            <a:bodyPr/>
            <a:lstStyle/>
            <a:p>
              <a:endParaRPr lang="en-US"/>
            </a:p>
          </p:txBody>
        </p:sp>
        <p:pic>
          <p:nvPicPr>
            <p:cNvPr id="19" name="Image 5" descr="preencoded.png"/>
            <p:cNvPicPr>
              <a:picLocks noChangeAspect="1"/>
            </p:cNvPicPr>
            <p:nvPr/>
          </p:nvPicPr>
          <p:blipFill>
            <a:blip r:embed="rId5"/>
            <a:stretch>
              <a:fillRect/>
            </a:stretch>
          </p:blipFill>
          <p:spPr>
            <a:xfrm>
              <a:off x="9701784" y="3154680"/>
              <a:ext cx="731520" cy="731520"/>
            </a:xfrm>
            <a:prstGeom prst="rect">
              <a:avLst/>
            </a:prstGeom>
          </p:spPr>
        </p:pic>
        <p:sp>
          <p:nvSpPr>
            <p:cNvPr id="20" name="Text 12"/>
            <p:cNvSpPr/>
            <p:nvPr/>
          </p:nvSpPr>
          <p:spPr>
            <a:xfrm>
              <a:off x="8577072" y="4059936"/>
              <a:ext cx="2971800" cy="256032"/>
            </a:xfrm>
            <a:prstGeom prst="rect">
              <a:avLst/>
            </a:prstGeom>
            <a:noFill/>
            <a:ln/>
          </p:spPr>
          <p:txBody>
            <a:bodyPr wrap="square" lIns="0" tIns="0" rIns="0" bIns="0" rtlCol="0" anchor="ctr">
              <a:normAutofit/>
            </a:bodyPr>
            <a:lstStyle/>
            <a:p>
              <a:pPr marL="0" indent="0" algn="ctr">
                <a:buNone/>
              </a:pPr>
              <a:r>
                <a:rPr lang="en-US" sz="1080" b="1" dirty="0">
                  <a:solidFill>
                    <a:srgbClr val="C03BC4"/>
                  </a:solidFill>
                  <a:latin typeface="Segoe UI Semibold" pitchFamily="34" charset="0"/>
                  <a:ea typeface="Segoe UI Semibold" pitchFamily="34" charset="-122"/>
                  <a:cs typeface="Segoe UI Semibold" pitchFamily="34" charset="-120"/>
                </a:rPr>
                <a:t>CUSTOM AI ENGINEERING</a:t>
              </a:r>
              <a:endParaRPr lang="en-US" sz="1080" dirty="0"/>
            </a:p>
          </p:txBody>
        </p:sp>
        <p:sp>
          <p:nvSpPr>
            <p:cNvPr id="21" name="Text 13"/>
            <p:cNvSpPr/>
            <p:nvPr/>
          </p:nvSpPr>
          <p:spPr>
            <a:xfrm>
              <a:off x="8577072" y="4416552"/>
              <a:ext cx="2971800" cy="365760"/>
            </a:xfrm>
            <a:prstGeom prst="rect">
              <a:avLst/>
            </a:prstGeom>
            <a:noFill/>
            <a:ln/>
          </p:spPr>
          <p:txBody>
            <a:bodyPr wrap="square" lIns="0" tIns="0" rIns="0" bIns="0" rtlCol="0" anchor="ctr">
              <a:normAutofit/>
            </a:bodyPr>
            <a:lstStyle/>
            <a:p>
              <a:pPr marL="0" indent="0" algn="ctr">
                <a:buNone/>
              </a:pPr>
              <a:r>
                <a:rPr lang="en-US" sz="1700" b="1" dirty="0">
                  <a:solidFill>
                    <a:srgbClr val="091F2C"/>
                  </a:solidFill>
                  <a:latin typeface="Segoe UI Semibold" pitchFamily="34" charset="0"/>
                  <a:ea typeface="Segoe UI Semibold" pitchFamily="34" charset="-122"/>
                  <a:cs typeface="Segoe UI Semibold" pitchFamily="34" charset="-120"/>
                </a:rPr>
                <a:t>Microsoft Foundry</a:t>
              </a:r>
              <a:endParaRPr lang="en-US" sz="1700" dirty="0"/>
            </a:p>
          </p:txBody>
        </p:sp>
        <p:sp>
          <p:nvSpPr>
            <p:cNvPr id="22" name="Text 14"/>
            <p:cNvSpPr/>
            <p:nvPr/>
          </p:nvSpPr>
          <p:spPr>
            <a:xfrm>
              <a:off x="8741664" y="4864608"/>
              <a:ext cx="2642616" cy="548640"/>
            </a:xfrm>
            <a:prstGeom prst="rect">
              <a:avLst/>
            </a:prstGeom>
            <a:noFill/>
            <a:ln/>
          </p:spPr>
          <p:txBody>
            <a:bodyPr wrap="square" lIns="0" tIns="0" rIns="0" bIns="0" rtlCol="0" anchor="ctr">
              <a:normAutofit/>
            </a:bodyPr>
            <a:lstStyle/>
            <a:p>
              <a:pPr marL="0" indent="0" algn="ctr">
                <a:buNone/>
              </a:pPr>
              <a:r>
                <a:rPr lang="en-US" sz="1130" dirty="0">
                  <a:solidFill>
                    <a:srgbClr val="5B6672"/>
                  </a:solidFill>
                  <a:latin typeface="Segoe UI" pitchFamily="34" charset="0"/>
                  <a:ea typeface="Segoe UI" pitchFamily="34" charset="-122"/>
                  <a:cs typeface="Segoe UI" pitchFamily="34" charset="-120"/>
                </a:rPr>
                <a:t>Code-first agents, model choice, evaluations, Azure-native</a:t>
              </a:r>
              <a:endParaRPr lang="en-US" sz="1130" dirty="0"/>
            </a:p>
          </p:txBody>
        </p:sp>
      </p:grpSp>
      <p:sp>
        <p:nvSpPr>
          <p:cNvPr id="26" name="Shape 18"/>
          <p:cNvSpPr/>
          <p:nvPr/>
        </p:nvSpPr>
        <p:spPr>
          <a:xfrm>
            <a:off x="3904488" y="4224528"/>
            <a:ext cx="411480" cy="0"/>
          </a:xfrm>
          <a:prstGeom prst="line">
            <a:avLst/>
          </a:prstGeom>
          <a:noFill/>
          <a:ln w="31750">
            <a:solidFill>
              <a:srgbClr val="0078D4"/>
            </a:solidFill>
            <a:prstDash val="solid"/>
            <a:headEnd type="triangle"/>
            <a:tailEnd type="triangle"/>
          </a:ln>
        </p:spPr>
        <p:txBody>
          <a:bodyPr/>
          <a:lstStyle/>
          <a:p>
            <a:endParaRPr lang="en-US"/>
          </a:p>
        </p:txBody>
      </p:sp>
      <p:sp>
        <p:nvSpPr>
          <p:cNvPr id="28" name="Shape 20"/>
          <p:cNvSpPr/>
          <p:nvPr/>
        </p:nvSpPr>
        <p:spPr>
          <a:xfrm>
            <a:off x="7872984" y="4224528"/>
            <a:ext cx="411480" cy="0"/>
          </a:xfrm>
          <a:prstGeom prst="line">
            <a:avLst/>
          </a:prstGeom>
          <a:noFill/>
          <a:ln w="31750">
            <a:solidFill>
              <a:srgbClr val="C03BC4"/>
            </a:solidFill>
            <a:prstDash val="solid"/>
            <a:headEnd type="triangle"/>
            <a:tailEnd type="triangle"/>
          </a:ln>
        </p:spPr>
        <p:txBody>
          <a:bodyPr/>
          <a:lstStyle/>
          <a:p>
            <a:endParaRPr lang="en-US"/>
          </a:p>
        </p:txBody>
      </p:sp>
      <p:sp>
        <p:nvSpPr>
          <p:cNvPr id="30" name="Text 22"/>
          <p:cNvSpPr/>
          <p:nvPr/>
        </p:nvSpPr>
        <p:spPr>
          <a:xfrm>
            <a:off x="777240" y="6510528"/>
            <a:ext cx="1828800" cy="155448"/>
          </a:xfrm>
          <a:prstGeom prst="rect">
            <a:avLst/>
          </a:prstGeom>
          <a:noFill/>
          <a:ln/>
        </p:spPr>
        <p:txBody>
          <a:bodyPr wrap="square" lIns="0" tIns="0" rIns="0" bIns="0" rtlCol="0" anchor="ctr">
            <a:normAutofit/>
          </a:bodyPr>
          <a:lstStyle/>
          <a:p>
            <a:pPr marL="0" indent="0">
              <a:buNone/>
            </a:pPr>
            <a:r>
              <a:rPr lang="en-US" sz="850" dirty="0">
                <a:solidFill>
                  <a:srgbClr val="9AA3AD"/>
                </a:solidFill>
                <a:latin typeface="Segoe UI" pitchFamily="34" charset="0"/>
                <a:ea typeface="Segoe UI" pitchFamily="34" charset="-122"/>
                <a:cs typeface="Segoe UI" pitchFamily="34" charset="-120"/>
              </a:rPr>
              <a:t>Copilot Studio</a:t>
            </a:r>
            <a:endParaRPr lang="en-US" sz="850" dirty="0"/>
          </a:p>
        </p:txBody>
      </p:sp>
      <p:sp>
        <p:nvSpPr>
          <p:cNvPr id="31" name="Text 23"/>
          <p:cNvSpPr/>
          <p:nvPr/>
        </p:nvSpPr>
        <p:spPr>
          <a:xfrm>
            <a:off x="11228832" y="6473952"/>
            <a:ext cx="320040" cy="164592"/>
          </a:xfrm>
          <a:prstGeom prst="rect">
            <a:avLst/>
          </a:prstGeom>
          <a:noFill/>
          <a:ln/>
        </p:spPr>
        <p:txBody>
          <a:bodyPr wrap="square" lIns="0" tIns="0" rIns="0" bIns="0" rtlCol="0" anchor="ctr">
            <a:normAutofit/>
          </a:bodyPr>
          <a:lstStyle/>
          <a:p>
            <a:pPr marL="0" indent="0" algn="r">
              <a:buNone/>
            </a:pPr>
            <a:r>
              <a:rPr lang="en-US" sz="900">
                <a:solidFill>
                  <a:srgbClr val="9AA3AD"/>
                </a:solidFill>
                <a:latin typeface="Segoe UI" pitchFamily="34" charset="0"/>
                <a:ea typeface="Segoe UI" pitchFamily="34" charset="-122"/>
                <a:cs typeface="Segoe UI" pitchFamily="34" charset="-120"/>
              </a:rPr>
              <a:t>7</a:t>
            </a:r>
            <a:endParaRPr lang="en-US" sz="900"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6"/>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2"/>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28"/>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6" grpId="0" animBg="1"/>
      <p:bldP spid="28" grpId="0" animBg="1"/>
    </p:bldLst>
  </p:timing>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F2F1F7"/>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29B0FF60-D42A-7949-644A-89630B40E7A6}"/>
              </a:ext>
            </a:extLst>
          </p:cNvPr>
          <p:cNvSpPr txBox="1"/>
          <p:nvPr/>
        </p:nvSpPr>
        <p:spPr>
          <a:xfrm>
            <a:off x="658368" y="411480"/>
            <a:ext cx="5029200" cy="276999"/>
          </a:xfrm>
          <a:prstGeom prst="rect">
            <a:avLst/>
          </a:prstGeom>
          <a:noFill/>
        </p:spPr>
        <p:txBody>
          <a:bodyPr vert="horz" wrap="square" lIns="0" tIns="0" rIns="0" bIns="0" rtlCol="0" anchor="t">
            <a:normAutofit/>
          </a:bodyPr>
          <a:lstStyle/>
          <a:p>
            <a:r>
              <a:rPr lang="en-US" sz="1080" b="1">
                <a:solidFill>
                  <a:srgbClr val="0078D4"/>
                </a:solidFill>
                <a:latin typeface="Segoe UI Semibold" panose="020B0702040204020203" pitchFamily="34" charset="0"/>
              </a:rPr>
              <a:t>BETTER TOGETHER</a:t>
            </a:r>
          </a:p>
        </p:txBody>
      </p:sp>
      <p:sp>
        <p:nvSpPr>
          <p:cNvPr id="3" name="TextBox 2">
            <a:extLst>
              <a:ext uri="{FF2B5EF4-FFF2-40B4-BE49-F238E27FC236}">
                <a16:creationId xmlns:a16="http://schemas.microsoft.com/office/drawing/2014/main" id="{B64DC9FA-0D58-260F-6207-0E506BFF75E3}"/>
              </a:ext>
            </a:extLst>
          </p:cNvPr>
          <p:cNvSpPr txBox="1"/>
          <p:nvPr/>
        </p:nvSpPr>
        <p:spPr>
          <a:xfrm>
            <a:off x="612648" y="680062"/>
            <a:ext cx="9052560" cy="276999"/>
          </a:xfrm>
          <a:prstGeom prst="rect">
            <a:avLst/>
          </a:prstGeom>
          <a:noFill/>
        </p:spPr>
        <p:txBody>
          <a:bodyPr vert="horz" wrap="square" lIns="0" tIns="0" rIns="0" bIns="0" rtlCol="0" anchor="t">
            <a:noAutofit/>
          </a:bodyPr>
          <a:lstStyle/>
          <a:p>
            <a:r>
              <a:rPr lang="en-US" sz="2650" b="1" dirty="0">
                <a:solidFill>
                  <a:srgbClr val="091F2C"/>
                </a:solidFill>
                <a:latin typeface="Segoe UI Semibold" panose="020B0702040204020203" pitchFamily="34" charset="0"/>
              </a:rPr>
              <a:t>The Microsoft Agent Stack</a:t>
            </a:r>
          </a:p>
        </p:txBody>
      </p:sp>
      <p:sp>
        <p:nvSpPr>
          <p:cNvPr id="4" name="TextBox 3">
            <a:extLst>
              <a:ext uri="{FF2B5EF4-FFF2-40B4-BE49-F238E27FC236}">
                <a16:creationId xmlns:a16="http://schemas.microsoft.com/office/drawing/2014/main" id="{C96265E9-2C08-A248-A05B-2CE6A6987D53}"/>
              </a:ext>
            </a:extLst>
          </p:cNvPr>
          <p:cNvSpPr txBox="1"/>
          <p:nvPr/>
        </p:nvSpPr>
        <p:spPr>
          <a:xfrm>
            <a:off x="640080" y="1115568"/>
            <a:ext cx="9784080" cy="276999"/>
          </a:xfrm>
          <a:prstGeom prst="rect">
            <a:avLst/>
          </a:prstGeom>
          <a:noFill/>
        </p:spPr>
        <p:txBody>
          <a:bodyPr vert="horz" wrap="square" lIns="0" tIns="0" rIns="0" bIns="0" rtlCol="0" anchor="t">
            <a:normAutofit/>
          </a:bodyPr>
          <a:lstStyle/>
          <a:p>
            <a:r>
              <a:rPr lang="en-US" sz="1270" dirty="0">
                <a:solidFill>
                  <a:srgbClr val="5B6672"/>
                </a:solidFill>
                <a:latin typeface="Segoe UI" panose="020B0502040204020203" pitchFamily="34" charset="0"/>
              </a:rPr>
              <a:t>Each technology serves a different purpose, audience, and level of engineering control.</a:t>
            </a:r>
          </a:p>
        </p:txBody>
      </p:sp>
      <p:grpSp>
        <p:nvGrpSpPr>
          <p:cNvPr id="50" name="Group 49">
            <a:extLst>
              <a:ext uri="{FF2B5EF4-FFF2-40B4-BE49-F238E27FC236}">
                <a16:creationId xmlns:a16="http://schemas.microsoft.com/office/drawing/2014/main" id="{C5DB9DD4-CB43-1293-14DC-2F4A61AA2477}"/>
              </a:ext>
            </a:extLst>
          </p:cNvPr>
          <p:cNvGrpSpPr/>
          <p:nvPr/>
        </p:nvGrpSpPr>
        <p:grpSpPr>
          <a:xfrm>
            <a:off x="658368" y="1605300"/>
            <a:ext cx="3438144" cy="4679307"/>
            <a:chOff x="475488" y="1755648"/>
            <a:chExt cx="3438144" cy="4679307"/>
          </a:xfrm>
        </p:grpSpPr>
        <p:sp>
          <p:nvSpPr>
            <p:cNvPr id="7" name="Rectangle: Rounded Corners 6">
              <a:extLst>
                <a:ext uri="{FF2B5EF4-FFF2-40B4-BE49-F238E27FC236}">
                  <a16:creationId xmlns:a16="http://schemas.microsoft.com/office/drawing/2014/main" id="{A2B45856-E0E6-3A2B-175B-EC0ABF578E23}"/>
                </a:ext>
              </a:extLst>
            </p:cNvPr>
            <p:cNvSpPr/>
            <p:nvPr/>
          </p:nvSpPr>
          <p:spPr>
            <a:xfrm>
              <a:off x="475488" y="1938527"/>
              <a:ext cx="3438144" cy="4496428"/>
            </a:xfrm>
            <a:prstGeom prst="roundRect">
              <a:avLst>
                <a:gd name="adj" fmla="val 2940"/>
              </a:avLst>
            </a:prstGeom>
            <a:solidFill>
              <a:srgbClr val="FFFFFF"/>
            </a:solidFill>
            <a:ln w="12700">
              <a:solidFill>
                <a:srgbClr val="E7E5F0"/>
              </a:solidFill>
            </a:ln>
            <a:effectLst>
              <a:outerShdw blurRad="63500" dist="25400" dir="5400000" rotWithShape="0">
                <a:srgbClr val="8A83B0">
                  <a:alpha val="1800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Rectangle: Rounded Corners 7">
              <a:extLst>
                <a:ext uri="{FF2B5EF4-FFF2-40B4-BE49-F238E27FC236}">
                  <a16:creationId xmlns:a16="http://schemas.microsoft.com/office/drawing/2014/main" id="{D7D85DB3-3C4C-1D54-517B-63A47DAE3315}"/>
                </a:ext>
              </a:extLst>
            </p:cNvPr>
            <p:cNvSpPr/>
            <p:nvPr/>
          </p:nvSpPr>
          <p:spPr>
            <a:xfrm>
              <a:off x="640080" y="1755648"/>
              <a:ext cx="3108960" cy="621792"/>
            </a:xfrm>
            <a:prstGeom prst="roundRect">
              <a:avLst/>
            </a:prstGeom>
            <a:gradFill flip="none" rotWithShape="1">
              <a:gsLst>
                <a:gs pos="56000">
                  <a:srgbClr val="0078D4"/>
                </a:gs>
                <a:gs pos="100000">
                  <a:srgbClr val="FFFFFF"/>
                </a:gs>
              </a:gsLst>
              <a:lin ang="5400000" scaled="1"/>
              <a:tileRect/>
            </a:gra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Rectangle: Rounded Corners 8">
              <a:extLst>
                <a:ext uri="{FF2B5EF4-FFF2-40B4-BE49-F238E27FC236}">
                  <a16:creationId xmlns:a16="http://schemas.microsoft.com/office/drawing/2014/main" id="{033A8593-DCF2-AAE7-F701-2B6F2F0FB9D6}"/>
                </a:ext>
              </a:extLst>
            </p:cNvPr>
            <p:cNvSpPr/>
            <p:nvPr/>
          </p:nvSpPr>
          <p:spPr>
            <a:xfrm>
              <a:off x="795528" y="1847088"/>
              <a:ext cx="438912" cy="438912"/>
            </a:xfrm>
            <a:prstGeom prst="roundRect">
              <a:avLst/>
            </a:prstGeom>
            <a:solidFill>
              <a:srgbClr val="FFFFFF"/>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1" name="Picture 10">
              <a:extLst>
                <a:ext uri="{FF2B5EF4-FFF2-40B4-BE49-F238E27FC236}">
                  <a16:creationId xmlns:a16="http://schemas.microsoft.com/office/drawing/2014/main" id="{BEB21295-2ACF-5CB4-A1A3-B412F0A25CF2}"/>
                </a:ext>
              </a:extLst>
            </p:cNvPr>
            <p:cNvPicPr>
              <a:picLocks/>
            </p:cNvPicPr>
            <p:nvPr/>
          </p:nvPicPr>
          <p:blipFill>
            <a:blip r:embed="rId3"/>
            <a:stretch>
              <a:fillRect/>
            </a:stretch>
          </p:blipFill>
          <p:spPr>
            <a:xfrm>
              <a:off x="850392" y="1901952"/>
              <a:ext cx="329184" cy="329184"/>
            </a:xfrm>
            <a:prstGeom prst="rect">
              <a:avLst/>
            </a:prstGeom>
          </p:spPr>
        </p:pic>
        <p:sp>
          <p:nvSpPr>
            <p:cNvPr id="12" name="TextBox 11">
              <a:extLst>
                <a:ext uri="{FF2B5EF4-FFF2-40B4-BE49-F238E27FC236}">
                  <a16:creationId xmlns:a16="http://schemas.microsoft.com/office/drawing/2014/main" id="{39C537C0-B8F7-97F0-5A07-537AAEB06DFE}"/>
                </a:ext>
              </a:extLst>
            </p:cNvPr>
            <p:cNvSpPr txBox="1"/>
            <p:nvPr/>
          </p:nvSpPr>
          <p:spPr>
            <a:xfrm>
              <a:off x="1371600" y="1874520"/>
              <a:ext cx="2084832" cy="276999"/>
            </a:xfrm>
            <a:prstGeom prst="rect">
              <a:avLst/>
            </a:prstGeom>
            <a:noFill/>
          </p:spPr>
          <p:txBody>
            <a:bodyPr vert="horz" wrap="square" lIns="0" tIns="0" rIns="0" bIns="0" rtlCol="0" anchor="ctr">
              <a:normAutofit/>
            </a:bodyPr>
            <a:lstStyle/>
            <a:p>
              <a:r>
                <a:rPr lang="en-US" sz="1300" b="1">
                  <a:solidFill>
                    <a:srgbClr val="FFFFFF"/>
                  </a:solidFill>
                  <a:latin typeface="Segoe UI Semibold" panose="020B0702040204020203" pitchFamily="34" charset="0"/>
                </a:rPr>
                <a:t>M365 Copilot</a:t>
              </a:r>
            </a:p>
          </p:txBody>
        </p:sp>
        <p:sp>
          <p:nvSpPr>
            <p:cNvPr id="13" name="TextBox 12">
              <a:extLst>
                <a:ext uri="{FF2B5EF4-FFF2-40B4-BE49-F238E27FC236}">
                  <a16:creationId xmlns:a16="http://schemas.microsoft.com/office/drawing/2014/main" id="{2E435CC0-ACCD-A10F-F1DC-E987E77240C6}"/>
                </a:ext>
              </a:extLst>
            </p:cNvPr>
            <p:cNvSpPr txBox="1"/>
            <p:nvPr/>
          </p:nvSpPr>
          <p:spPr>
            <a:xfrm>
              <a:off x="731520" y="2542032"/>
              <a:ext cx="2926080" cy="276999"/>
            </a:xfrm>
            <a:prstGeom prst="rect">
              <a:avLst/>
            </a:prstGeom>
            <a:noFill/>
          </p:spPr>
          <p:txBody>
            <a:bodyPr vert="horz" wrap="square" lIns="0" tIns="0" rIns="0" bIns="0" rtlCol="0" anchor="t">
              <a:normAutofit/>
            </a:bodyPr>
            <a:lstStyle/>
            <a:p>
              <a:r>
                <a:rPr lang="en-US" sz="840" b="1">
                  <a:solidFill>
                    <a:srgbClr val="0078D4"/>
                  </a:solidFill>
                  <a:latin typeface="Segoe UI Semibold" panose="020B0702040204020203" pitchFamily="34" charset="0"/>
                </a:rPr>
                <a:t>BEST FOR</a:t>
              </a:r>
            </a:p>
          </p:txBody>
        </p:sp>
        <p:sp>
          <p:nvSpPr>
            <p:cNvPr id="14" name="TextBox 13">
              <a:extLst>
                <a:ext uri="{FF2B5EF4-FFF2-40B4-BE49-F238E27FC236}">
                  <a16:creationId xmlns:a16="http://schemas.microsoft.com/office/drawing/2014/main" id="{8A118575-1503-F990-F00C-DB9623247836}"/>
                </a:ext>
              </a:extLst>
            </p:cNvPr>
            <p:cNvSpPr txBox="1"/>
            <p:nvPr/>
          </p:nvSpPr>
          <p:spPr>
            <a:xfrm>
              <a:off x="731520" y="2734056"/>
              <a:ext cx="2926080" cy="276999"/>
            </a:xfrm>
            <a:prstGeom prst="rect">
              <a:avLst/>
            </a:prstGeom>
            <a:noFill/>
          </p:spPr>
          <p:txBody>
            <a:bodyPr vert="horz" wrap="square" lIns="0" tIns="0" rIns="0" bIns="0" rtlCol="0" anchor="t">
              <a:noAutofit/>
            </a:bodyPr>
            <a:lstStyle/>
            <a:p>
              <a:r>
                <a:rPr lang="en-US" sz="1170" b="1">
                  <a:solidFill>
                    <a:srgbClr val="091F2C"/>
                  </a:solidFill>
                  <a:latin typeface="Segoe UI Semibold" panose="020B0702040204020203" pitchFamily="34" charset="0"/>
                </a:rPr>
                <a:t>AI-powered productivity in the flow of work</a:t>
              </a:r>
            </a:p>
          </p:txBody>
        </p:sp>
        <p:cxnSp>
          <p:nvCxnSpPr>
            <p:cNvPr id="15" name="Straight Connector 14">
              <a:extLst>
                <a:ext uri="{FF2B5EF4-FFF2-40B4-BE49-F238E27FC236}">
                  <a16:creationId xmlns:a16="http://schemas.microsoft.com/office/drawing/2014/main" id="{15FC09B1-D7DE-B6B3-21D6-59000E1CF3DE}"/>
                </a:ext>
              </a:extLst>
            </p:cNvPr>
            <p:cNvCxnSpPr/>
            <p:nvPr/>
          </p:nvCxnSpPr>
          <p:spPr>
            <a:xfrm>
              <a:off x="731520" y="3200400"/>
              <a:ext cx="2926080" cy="0"/>
            </a:xfrm>
            <a:prstGeom prst="line">
              <a:avLst/>
            </a:prstGeom>
            <a:ln w="10160">
              <a:solidFill>
                <a:srgbClr val="E7E5F0"/>
              </a:solidFill>
            </a:ln>
          </p:spPr>
          <p:style>
            <a:lnRef idx="1">
              <a:schemeClr val="accent1"/>
            </a:lnRef>
            <a:fillRef idx="0">
              <a:schemeClr val="accent1"/>
            </a:fillRef>
            <a:effectRef idx="0">
              <a:schemeClr val="accent1"/>
            </a:effectRef>
            <a:fontRef idx="minor">
              <a:schemeClr val="tx1"/>
            </a:fontRef>
          </p:style>
        </p:cxnSp>
        <p:sp>
          <p:nvSpPr>
            <p:cNvPr id="16" name="TextBox 15">
              <a:extLst>
                <a:ext uri="{FF2B5EF4-FFF2-40B4-BE49-F238E27FC236}">
                  <a16:creationId xmlns:a16="http://schemas.microsoft.com/office/drawing/2014/main" id="{784EB67D-15B0-6887-D8AD-77FD0D483768}"/>
                </a:ext>
              </a:extLst>
            </p:cNvPr>
            <p:cNvSpPr txBox="1"/>
            <p:nvPr/>
          </p:nvSpPr>
          <p:spPr>
            <a:xfrm>
              <a:off x="731520" y="3291840"/>
              <a:ext cx="2926080" cy="276999"/>
            </a:xfrm>
            <a:prstGeom prst="rect">
              <a:avLst/>
            </a:prstGeom>
            <a:noFill/>
          </p:spPr>
          <p:txBody>
            <a:bodyPr vert="horz" wrap="square" lIns="0" tIns="0" rIns="0" bIns="0" rtlCol="0" anchor="t">
              <a:normAutofit/>
            </a:bodyPr>
            <a:lstStyle/>
            <a:p>
              <a:r>
                <a:rPr lang="en-US" sz="840" b="1">
                  <a:solidFill>
                    <a:srgbClr val="0078D4"/>
                  </a:solidFill>
                  <a:latin typeface="Segoe UI Semibold" panose="020B0702040204020203" pitchFamily="34" charset="0"/>
                </a:rPr>
                <a:t>KEY AUDIENCE</a:t>
              </a:r>
            </a:p>
          </p:txBody>
        </p:sp>
        <p:sp>
          <p:nvSpPr>
            <p:cNvPr id="17" name="TextBox 16">
              <a:extLst>
                <a:ext uri="{FF2B5EF4-FFF2-40B4-BE49-F238E27FC236}">
                  <a16:creationId xmlns:a16="http://schemas.microsoft.com/office/drawing/2014/main" id="{4CC7143A-3F6C-DDD3-0812-6076234637E8}"/>
                </a:ext>
              </a:extLst>
            </p:cNvPr>
            <p:cNvSpPr txBox="1"/>
            <p:nvPr/>
          </p:nvSpPr>
          <p:spPr>
            <a:xfrm>
              <a:off x="731520" y="3483864"/>
              <a:ext cx="2926080" cy="276999"/>
            </a:xfrm>
            <a:prstGeom prst="rect">
              <a:avLst/>
            </a:prstGeom>
            <a:noFill/>
          </p:spPr>
          <p:txBody>
            <a:bodyPr vert="horz" wrap="square" lIns="0" tIns="0" rIns="0" bIns="0" rtlCol="0" anchor="t">
              <a:normAutofit/>
            </a:bodyPr>
            <a:lstStyle/>
            <a:p>
              <a:r>
                <a:rPr lang="en-US" sz="1050" dirty="0">
                  <a:solidFill>
                    <a:srgbClr val="091F2C"/>
                  </a:solidFill>
                  <a:latin typeface="Segoe UI" panose="020B0502040204020203" pitchFamily="34" charset="0"/>
                </a:rPr>
                <a:t>Knowledge workers across the organization</a:t>
              </a:r>
            </a:p>
          </p:txBody>
        </p:sp>
        <p:cxnSp>
          <p:nvCxnSpPr>
            <p:cNvPr id="18" name="Straight Connector 17">
              <a:extLst>
                <a:ext uri="{FF2B5EF4-FFF2-40B4-BE49-F238E27FC236}">
                  <a16:creationId xmlns:a16="http://schemas.microsoft.com/office/drawing/2014/main" id="{9BE23E2A-284F-E124-60D7-DF56687FFF59}"/>
                </a:ext>
              </a:extLst>
            </p:cNvPr>
            <p:cNvCxnSpPr/>
            <p:nvPr/>
          </p:nvCxnSpPr>
          <p:spPr>
            <a:xfrm>
              <a:off x="731520" y="3886200"/>
              <a:ext cx="2926080" cy="0"/>
            </a:xfrm>
            <a:prstGeom prst="line">
              <a:avLst/>
            </a:prstGeom>
            <a:ln w="10160">
              <a:solidFill>
                <a:srgbClr val="E7E5F0"/>
              </a:solidFill>
            </a:ln>
          </p:spPr>
          <p:style>
            <a:lnRef idx="1">
              <a:schemeClr val="accent1"/>
            </a:lnRef>
            <a:fillRef idx="0">
              <a:schemeClr val="accent1"/>
            </a:fillRef>
            <a:effectRef idx="0">
              <a:schemeClr val="accent1"/>
            </a:effectRef>
            <a:fontRef idx="minor">
              <a:schemeClr val="tx1"/>
            </a:fontRef>
          </p:style>
        </p:cxnSp>
        <p:sp>
          <p:nvSpPr>
            <p:cNvPr id="19" name="TextBox 18">
              <a:extLst>
                <a:ext uri="{FF2B5EF4-FFF2-40B4-BE49-F238E27FC236}">
                  <a16:creationId xmlns:a16="http://schemas.microsoft.com/office/drawing/2014/main" id="{94828FFE-4054-188A-5E9D-B4FC25C4BF29}"/>
                </a:ext>
              </a:extLst>
            </p:cNvPr>
            <p:cNvSpPr txBox="1"/>
            <p:nvPr/>
          </p:nvSpPr>
          <p:spPr>
            <a:xfrm>
              <a:off x="731520" y="3977640"/>
              <a:ext cx="2926080" cy="276999"/>
            </a:xfrm>
            <a:prstGeom prst="rect">
              <a:avLst/>
            </a:prstGeom>
            <a:noFill/>
          </p:spPr>
          <p:txBody>
            <a:bodyPr vert="horz" wrap="square" lIns="0" tIns="0" rIns="0" bIns="0" rtlCol="0" anchor="t">
              <a:normAutofit/>
            </a:bodyPr>
            <a:lstStyle/>
            <a:p>
              <a:r>
                <a:rPr lang="en-US" sz="840" b="1">
                  <a:solidFill>
                    <a:srgbClr val="0078D4"/>
                  </a:solidFill>
                  <a:latin typeface="Segoe UI Semibold" panose="020B0702040204020203" pitchFamily="34" charset="0"/>
                </a:rPr>
                <a:t>USE WHEN</a:t>
              </a:r>
            </a:p>
          </p:txBody>
        </p:sp>
        <p:sp>
          <p:nvSpPr>
            <p:cNvPr id="20" name="TextBox 19">
              <a:extLst>
                <a:ext uri="{FF2B5EF4-FFF2-40B4-BE49-F238E27FC236}">
                  <a16:creationId xmlns:a16="http://schemas.microsoft.com/office/drawing/2014/main" id="{D6217633-10FE-AE48-3050-A97A96F7E476}"/>
                </a:ext>
              </a:extLst>
            </p:cNvPr>
            <p:cNvSpPr txBox="1"/>
            <p:nvPr/>
          </p:nvSpPr>
          <p:spPr>
            <a:xfrm>
              <a:off x="731520" y="4169664"/>
              <a:ext cx="2926080" cy="600826"/>
            </a:xfrm>
            <a:prstGeom prst="rect">
              <a:avLst/>
            </a:prstGeom>
            <a:noFill/>
          </p:spPr>
          <p:txBody>
            <a:bodyPr vert="horz" wrap="square" lIns="0" tIns="0" rIns="0" bIns="0" rtlCol="0" anchor="t">
              <a:normAutofit/>
            </a:bodyPr>
            <a:lstStyle/>
            <a:p>
              <a:r>
                <a:rPr lang="en-US" sz="1050" dirty="0">
                  <a:solidFill>
                    <a:srgbClr val="091F2C"/>
                  </a:solidFill>
                  <a:latin typeface="Segoe UI" panose="020B0502040204020203" pitchFamily="34" charset="0"/>
                </a:rPr>
                <a:t>Employees need AI in Microsoft 365 · M365 data is the primary source · Fastest path to productivity</a:t>
              </a:r>
            </a:p>
          </p:txBody>
        </p:sp>
        <p:cxnSp>
          <p:nvCxnSpPr>
            <p:cNvPr id="21" name="Straight Connector 20">
              <a:extLst>
                <a:ext uri="{FF2B5EF4-FFF2-40B4-BE49-F238E27FC236}">
                  <a16:creationId xmlns:a16="http://schemas.microsoft.com/office/drawing/2014/main" id="{6D51BE9D-75D0-30D7-36EC-5A1E0294E5A2}"/>
                </a:ext>
              </a:extLst>
            </p:cNvPr>
            <p:cNvCxnSpPr/>
            <p:nvPr/>
          </p:nvCxnSpPr>
          <p:spPr>
            <a:xfrm>
              <a:off x="731520" y="4861929"/>
              <a:ext cx="2926080" cy="0"/>
            </a:xfrm>
            <a:prstGeom prst="line">
              <a:avLst/>
            </a:prstGeom>
            <a:ln w="10160">
              <a:solidFill>
                <a:srgbClr val="E7E5F0"/>
              </a:solidFill>
            </a:ln>
          </p:spPr>
          <p:style>
            <a:lnRef idx="1">
              <a:schemeClr val="accent1"/>
            </a:lnRef>
            <a:fillRef idx="0">
              <a:schemeClr val="accent1"/>
            </a:fillRef>
            <a:effectRef idx="0">
              <a:schemeClr val="accent1"/>
            </a:effectRef>
            <a:fontRef idx="minor">
              <a:schemeClr val="tx1"/>
            </a:fontRef>
          </p:style>
        </p:cxnSp>
        <p:sp>
          <p:nvSpPr>
            <p:cNvPr id="22" name="TextBox 21">
              <a:extLst>
                <a:ext uri="{FF2B5EF4-FFF2-40B4-BE49-F238E27FC236}">
                  <a16:creationId xmlns:a16="http://schemas.microsoft.com/office/drawing/2014/main" id="{3878C15E-E937-5446-66A5-B5686EB45739}"/>
                </a:ext>
              </a:extLst>
            </p:cNvPr>
            <p:cNvSpPr txBox="1"/>
            <p:nvPr/>
          </p:nvSpPr>
          <p:spPr>
            <a:xfrm>
              <a:off x="731520" y="4953369"/>
              <a:ext cx="2926080" cy="276999"/>
            </a:xfrm>
            <a:prstGeom prst="rect">
              <a:avLst/>
            </a:prstGeom>
            <a:noFill/>
          </p:spPr>
          <p:txBody>
            <a:bodyPr vert="horz" wrap="square" lIns="0" tIns="0" rIns="0" bIns="0" rtlCol="0" anchor="t">
              <a:normAutofit/>
            </a:bodyPr>
            <a:lstStyle/>
            <a:p>
              <a:r>
                <a:rPr lang="en-US" sz="840" b="1">
                  <a:solidFill>
                    <a:srgbClr val="0078D4"/>
                  </a:solidFill>
                  <a:latin typeface="Segoe UI Semibold" panose="020B0702040204020203" pitchFamily="34" charset="0"/>
                </a:rPr>
                <a:t>BUILT BY</a:t>
              </a:r>
            </a:p>
          </p:txBody>
        </p:sp>
        <p:sp>
          <p:nvSpPr>
            <p:cNvPr id="23" name="TextBox 22">
              <a:extLst>
                <a:ext uri="{FF2B5EF4-FFF2-40B4-BE49-F238E27FC236}">
                  <a16:creationId xmlns:a16="http://schemas.microsoft.com/office/drawing/2014/main" id="{9D47CCCE-43D9-8EA9-6E74-F2AD2C2EB7FD}"/>
                </a:ext>
              </a:extLst>
            </p:cNvPr>
            <p:cNvSpPr txBox="1"/>
            <p:nvPr/>
          </p:nvSpPr>
          <p:spPr>
            <a:xfrm>
              <a:off x="731520" y="5145393"/>
              <a:ext cx="2926080" cy="276999"/>
            </a:xfrm>
            <a:prstGeom prst="rect">
              <a:avLst/>
            </a:prstGeom>
            <a:noFill/>
          </p:spPr>
          <p:txBody>
            <a:bodyPr vert="horz" wrap="square" lIns="0" tIns="0" rIns="0" bIns="0" rtlCol="0" anchor="t">
              <a:noAutofit/>
            </a:bodyPr>
            <a:lstStyle/>
            <a:p>
              <a:r>
                <a:rPr lang="en-US" sz="1050">
                  <a:solidFill>
                    <a:srgbClr val="091F2C"/>
                  </a:solidFill>
                  <a:latin typeface="Segoe UI" panose="020B0502040204020203" pitchFamily="34" charset="0"/>
                </a:rPr>
                <a:t>Business users and small teams with Agent Builder</a:t>
              </a:r>
            </a:p>
          </p:txBody>
        </p:sp>
        <p:cxnSp>
          <p:nvCxnSpPr>
            <p:cNvPr id="24" name="Straight Connector 23">
              <a:extLst>
                <a:ext uri="{FF2B5EF4-FFF2-40B4-BE49-F238E27FC236}">
                  <a16:creationId xmlns:a16="http://schemas.microsoft.com/office/drawing/2014/main" id="{900FDF35-ECC0-FC94-DA93-3FE9B59C5CA1}"/>
                </a:ext>
              </a:extLst>
            </p:cNvPr>
            <p:cNvCxnSpPr/>
            <p:nvPr/>
          </p:nvCxnSpPr>
          <p:spPr>
            <a:xfrm>
              <a:off x="731520" y="5520297"/>
              <a:ext cx="2926080" cy="0"/>
            </a:xfrm>
            <a:prstGeom prst="line">
              <a:avLst/>
            </a:prstGeom>
            <a:ln w="10160">
              <a:solidFill>
                <a:srgbClr val="E7E5F0"/>
              </a:solidFill>
            </a:ln>
          </p:spPr>
          <p:style>
            <a:lnRef idx="1">
              <a:schemeClr val="accent1"/>
            </a:lnRef>
            <a:fillRef idx="0">
              <a:schemeClr val="accent1"/>
            </a:fillRef>
            <a:effectRef idx="0">
              <a:schemeClr val="accent1"/>
            </a:effectRef>
            <a:fontRef idx="minor">
              <a:schemeClr val="tx1"/>
            </a:fontRef>
          </p:style>
        </p:cxnSp>
        <p:sp>
          <p:nvSpPr>
            <p:cNvPr id="25" name="TextBox 24">
              <a:extLst>
                <a:ext uri="{FF2B5EF4-FFF2-40B4-BE49-F238E27FC236}">
                  <a16:creationId xmlns:a16="http://schemas.microsoft.com/office/drawing/2014/main" id="{95A655F9-A136-19B9-2D3A-B5C999D4E78E}"/>
                </a:ext>
              </a:extLst>
            </p:cNvPr>
            <p:cNvSpPr txBox="1"/>
            <p:nvPr/>
          </p:nvSpPr>
          <p:spPr>
            <a:xfrm>
              <a:off x="731520" y="5628331"/>
              <a:ext cx="2926080" cy="276999"/>
            </a:xfrm>
            <a:prstGeom prst="rect">
              <a:avLst/>
            </a:prstGeom>
            <a:noFill/>
          </p:spPr>
          <p:txBody>
            <a:bodyPr vert="horz" wrap="square" lIns="0" tIns="0" rIns="0" bIns="0" rtlCol="0" anchor="t">
              <a:normAutofit/>
            </a:bodyPr>
            <a:lstStyle/>
            <a:p>
              <a:r>
                <a:rPr lang="en-US" sz="900" b="1">
                  <a:solidFill>
                    <a:srgbClr val="0078D4"/>
                  </a:solidFill>
                  <a:latin typeface="Segoe UI Semibold" panose="020B0702040204020203" pitchFamily="34" charset="0"/>
                </a:rPr>
                <a:t>GOVERNANCE FOCUS</a:t>
              </a:r>
            </a:p>
          </p:txBody>
        </p:sp>
        <p:sp>
          <p:nvSpPr>
            <p:cNvPr id="26" name="TextBox 25">
              <a:extLst>
                <a:ext uri="{FF2B5EF4-FFF2-40B4-BE49-F238E27FC236}">
                  <a16:creationId xmlns:a16="http://schemas.microsoft.com/office/drawing/2014/main" id="{71C77B0A-463E-2D98-018A-08B1D521B656}"/>
                </a:ext>
              </a:extLst>
            </p:cNvPr>
            <p:cNvSpPr txBox="1"/>
            <p:nvPr/>
          </p:nvSpPr>
          <p:spPr>
            <a:xfrm>
              <a:off x="731520" y="5829498"/>
              <a:ext cx="2926080" cy="374904"/>
            </a:xfrm>
            <a:prstGeom prst="rect">
              <a:avLst/>
            </a:prstGeom>
            <a:noFill/>
          </p:spPr>
          <p:txBody>
            <a:bodyPr vert="horz" wrap="square" lIns="0" tIns="0" rIns="0" bIns="0" rtlCol="0" anchor="t">
              <a:noAutofit/>
            </a:bodyPr>
            <a:lstStyle/>
            <a:p>
              <a:r>
                <a:rPr lang="en-US" sz="1050" dirty="0">
                  <a:solidFill>
                    <a:srgbClr val="091F2C"/>
                  </a:solidFill>
                  <a:latin typeface="Segoe UI" panose="020B0502040204020203" pitchFamily="34" charset="0"/>
                </a:rPr>
                <a:t>Permissions and information readiness</a:t>
              </a:r>
            </a:p>
          </p:txBody>
        </p:sp>
      </p:grpSp>
      <p:grpSp>
        <p:nvGrpSpPr>
          <p:cNvPr id="10" name="Group 9">
            <a:extLst>
              <a:ext uri="{FF2B5EF4-FFF2-40B4-BE49-F238E27FC236}">
                <a16:creationId xmlns:a16="http://schemas.microsoft.com/office/drawing/2014/main" id="{2EB34701-CB1A-8A8D-FCC8-60A6B5E69EA8}"/>
              </a:ext>
            </a:extLst>
          </p:cNvPr>
          <p:cNvGrpSpPr/>
          <p:nvPr/>
        </p:nvGrpSpPr>
        <p:grpSpPr>
          <a:xfrm>
            <a:off x="4379976" y="1608009"/>
            <a:ext cx="3438144" cy="4676598"/>
            <a:chOff x="4133088" y="1755648"/>
            <a:chExt cx="3438144" cy="4676598"/>
          </a:xfrm>
        </p:grpSpPr>
        <p:sp>
          <p:nvSpPr>
            <p:cNvPr id="27" name="Rectangle: Rounded Corners 26">
              <a:extLst>
                <a:ext uri="{FF2B5EF4-FFF2-40B4-BE49-F238E27FC236}">
                  <a16:creationId xmlns:a16="http://schemas.microsoft.com/office/drawing/2014/main" id="{E49FE254-1DD7-A0EC-6608-1D5C9BE8927C}"/>
                </a:ext>
              </a:extLst>
            </p:cNvPr>
            <p:cNvSpPr/>
            <p:nvPr/>
          </p:nvSpPr>
          <p:spPr>
            <a:xfrm>
              <a:off x="4133088" y="1938527"/>
              <a:ext cx="3438144" cy="4493719"/>
            </a:xfrm>
            <a:prstGeom prst="roundRect">
              <a:avLst>
                <a:gd name="adj" fmla="val 2654"/>
              </a:avLst>
            </a:prstGeom>
            <a:solidFill>
              <a:srgbClr val="FFFFFF"/>
            </a:solidFill>
            <a:ln w="12700">
              <a:solidFill>
                <a:srgbClr val="E7E5F0"/>
              </a:solidFill>
            </a:ln>
            <a:effectLst>
              <a:outerShdw blurRad="63500" dist="25400" dir="5400000" rotWithShape="0">
                <a:srgbClr val="8A83B0">
                  <a:alpha val="1800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8" name="Rectangle: Rounded Corners 27">
              <a:extLst>
                <a:ext uri="{FF2B5EF4-FFF2-40B4-BE49-F238E27FC236}">
                  <a16:creationId xmlns:a16="http://schemas.microsoft.com/office/drawing/2014/main" id="{1DEAAEEE-DBEB-E5B3-251F-82C53517BA2C}"/>
                </a:ext>
              </a:extLst>
            </p:cNvPr>
            <p:cNvSpPr/>
            <p:nvPr/>
          </p:nvSpPr>
          <p:spPr>
            <a:xfrm>
              <a:off x="4297680" y="1755648"/>
              <a:ext cx="3108960" cy="621792"/>
            </a:xfrm>
            <a:prstGeom prst="roundRect">
              <a:avLst/>
            </a:prstGeom>
            <a:gradFill flip="none" rotWithShape="1">
              <a:gsLst>
                <a:gs pos="48000">
                  <a:srgbClr val="0078D4"/>
                </a:gs>
                <a:gs pos="100000">
                  <a:srgbClr val="FFFFFF"/>
                </a:gs>
              </a:gsLst>
              <a:lin ang="5400000" scaled="1"/>
              <a:tileRect/>
            </a:gra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9" name="Rectangle: Rounded Corners 28">
              <a:extLst>
                <a:ext uri="{FF2B5EF4-FFF2-40B4-BE49-F238E27FC236}">
                  <a16:creationId xmlns:a16="http://schemas.microsoft.com/office/drawing/2014/main" id="{6917393A-1779-F3D3-34B6-295DA3FCF0AF}"/>
                </a:ext>
              </a:extLst>
            </p:cNvPr>
            <p:cNvSpPr/>
            <p:nvPr/>
          </p:nvSpPr>
          <p:spPr>
            <a:xfrm>
              <a:off x="4453128" y="1847088"/>
              <a:ext cx="438912" cy="438912"/>
            </a:xfrm>
            <a:prstGeom prst="roundRect">
              <a:avLst/>
            </a:prstGeom>
            <a:solidFill>
              <a:srgbClr val="FFFFFF"/>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31" name="Picture 30">
              <a:extLst>
                <a:ext uri="{FF2B5EF4-FFF2-40B4-BE49-F238E27FC236}">
                  <a16:creationId xmlns:a16="http://schemas.microsoft.com/office/drawing/2014/main" id="{D0363EC0-D3E2-B307-67A1-DE615FA7BC7B}"/>
                </a:ext>
              </a:extLst>
            </p:cNvPr>
            <p:cNvPicPr>
              <a:picLocks/>
            </p:cNvPicPr>
            <p:nvPr/>
          </p:nvPicPr>
          <p:blipFill>
            <a:blip r:embed="rId4"/>
            <a:stretch>
              <a:fillRect/>
            </a:stretch>
          </p:blipFill>
          <p:spPr>
            <a:xfrm>
              <a:off x="4507992" y="1901952"/>
              <a:ext cx="329184" cy="329184"/>
            </a:xfrm>
            <a:prstGeom prst="rect">
              <a:avLst/>
            </a:prstGeom>
          </p:spPr>
        </p:pic>
        <p:sp>
          <p:nvSpPr>
            <p:cNvPr id="32" name="TextBox 31">
              <a:extLst>
                <a:ext uri="{FF2B5EF4-FFF2-40B4-BE49-F238E27FC236}">
                  <a16:creationId xmlns:a16="http://schemas.microsoft.com/office/drawing/2014/main" id="{2B1FADA4-0295-F276-8DE4-FC83FDF30CA4}"/>
                </a:ext>
              </a:extLst>
            </p:cNvPr>
            <p:cNvSpPr txBox="1"/>
            <p:nvPr/>
          </p:nvSpPr>
          <p:spPr>
            <a:xfrm>
              <a:off x="5029200" y="1874520"/>
              <a:ext cx="2084832" cy="276999"/>
            </a:xfrm>
            <a:prstGeom prst="rect">
              <a:avLst/>
            </a:prstGeom>
            <a:noFill/>
          </p:spPr>
          <p:txBody>
            <a:bodyPr vert="horz" wrap="square" lIns="0" tIns="0" rIns="0" bIns="0" rtlCol="0" anchor="ctr">
              <a:normAutofit/>
            </a:bodyPr>
            <a:lstStyle/>
            <a:p>
              <a:r>
                <a:rPr lang="en-US" sz="1300" b="1" dirty="0">
                  <a:solidFill>
                    <a:srgbClr val="FFFFFF"/>
                  </a:solidFill>
                  <a:latin typeface="Segoe UI Semibold" panose="020B0702040204020203" pitchFamily="34" charset="0"/>
                </a:rPr>
                <a:t>Copilot Studio</a:t>
              </a:r>
            </a:p>
          </p:txBody>
        </p:sp>
        <p:sp>
          <p:nvSpPr>
            <p:cNvPr id="33" name="TextBox 32">
              <a:extLst>
                <a:ext uri="{FF2B5EF4-FFF2-40B4-BE49-F238E27FC236}">
                  <a16:creationId xmlns:a16="http://schemas.microsoft.com/office/drawing/2014/main" id="{2E1BECA4-1D41-46A0-10B7-AF3E8F8B737B}"/>
                </a:ext>
              </a:extLst>
            </p:cNvPr>
            <p:cNvSpPr txBox="1"/>
            <p:nvPr/>
          </p:nvSpPr>
          <p:spPr>
            <a:xfrm>
              <a:off x="4389120" y="2542032"/>
              <a:ext cx="2926080" cy="276999"/>
            </a:xfrm>
            <a:prstGeom prst="rect">
              <a:avLst/>
            </a:prstGeom>
            <a:noFill/>
          </p:spPr>
          <p:txBody>
            <a:bodyPr vert="horz" wrap="square" lIns="0" tIns="0" rIns="0" bIns="0" rtlCol="0" anchor="t">
              <a:normAutofit/>
            </a:bodyPr>
            <a:lstStyle/>
            <a:p>
              <a:r>
                <a:rPr lang="en-US" sz="840" b="1">
                  <a:solidFill>
                    <a:srgbClr val="8661C5"/>
                  </a:solidFill>
                  <a:latin typeface="Segoe UI Semibold" panose="020B0702040204020203" pitchFamily="34" charset="0"/>
                </a:rPr>
                <a:t>BEST FOR</a:t>
              </a:r>
            </a:p>
          </p:txBody>
        </p:sp>
        <p:sp>
          <p:nvSpPr>
            <p:cNvPr id="34" name="TextBox 33">
              <a:extLst>
                <a:ext uri="{FF2B5EF4-FFF2-40B4-BE49-F238E27FC236}">
                  <a16:creationId xmlns:a16="http://schemas.microsoft.com/office/drawing/2014/main" id="{DD5B677E-0284-242D-C4C9-57D01F802D2F}"/>
                </a:ext>
              </a:extLst>
            </p:cNvPr>
            <p:cNvSpPr txBox="1"/>
            <p:nvPr/>
          </p:nvSpPr>
          <p:spPr>
            <a:xfrm>
              <a:off x="4389120" y="2734056"/>
              <a:ext cx="2926080" cy="276999"/>
            </a:xfrm>
            <a:prstGeom prst="rect">
              <a:avLst/>
            </a:prstGeom>
            <a:noFill/>
          </p:spPr>
          <p:txBody>
            <a:bodyPr vert="horz" wrap="square" lIns="0" tIns="0" rIns="0" bIns="0" rtlCol="0" anchor="t">
              <a:noAutofit/>
            </a:bodyPr>
            <a:lstStyle/>
            <a:p>
              <a:r>
                <a:rPr lang="en-US" sz="1170" b="1">
                  <a:solidFill>
                    <a:srgbClr val="091F2C"/>
                  </a:solidFill>
                  <a:latin typeface="Segoe UI Semibold" panose="020B0702040204020203" pitchFamily="34" charset="0"/>
                </a:rPr>
                <a:t>Purpose-built agents for business processes</a:t>
              </a:r>
            </a:p>
          </p:txBody>
        </p:sp>
        <p:cxnSp>
          <p:nvCxnSpPr>
            <p:cNvPr id="35" name="Straight Connector 34">
              <a:extLst>
                <a:ext uri="{FF2B5EF4-FFF2-40B4-BE49-F238E27FC236}">
                  <a16:creationId xmlns:a16="http://schemas.microsoft.com/office/drawing/2014/main" id="{F6678CEE-4C25-E2B3-5A52-BB57E698093A}"/>
                </a:ext>
              </a:extLst>
            </p:cNvPr>
            <p:cNvCxnSpPr/>
            <p:nvPr/>
          </p:nvCxnSpPr>
          <p:spPr>
            <a:xfrm>
              <a:off x="4389120" y="3200400"/>
              <a:ext cx="2926080" cy="0"/>
            </a:xfrm>
            <a:prstGeom prst="line">
              <a:avLst/>
            </a:prstGeom>
            <a:ln w="10160">
              <a:solidFill>
                <a:srgbClr val="E7E5F0"/>
              </a:solidFill>
            </a:ln>
          </p:spPr>
          <p:style>
            <a:lnRef idx="1">
              <a:schemeClr val="accent1"/>
            </a:lnRef>
            <a:fillRef idx="0">
              <a:schemeClr val="accent1"/>
            </a:fillRef>
            <a:effectRef idx="0">
              <a:schemeClr val="accent1"/>
            </a:effectRef>
            <a:fontRef idx="minor">
              <a:schemeClr val="tx1"/>
            </a:fontRef>
          </p:style>
        </p:cxnSp>
        <p:sp>
          <p:nvSpPr>
            <p:cNvPr id="36" name="TextBox 35">
              <a:extLst>
                <a:ext uri="{FF2B5EF4-FFF2-40B4-BE49-F238E27FC236}">
                  <a16:creationId xmlns:a16="http://schemas.microsoft.com/office/drawing/2014/main" id="{44432A3A-52E8-1398-90F2-4DAB37EDA086}"/>
                </a:ext>
              </a:extLst>
            </p:cNvPr>
            <p:cNvSpPr txBox="1"/>
            <p:nvPr/>
          </p:nvSpPr>
          <p:spPr>
            <a:xfrm>
              <a:off x="4389120" y="3291840"/>
              <a:ext cx="2926080" cy="276999"/>
            </a:xfrm>
            <a:prstGeom prst="rect">
              <a:avLst/>
            </a:prstGeom>
            <a:noFill/>
          </p:spPr>
          <p:txBody>
            <a:bodyPr vert="horz" wrap="square" lIns="0" tIns="0" rIns="0" bIns="0" rtlCol="0" anchor="t">
              <a:normAutofit/>
            </a:bodyPr>
            <a:lstStyle/>
            <a:p>
              <a:r>
                <a:rPr lang="en-US" sz="840" b="1">
                  <a:solidFill>
                    <a:srgbClr val="8661C5"/>
                  </a:solidFill>
                  <a:latin typeface="Segoe UI Semibold" panose="020B0702040204020203" pitchFamily="34" charset="0"/>
                </a:rPr>
                <a:t>KEY AUDIENCE</a:t>
              </a:r>
            </a:p>
          </p:txBody>
        </p:sp>
        <p:sp>
          <p:nvSpPr>
            <p:cNvPr id="37" name="TextBox 36">
              <a:extLst>
                <a:ext uri="{FF2B5EF4-FFF2-40B4-BE49-F238E27FC236}">
                  <a16:creationId xmlns:a16="http://schemas.microsoft.com/office/drawing/2014/main" id="{6ABE8591-3A43-2F91-0F8D-C49FF3B093A3}"/>
                </a:ext>
              </a:extLst>
            </p:cNvPr>
            <p:cNvSpPr txBox="1"/>
            <p:nvPr/>
          </p:nvSpPr>
          <p:spPr>
            <a:xfrm>
              <a:off x="4389120" y="3483864"/>
              <a:ext cx="2926080" cy="276999"/>
            </a:xfrm>
            <a:prstGeom prst="rect">
              <a:avLst/>
            </a:prstGeom>
            <a:noFill/>
          </p:spPr>
          <p:txBody>
            <a:bodyPr vert="horz" wrap="square" lIns="0" tIns="0" rIns="0" bIns="0" rtlCol="0" anchor="t">
              <a:normAutofit/>
            </a:bodyPr>
            <a:lstStyle/>
            <a:p>
              <a:r>
                <a:rPr lang="en-US" sz="1050" dirty="0">
                  <a:solidFill>
                    <a:srgbClr val="091F2C"/>
                  </a:solidFill>
                  <a:latin typeface="Segoe UI" panose="020B0502040204020203" pitchFamily="34" charset="0"/>
                </a:rPr>
                <a:t>Employees, customers, citizens, and partners</a:t>
              </a:r>
            </a:p>
          </p:txBody>
        </p:sp>
        <p:cxnSp>
          <p:nvCxnSpPr>
            <p:cNvPr id="38" name="Straight Connector 37">
              <a:extLst>
                <a:ext uri="{FF2B5EF4-FFF2-40B4-BE49-F238E27FC236}">
                  <a16:creationId xmlns:a16="http://schemas.microsoft.com/office/drawing/2014/main" id="{3FBFE456-31B3-1579-5DEA-F88802433EBC}"/>
                </a:ext>
              </a:extLst>
            </p:cNvPr>
            <p:cNvCxnSpPr/>
            <p:nvPr/>
          </p:nvCxnSpPr>
          <p:spPr>
            <a:xfrm>
              <a:off x="4389120" y="3886200"/>
              <a:ext cx="2926080" cy="0"/>
            </a:xfrm>
            <a:prstGeom prst="line">
              <a:avLst/>
            </a:prstGeom>
            <a:ln w="10160">
              <a:solidFill>
                <a:srgbClr val="E7E5F0"/>
              </a:solidFill>
            </a:ln>
          </p:spPr>
          <p:style>
            <a:lnRef idx="1">
              <a:schemeClr val="accent1"/>
            </a:lnRef>
            <a:fillRef idx="0">
              <a:schemeClr val="accent1"/>
            </a:fillRef>
            <a:effectRef idx="0">
              <a:schemeClr val="accent1"/>
            </a:effectRef>
            <a:fontRef idx="minor">
              <a:schemeClr val="tx1"/>
            </a:fontRef>
          </p:style>
        </p:cxnSp>
        <p:sp>
          <p:nvSpPr>
            <p:cNvPr id="39" name="TextBox 38">
              <a:extLst>
                <a:ext uri="{FF2B5EF4-FFF2-40B4-BE49-F238E27FC236}">
                  <a16:creationId xmlns:a16="http://schemas.microsoft.com/office/drawing/2014/main" id="{A159933C-8345-E712-5D33-55D1DACF9212}"/>
                </a:ext>
              </a:extLst>
            </p:cNvPr>
            <p:cNvSpPr txBox="1"/>
            <p:nvPr/>
          </p:nvSpPr>
          <p:spPr>
            <a:xfrm>
              <a:off x="4389120" y="3977640"/>
              <a:ext cx="2926080" cy="276999"/>
            </a:xfrm>
            <a:prstGeom prst="rect">
              <a:avLst/>
            </a:prstGeom>
            <a:noFill/>
          </p:spPr>
          <p:txBody>
            <a:bodyPr vert="horz" wrap="square" lIns="0" tIns="0" rIns="0" bIns="0" rtlCol="0" anchor="t">
              <a:normAutofit/>
            </a:bodyPr>
            <a:lstStyle/>
            <a:p>
              <a:r>
                <a:rPr lang="en-US" sz="840" b="1">
                  <a:solidFill>
                    <a:srgbClr val="8661C5"/>
                  </a:solidFill>
                  <a:latin typeface="Segoe UI Semibold" panose="020B0702040204020203" pitchFamily="34" charset="0"/>
                </a:rPr>
                <a:t>USE WHEN</a:t>
              </a:r>
            </a:p>
          </p:txBody>
        </p:sp>
        <p:sp>
          <p:nvSpPr>
            <p:cNvPr id="40" name="TextBox 39">
              <a:extLst>
                <a:ext uri="{FF2B5EF4-FFF2-40B4-BE49-F238E27FC236}">
                  <a16:creationId xmlns:a16="http://schemas.microsoft.com/office/drawing/2014/main" id="{A36D6758-63C9-CDB3-A60A-6976E1645D04}"/>
                </a:ext>
              </a:extLst>
            </p:cNvPr>
            <p:cNvSpPr txBox="1"/>
            <p:nvPr/>
          </p:nvSpPr>
          <p:spPr>
            <a:xfrm>
              <a:off x="4389120" y="4169664"/>
              <a:ext cx="2926080" cy="597757"/>
            </a:xfrm>
            <a:prstGeom prst="rect">
              <a:avLst/>
            </a:prstGeom>
            <a:noFill/>
          </p:spPr>
          <p:txBody>
            <a:bodyPr vert="horz" wrap="square" lIns="0" tIns="0" rIns="0" bIns="0" rtlCol="0" anchor="t">
              <a:noAutofit/>
            </a:bodyPr>
            <a:lstStyle/>
            <a:p>
              <a:r>
                <a:rPr lang="en-US" sz="1050" dirty="0">
                  <a:solidFill>
                    <a:srgbClr val="091F2C"/>
                  </a:solidFill>
                  <a:latin typeface="Segoe UI" panose="020B0502040204020203" pitchFamily="34" charset="0"/>
                </a:rPr>
                <a:t>Automate business processes with actions, tools, and Agent Flows that connect to other systems · Orchestrate connected agents across a workflow</a:t>
              </a:r>
            </a:p>
          </p:txBody>
        </p:sp>
        <p:cxnSp>
          <p:nvCxnSpPr>
            <p:cNvPr id="41" name="Straight Connector 40">
              <a:extLst>
                <a:ext uri="{FF2B5EF4-FFF2-40B4-BE49-F238E27FC236}">
                  <a16:creationId xmlns:a16="http://schemas.microsoft.com/office/drawing/2014/main" id="{1345FC14-3BCF-2D20-7D48-2001D22DC3A5}"/>
                </a:ext>
              </a:extLst>
            </p:cNvPr>
            <p:cNvCxnSpPr/>
            <p:nvPr/>
          </p:nvCxnSpPr>
          <p:spPr>
            <a:xfrm>
              <a:off x="4389120" y="4868005"/>
              <a:ext cx="2926080" cy="0"/>
            </a:xfrm>
            <a:prstGeom prst="line">
              <a:avLst/>
            </a:prstGeom>
            <a:ln w="10160">
              <a:solidFill>
                <a:srgbClr val="E7E5F0"/>
              </a:solidFill>
            </a:ln>
          </p:spPr>
          <p:style>
            <a:lnRef idx="1">
              <a:schemeClr val="accent1"/>
            </a:lnRef>
            <a:fillRef idx="0">
              <a:schemeClr val="accent1"/>
            </a:fillRef>
            <a:effectRef idx="0">
              <a:schemeClr val="accent1"/>
            </a:effectRef>
            <a:fontRef idx="minor">
              <a:schemeClr val="tx1"/>
            </a:fontRef>
          </p:style>
        </p:cxnSp>
        <p:sp>
          <p:nvSpPr>
            <p:cNvPr id="42" name="TextBox 41">
              <a:extLst>
                <a:ext uri="{FF2B5EF4-FFF2-40B4-BE49-F238E27FC236}">
                  <a16:creationId xmlns:a16="http://schemas.microsoft.com/office/drawing/2014/main" id="{1D87DD04-F476-947C-9884-0FA75E1B1072}"/>
                </a:ext>
              </a:extLst>
            </p:cNvPr>
            <p:cNvSpPr txBox="1"/>
            <p:nvPr/>
          </p:nvSpPr>
          <p:spPr>
            <a:xfrm>
              <a:off x="4389120" y="4959445"/>
              <a:ext cx="2926080" cy="276999"/>
            </a:xfrm>
            <a:prstGeom prst="rect">
              <a:avLst/>
            </a:prstGeom>
            <a:noFill/>
          </p:spPr>
          <p:txBody>
            <a:bodyPr vert="horz" wrap="square" lIns="0" tIns="0" rIns="0" bIns="0" rtlCol="0" anchor="t">
              <a:normAutofit/>
            </a:bodyPr>
            <a:lstStyle/>
            <a:p>
              <a:r>
                <a:rPr lang="en-US" sz="840" b="1">
                  <a:solidFill>
                    <a:srgbClr val="8661C5"/>
                  </a:solidFill>
                  <a:latin typeface="Segoe UI Semibold" panose="020B0702040204020203" pitchFamily="34" charset="0"/>
                </a:rPr>
                <a:t>BUILT BY</a:t>
              </a:r>
            </a:p>
          </p:txBody>
        </p:sp>
        <p:sp>
          <p:nvSpPr>
            <p:cNvPr id="43" name="TextBox 42">
              <a:extLst>
                <a:ext uri="{FF2B5EF4-FFF2-40B4-BE49-F238E27FC236}">
                  <a16:creationId xmlns:a16="http://schemas.microsoft.com/office/drawing/2014/main" id="{F37C8E51-387B-26F5-5352-0288EF990FF8}"/>
                </a:ext>
              </a:extLst>
            </p:cNvPr>
            <p:cNvSpPr txBox="1"/>
            <p:nvPr/>
          </p:nvSpPr>
          <p:spPr>
            <a:xfrm>
              <a:off x="4389120" y="5151469"/>
              <a:ext cx="2926080" cy="276999"/>
            </a:xfrm>
            <a:prstGeom prst="rect">
              <a:avLst/>
            </a:prstGeom>
            <a:noFill/>
          </p:spPr>
          <p:txBody>
            <a:bodyPr vert="horz" wrap="square" lIns="0" tIns="0" rIns="0" bIns="0" rtlCol="0" anchor="t">
              <a:normAutofit/>
            </a:bodyPr>
            <a:lstStyle/>
            <a:p>
              <a:r>
                <a:rPr lang="en-US" sz="1050">
                  <a:solidFill>
                    <a:srgbClr val="091F2C"/>
                  </a:solidFill>
                  <a:latin typeface="Segoe UI" panose="020B0502040204020203" pitchFamily="34" charset="0"/>
                </a:rPr>
                <a:t>Makers + IT + pro developers (fusion teams)</a:t>
              </a:r>
            </a:p>
          </p:txBody>
        </p:sp>
        <p:cxnSp>
          <p:nvCxnSpPr>
            <p:cNvPr id="44" name="Straight Connector 43">
              <a:extLst>
                <a:ext uri="{FF2B5EF4-FFF2-40B4-BE49-F238E27FC236}">
                  <a16:creationId xmlns:a16="http://schemas.microsoft.com/office/drawing/2014/main" id="{8666D4DE-E5C2-38B1-CEA9-F9D2E40F7A0D}"/>
                </a:ext>
              </a:extLst>
            </p:cNvPr>
            <p:cNvCxnSpPr/>
            <p:nvPr/>
          </p:nvCxnSpPr>
          <p:spPr>
            <a:xfrm>
              <a:off x="4389120" y="5526373"/>
              <a:ext cx="2926080" cy="0"/>
            </a:xfrm>
            <a:prstGeom prst="line">
              <a:avLst/>
            </a:prstGeom>
            <a:ln w="10160">
              <a:solidFill>
                <a:srgbClr val="E7E5F0"/>
              </a:solidFill>
            </a:ln>
          </p:spPr>
          <p:style>
            <a:lnRef idx="1">
              <a:schemeClr val="accent1"/>
            </a:lnRef>
            <a:fillRef idx="0">
              <a:schemeClr val="accent1"/>
            </a:fillRef>
            <a:effectRef idx="0">
              <a:schemeClr val="accent1"/>
            </a:effectRef>
            <a:fontRef idx="minor">
              <a:schemeClr val="tx1"/>
            </a:fontRef>
          </p:style>
        </p:cxnSp>
        <p:sp>
          <p:nvSpPr>
            <p:cNvPr id="45" name="TextBox 44">
              <a:extLst>
                <a:ext uri="{FF2B5EF4-FFF2-40B4-BE49-F238E27FC236}">
                  <a16:creationId xmlns:a16="http://schemas.microsoft.com/office/drawing/2014/main" id="{1B3F110B-18A3-1FCA-FED2-438CD1E8E2A7}"/>
                </a:ext>
              </a:extLst>
            </p:cNvPr>
            <p:cNvSpPr txBox="1"/>
            <p:nvPr/>
          </p:nvSpPr>
          <p:spPr>
            <a:xfrm>
              <a:off x="4389120" y="5625622"/>
              <a:ext cx="2926080" cy="276999"/>
            </a:xfrm>
            <a:prstGeom prst="rect">
              <a:avLst/>
            </a:prstGeom>
            <a:noFill/>
          </p:spPr>
          <p:txBody>
            <a:bodyPr vert="horz" wrap="square" lIns="0" tIns="0" rIns="0" bIns="0" rtlCol="0" anchor="t">
              <a:normAutofit/>
            </a:bodyPr>
            <a:lstStyle/>
            <a:p>
              <a:r>
                <a:rPr lang="en-US" sz="900" b="1">
                  <a:solidFill>
                    <a:srgbClr val="8661C5"/>
                  </a:solidFill>
                  <a:latin typeface="Segoe UI Semibold" panose="020B0702040204020203" pitchFamily="34" charset="0"/>
                </a:rPr>
                <a:t>GOVERNANCE FOCUS</a:t>
              </a:r>
            </a:p>
          </p:txBody>
        </p:sp>
        <p:sp>
          <p:nvSpPr>
            <p:cNvPr id="46" name="TextBox 45">
              <a:extLst>
                <a:ext uri="{FF2B5EF4-FFF2-40B4-BE49-F238E27FC236}">
                  <a16:creationId xmlns:a16="http://schemas.microsoft.com/office/drawing/2014/main" id="{34A075E0-B8C9-15DA-BDD3-3A1BE325210F}"/>
                </a:ext>
              </a:extLst>
            </p:cNvPr>
            <p:cNvSpPr txBox="1"/>
            <p:nvPr/>
          </p:nvSpPr>
          <p:spPr>
            <a:xfrm>
              <a:off x="4389120" y="5826789"/>
              <a:ext cx="2926080" cy="374904"/>
            </a:xfrm>
            <a:prstGeom prst="rect">
              <a:avLst/>
            </a:prstGeom>
            <a:noFill/>
          </p:spPr>
          <p:txBody>
            <a:bodyPr vert="horz" wrap="square" lIns="0" tIns="0" rIns="0" bIns="0" rtlCol="0" anchor="t">
              <a:noAutofit/>
            </a:bodyPr>
            <a:lstStyle/>
            <a:p>
              <a:r>
                <a:rPr lang="en-US" sz="1050" dirty="0">
                  <a:solidFill>
                    <a:srgbClr val="091F2C"/>
                  </a:solidFill>
                  <a:latin typeface="Segoe UI" panose="020B0502040204020203" pitchFamily="34" charset="0"/>
                </a:rPr>
                <a:t>ALM, environments, DLP, authentication</a:t>
              </a:r>
            </a:p>
          </p:txBody>
        </p:sp>
      </p:grpSp>
      <p:grpSp>
        <p:nvGrpSpPr>
          <p:cNvPr id="30" name="Group 29">
            <a:extLst>
              <a:ext uri="{FF2B5EF4-FFF2-40B4-BE49-F238E27FC236}">
                <a16:creationId xmlns:a16="http://schemas.microsoft.com/office/drawing/2014/main" id="{04F5131E-3A7C-81C7-F75F-8EACDA469CEA}"/>
              </a:ext>
            </a:extLst>
          </p:cNvPr>
          <p:cNvGrpSpPr/>
          <p:nvPr/>
        </p:nvGrpSpPr>
        <p:grpSpPr>
          <a:xfrm>
            <a:off x="8101584" y="1608009"/>
            <a:ext cx="3438144" cy="4676598"/>
            <a:chOff x="7790688" y="1755648"/>
            <a:chExt cx="3438144" cy="4676598"/>
          </a:xfrm>
        </p:grpSpPr>
        <p:sp>
          <p:nvSpPr>
            <p:cNvPr id="47" name="Rectangle: Rounded Corners 46">
              <a:extLst>
                <a:ext uri="{FF2B5EF4-FFF2-40B4-BE49-F238E27FC236}">
                  <a16:creationId xmlns:a16="http://schemas.microsoft.com/office/drawing/2014/main" id="{A858E077-26EF-777A-775A-ACE22C465087}"/>
                </a:ext>
              </a:extLst>
            </p:cNvPr>
            <p:cNvSpPr/>
            <p:nvPr/>
          </p:nvSpPr>
          <p:spPr>
            <a:xfrm>
              <a:off x="7790688" y="1938528"/>
              <a:ext cx="3438144" cy="4493718"/>
            </a:xfrm>
            <a:prstGeom prst="roundRect">
              <a:avLst>
                <a:gd name="adj" fmla="val 2654"/>
              </a:avLst>
            </a:prstGeom>
            <a:solidFill>
              <a:srgbClr val="FFFFFF"/>
            </a:solidFill>
            <a:ln w="12700">
              <a:solidFill>
                <a:srgbClr val="E7E5F0"/>
              </a:solidFill>
            </a:ln>
            <a:effectLst>
              <a:outerShdw blurRad="63500" dist="25400" dir="5400000" rotWithShape="0">
                <a:srgbClr val="8A83B0">
                  <a:alpha val="1800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8" name="Rectangle: Rounded Corners 47">
              <a:extLst>
                <a:ext uri="{FF2B5EF4-FFF2-40B4-BE49-F238E27FC236}">
                  <a16:creationId xmlns:a16="http://schemas.microsoft.com/office/drawing/2014/main" id="{792C1F2D-E63F-3FBB-FEC8-08EA5CF5DF28}"/>
                </a:ext>
              </a:extLst>
            </p:cNvPr>
            <p:cNvSpPr/>
            <p:nvPr/>
          </p:nvSpPr>
          <p:spPr>
            <a:xfrm>
              <a:off x="7955280" y="1755648"/>
              <a:ext cx="3108960" cy="621792"/>
            </a:xfrm>
            <a:prstGeom prst="roundRect">
              <a:avLst/>
            </a:prstGeom>
            <a:gradFill flip="none" rotWithShape="1">
              <a:gsLst>
                <a:gs pos="58000">
                  <a:srgbClr val="8661C5"/>
                </a:gs>
                <a:gs pos="100000">
                  <a:srgbClr val="FFFFFF"/>
                </a:gs>
              </a:gsLst>
              <a:lin ang="5400000" scaled="1"/>
              <a:tileRect/>
            </a:gra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9" name="Rectangle: Rounded Corners 48">
              <a:extLst>
                <a:ext uri="{FF2B5EF4-FFF2-40B4-BE49-F238E27FC236}">
                  <a16:creationId xmlns:a16="http://schemas.microsoft.com/office/drawing/2014/main" id="{6BB77A77-652E-F768-1713-669FE0F8BDC8}"/>
                </a:ext>
              </a:extLst>
            </p:cNvPr>
            <p:cNvSpPr/>
            <p:nvPr/>
          </p:nvSpPr>
          <p:spPr>
            <a:xfrm>
              <a:off x="8110728" y="1847088"/>
              <a:ext cx="438912" cy="438912"/>
            </a:xfrm>
            <a:prstGeom prst="roundRect">
              <a:avLst/>
            </a:prstGeom>
            <a:solidFill>
              <a:srgbClr val="FFFFFF"/>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1" name="Picture 50">
              <a:extLst>
                <a:ext uri="{FF2B5EF4-FFF2-40B4-BE49-F238E27FC236}">
                  <a16:creationId xmlns:a16="http://schemas.microsoft.com/office/drawing/2014/main" id="{E2350F34-BBC5-A02A-FF8F-0F5E003A0F47}"/>
                </a:ext>
              </a:extLst>
            </p:cNvPr>
            <p:cNvPicPr>
              <a:picLocks/>
            </p:cNvPicPr>
            <p:nvPr/>
          </p:nvPicPr>
          <p:blipFill>
            <a:blip r:embed="rId5"/>
            <a:stretch>
              <a:fillRect/>
            </a:stretch>
          </p:blipFill>
          <p:spPr>
            <a:xfrm>
              <a:off x="8165592" y="1901952"/>
              <a:ext cx="329184" cy="329184"/>
            </a:xfrm>
            <a:prstGeom prst="rect">
              <a:avLst/>
            </a:prstGeom>
          </p:spPr>
        </p:pic>
        <p:sp>
          <p:nvSpPr>
            <p:cNvPr id="52" name="TextBox 51">
              <a:extLst>
                <a:ext uri="{FF2B5EF4-FFF2-40B4-BE49-F238E27FC236}">
                  <a16:creationId xmlns:a16="http://schemas.microsoft.com/office/drawing/2014/main" id="{EB4EF231-E68C-5C31-8A45-17EE96DC94D0}"/>
                </a:ext>
              </a:extLst>
            </p:cNvPr>
            <p:cNvSpPr txBox="1"/>
            <p:nvPr/>
          </p:nvSpPr>
          <p:spPr>
            <a:xfrm>
              <a:off x="8686800" y="1874520"/>
              <a:ext cx="2084832" cy="276999"/>
            </a:xfrm>
            <a:prstGeom prst="rect">
              <a:avLst/>
            </a:prstGeom>
            <a:noFill/>
          </p:spPr>
          <p:txBody>
            <a:bodyPr vert="horz" wrap="square" lIns="0" tIns="0" rIns="0" bIns="0" rtlCol="0" anchor="ctr">
              <a:normAutofit/>
            </a:bodyPr>
            <a:lstStyle/>
            <a:p>
              <a:r>
                <a:rPr lang="en-US" sz="1300" b="1" dirty="0">
                  <a:solidFill>
                    <a:srgbClr val="FFFFFF"/>
                  </a:solidFill>
                  <a:latin typeface="Segoe UI Semibold" panose="020B0702040204020203" pitchFamily="34" charset="0"/>
                </a:rPr>
                <a:t>Microsoft Foundry</a:t>
              </a:r>
            </a:p>
          </p:txBody>
        </p:sp>
        <p:sp>
          <p:nvSpPr>
            <p:cNvPr id="53" name="TextBox 52">
              <a:extLst>
                <a:ext uri="{FF2B5EF4-FFF2-40B4-BE49-F238E27FC236}">
                  <a16:creationId xmlns:a16="http://schemas.microsoft.com/office/drawing/2014/main" id="{E26653F0-2A90-59B2-47F2-F3D5841AD4B9}"/>
                </a:ext>
              </a:extLst>
            </p:cNvPr>
            <p:cNvSpPr txBox="1"/>
            <p:nvPr/>
          </p:nvSpPr>
          <p:spPr>
            <a:xfrm>
              <a:off x="8046720" y="2542032"/>
              <a:ext cx="2926080" cy="276999"/>
            </a:xfrm>
            <a:prstGeom prst="rect">
              <a:avLst/>
            </a:prstGeom>
            <a:noFill/>
          </p:spPr>
          <p:txBody>
            <a:bodyPr vert="horz" wrap="square" lIns="0" tIns="0" rIns="0" bIns="0" rtlCol="0" anchor="t">
              <a:normAutofit/>
            </a:bodyPr>
            <a:lstStyle/>
            <a:p>
              <a:r>
                <a:rPr lang="en-US" sz="840" b="1">
                  <a:solidFill>
                    <a:srgbClr val="C03BC4"/>
                  </a:solidFill>
                  <a:latin typeface="Segoe UI Semibold" panose="020B0702040204020203" pitchFamily="34" charset="0"/>
                </a:rPr>
                <a:t>BEST FOR</a:t>
              </a:r>
            </a:p>
          </p:txBody>
        </p:sp>
        <p:sp>
          <p:nvSpPr>
            <p:cNvPr id="54" name="TextBox 53">
              <a:extLst>
                <a:ext uri="{FF2B5EF4-FFF2-40B4-BE49-F238E27FC236}">
                  <a16:creationId xmlns:a16="http://schemas.microsoft.com/office/drawing/2014/main" id="{42FB2126-6FF8-A269-6367-2736B883EE69}"/>
                </a:ext>
              </a:extLst>
            </p:cNvPr>
            <p:cNvSpPr txBox="1"/>
            <p:nvPr/>
          </p:nvSpPr>
          <p:spPr>
            <a:xfrm>
              <a:off x="8046720" y="2734056"/>
              <a:ext cx="2926080" cy="276999"/>
            </a:xfrm>
            <a:prstGeom prst="rect">
              <a:avLst/>
            </a:prstGeom>
            <a:noFill/>
          </p:spPr>
          <p:txBody>
            <a:bodyPr vert="horz" wrap="square" lIns="0" tIns="0" rIns="0" bIns="0" rtlCol="0" anchor="t">
              <a:normAutofit/>
            </a:bodyPr>
            <a:lstStyle/>
            <a:p>
              <a:r>
                <a:rPr lang="en-US" sz="1170" b="1">
                  <a:solidFill>
                    <a:srgbClr val="091F2C"/>
                  </a:solidFill>
                  <a:latin typeface="Segoe UI Semibold" panose="020B0702040204020203" pitchFamily="34" charset="0"/>
                </a:rPr>
                <a:t>Custom, code-first AI apps and agents</a:t>
              </a:r>
            </a:p>
          </p:txBody>
        </p:sp>
        <p:cxnSp>
          <p:nvCxnSpPr>
            <p:cNvPr id="55" name="Straight Connector 54">
              <a:extLst>
                <a:ext uri="{FF2B5EF4-FFF2-40B4-BE49-F238E27FC236}">
                  <a16:creationId xmlns:a16="http://schemas.microsoft.com/office/drawing/2014/main" id="{5B5BB370-E1F2-2407-CB0C-22FE74D70D59}"/>
                </a:ext>
              </a:extLst>
            </p:cNvPr>
            <p:cNvCxnSpPr/>
            <p:nvPr/>
          </p:nvCxnSpPr>
          <p:spPr>
            <a:xfrm>
              <a:off x="8046720" y="3200400"/>
              <a:ext cx="2926080" cy="0"/>
            </a:xfrm>
            <a:prstGeom prst="line">
              <a:avLst/>
            </a:prstGeom>
            <a:ln w="10160">
              <a:solidFill>
                <a:srgbClr val="E7E5F0"/>
              </a:solidFill>
            </a:ln>
          </p:spPr>
          <p:style>
            <a:lnRef idx="1">
              <a:schemeClr val="accent1"/>
            </a:lnRef>
            <a:fillRef idx="0">
              <a:schemeClr val="accent1"/>
            </a:fillRef>
            <a:effectRef idx="0">
              <a:schemeClr val="accent1"/>
            </a:effectRef>
            <a:fontRef idx="minor">
              <a:schemeClr val="tx1"/>
            </a:fontRef>
          </p:style>
        </p:cxnSp>
        <p:sp>
          <p:nvSpPr>
            <p:cNvPr id="56" name="TextBox 55">
              <a:extLst>
                <a:ext uri="{FF2B5EF4-FFF2-40B4-BE49-F238E27FC236}">
                  <a16:creationId xmlns:a16="http://schemas.microsoft.com/office/drawing/2014/main" id="{8D15CDF2-946E-88AF-DF4B-5976F8C54E7E}"/>
                </a:ext>
              </a:extLst>
            </p:cNvPr>
            <p:cNvSpPr txBox="1"/>
            <p:nvPr/>
          </p:nvSpPr>
          <p:spPr>
            <a:xfrm>
              <a:off x="8046720" y="3291840"/>
              <a:ext cx="2926080" cy="276999"/>
            </a:xfrm>
            <a:prstGeom prst="rect">
              <a:avLst/>
            </a:prstGeom>
            <a:noFill/>
          </p:spPr>
          <p:txBody>
            <a:bodyPr vert="horz" wrap="square" lIns="0" tIns="0" rIns="0" bIns="0" rtlCol="0" anchor="t">
              <a:normAutofit/>
            </a:bodyPr>
            <a:lstStyle/>
            <a:p>
              <a:r>
                <a:rPr lang="en-US" sz="840" b="1">
                  <a:solidFill>
                    <a:srgbClr val="C03BC4"/>
                  </a:solidFill>
                  <a:latin typeface="Segoe UI Semibold" panose="020B0702040204020203" pitchFamily="34" charset="0"/>
                </a:rPr>
                <a:t>KEY AUDIENCE</a:t>
              </a:r>
            </a:p>
          </p:txBody>
        </p:sp>
        <p:sp>
          <p:nvSpPr>
            <p:cNvPr id="57" name="TextBox 56">
              <a:extLst>
                <a:ext uri="{FF2B5EF4-FFF2-40B4-BE49-F238E27FC236}">
                  <a16:creationId xmlns:a16="http://schemas.microsoft.com/office/drawing/2014/main" id="{84F16E5D-F920-B16C-EE53-0B3CA12FE374}"/>
                </a:ext>
              </a:extLst>
            </p:cNvPr>
            <p:cNvSpPr txBox="1"/>
            <p:nvPr/>
          </p:nvSpPr>
          <p:spPr>
            <a:xfrm>
              <a:off x="8046720" y="3483864"/>
              <a:ext cx="2926080" cy="276999"/>
            </a:xfrm>
            <a:prstGeom prst="rect">
              <a:avLst/>
            </a:prstGeom>
            <a:noFill/>
          </p:spPr>
          <p:txBody>
            <a:bodyPr vert="horz" wrap="square" lIns="0" tIns="0" rIns="0" bIns="0" rtlCol="0" anchor="t">
              <a:noAutofit/>
            </a:bodyPr>
            <a:lstStyle/>
            <a:p>
              <a:r>
                <a:rPr lang="en-US" sz="1050" dirty="0">
                  <a:solidFill>
                    <a:srgbClr val="091F2C"/>
                  </a:solidFill>
                  <a:latin typeface="Segoe UI" panose="020B0502040204020203" pitchFamily="34" charset="0"/>
                </a:rPr>
                <a:t>Users of custom apps, services, and domain solutions</a:t>
              </a:r>
            </a:p>
          </p:txBody>
        </p:sp>
        <p:cxnSp>
          <p:nvCxnSpPr>
            <p:cNvPr id="58" name="Straight Connector 57">
              <a:extLst>
                <a:ext uri="{FF2B5EF4-FFF2-40B4-BE49-F238E27FC236}">
                  <a16:creationId xmlns:a16="http://schemas.microsoft.com/office/drawing/2014/main" id="{7E9B2A69-B909-F8A1-82C8-8B5769E8C904}"/>
                </a:ext>
              </a:extLst>
            </p:cNvPr>
            <p:cNvCxnSpPr/>
            <p:nvPr/>
          </p:nvCxnSpPr>
          <p:spPr>
            <a:xfrm>
              <a:off x="8046720" y="3886200"/>
              <a:ext cx="2926080" cy="0"/>
            </a:xfrm>
            <a:prstGeom prst="line">
              <a:avLst/>
            </a:prstGeom>
            <a:ln w="10160">
              <a:solidFill>
                <a:srgbClr val="E7E5F0"/>
              </a:solidFill>
            </a:ln>
          </p:spPr>
          <p:style>
            <a:lnRef idx="1">
              <a:schemeClr val="accent1"/>
            </a:lnRef>
            <a:fillRef idx="0">
              <a:schemeClr val="accent1"/>
            </a:fillRef>
            <a:effectRef idx="0">
              <a:schemeClr val="accent1"/>
            </a:effectRef>
            <a:fontRef idx="minor">
              <a:schemeClr val="tx1"/>
            </a:fontRef>
          </p:style>
        </p:cxnSp>
        <p:sp>
          <p:nvSpPr>
            <p:cNvPr id="59" name="TextBox 58">
              <a:extLst>
                <a:ext uri="{FF2B5EF4-FFF2-40B4-BE49-F238E27FC236}">
                  <a16:creationId xmlns:a16="http://schemas.microsoft.com/office/drawing/2014/main" id="{5C925A3C-DF88-8FF9-3895-D783573045DD}"/>
                </a:ext>
              </a:extLst>
            </p:cNvPr>
            <p:cNvSpPr txBox="1"/>
            <p:nvPr/>
          </p:nvSpPr>
          <p:spPr>
            <a:xfrm>
              <a:off x="8046720" y="3977640"/>
              <a:ext cx="2926080" cy="276999"/>
            </a:xfrm>
            <a:prstGeom prst="rect">
              <a:avLst/>
            </a:prstGeom>
            <a:noFill/>
          </p:spPr>
          <p:txBody>
            <a:bodyPr vert="horz" wrap="square" lIns="0" tIns="0" rIns="0" bIns="0" rtlCol="0" anchor="t">
              <a:normAutofit/>
            </a:bodyPr>
            <a:lstStyle/>
            <a:p>
              <a:r>
                <a:rPr lang="en-US" sz="840" b="1">
                  <a:solidFill>
                    <a:srgbClr val="C03BC4"/>
                  </a:solidFill>
                  <a:latin typeface="Segoe UI Semibold" panose="020B0702040204020203" pitchFamily="34" charset="0"/>
                </a:rPr>
                <a:t>USE WHEN</a:t>
              </a:r>
            </a:p>
          </p:txBody>
        </p:sp>
        <p:sp>
          <p:nvSpPr>
            <p:cNvPr id="60" name="TextBox 59">
              <a:extLst>
                <a:ext uri="{FF2B5EF4-FFF2-40B4-BE49-F238E27FC236}">
                  <a16:creationId xmlns:a16="http://schemas.microsoft.com/office/drawing/2014/main" id="{3A84BD4A-17F4-E5C5-F6FF-45927BF91248}"/>
                </a:ext>
              </a:extLst>
            </p:cNvPr>
            <p:cNvSpPr txBox="1"/>
            <p:nvPr/>
          </p:nvSpPr>
          <p:spPr>
            <a:xfrm>
              <a:off x="8046720" y="4169664"/>
              <a:ext cx="2926080" cy="604180"/>
            </a:xfrm>
            <a:prstGeom prst="rect">
              <a:avLst/>
            </a:prstGeom>
            <a:noFill/>
          </p:spPr>
          <p:txBody>
            <a:bodyPr vert="horz" wrap="square" lIns="0" tIns="0" rIns="0" bIns="0" rtlCol="0" anchor="t">
              <a:noAutofit/>
            </a:bodyPr>
            <a:lstStyle/>
            <a:p>
              <a:r>
                <a:rPr lang="en-US" sz="1050" dirty="0">
                  <a:solidFill>
                    <a:srgbClr val="091F2C"/>
                  </a:solidFill>
                  <a:latin typeface="Segoe UI" panose="020B0502040204020203" pitchFamily="34" charset="0"/>
                </a:rPr>
                <a:t>Custom AI applications and services are required · Advanced control over models, orchestration, and data is needed · Professional engineering teams own and operate the solution</a:t>
              </a:r>
            </a:p>
          </p:txBody>
        </p:sp>
        <p:cxnSp>
          <p:nvCxnSpPr>
            <p:cNvPr id="61" name="Straight Connector 60">
              <a:extLst>
                <a:ext uri="{FF2B5EF4-FFF2-40B4-BE49-F238E27FC236}">
                  <a16:creationId xmlns:a16="http://schemas.microsoft.com/office/drawing/2014/main" id="{52EA46A7-4336-E09C-9B96-F6F928DF03E8}"/>
                </a:ext>
              </a:extLst>
            </p:cNvPr>
            <p:cNvCxnSpPr/>
            <p:nvPr/>
          </p:nvCxnSpPr>
          <p:spPr>
            <a:xfrm>
              <a:off x="8040624" y="4868005"/>
              <a:ext cx="2926080" cy="0"/>
            </a:xfrm>
            <a:prstGeom prst="line">
              <a:avLst/>
            </a:prstGeom>
            <a:ln w="10160">
              <a:solidFill>
                <a:srgbClr val="E7E5F0"/>
              </a:solidFill>
            </a:ln>
          </p:spPr>
          <p:style>
            <a:lnRef idx="1">
              <a:schemeClr val="accent1"/>
            </a:lnRef>
            <a:fillRef idx="0">
              <a:schemeClr val="accent1"/>
            </a:fillRef>
            <a:effectRef idx="0">
              <a:schemeClr val="accent1"/>
            </a:effectRef>
            <a:fontRef idx="minor">
              <a:schemeClr val="tx1"/>
            </a:fontRef>
          </p:style>
        </p:cxnSp>
        <p:sp>
          <p:nvSpPr>
            <p:cNvPr id="62" name="TextBox 61">
              <a:extLst>
                <a:ext uri="{FF2B5EF4-FFF2-40B4-BE49-F238E27FC236}">
                  <a16:creationId xmlns:a16="http://schemas.microsoft.com/office/drawing/2014/main" id="{BE07DA8A-6CA9-4E90-F56E-821BF07415EF}"/>
                </a:ext>
              </a:extLst>
            </p:cNvPr>
            <p:cNvSpPr txBox="1"/>
            <p:nvPr/>
          </p:nvSpPr>
          <p:spPr>
            <a:xfrm>
              <a:off x="8040624" y="4959445"/>
              <a:ext cx="2926080" cy="276999"/>
            </a:xfrm>
            <a:prstGeom prst="rect">
              <a:avLst/>
            </a:prstGeom>
            <a:noFill/>
          </p:spPr>
          <p:txBody>
            <a:bodyPr vert="horz" wrap="square" lIns="0" tIns="0" rIns="0" bIns="0" rtlCol="0" anchor="t">
              <a:normAutofit/>
            </a:bodyPr>
            <a:lstStyle/>
            <a:p>
              <a:r>
                <a:rPr lang="en-US" sz="840" b="1">
                  <a:solidFill>
                    <a:srgbClr val="C03BC4"/>
                  </a:solidFill>
                  <a:latin typeface="Segoe UI Semibold" panose="020B0702040204020203" pitchFamily="34" charset="0"/>
                </a:rPr>
                <a:t>BUILT BY</a:t>
              </a:r>
            </a:p>
          </p:txBody>
        </p:sp>
        <p:sp>
          <p:nvSpPr>
            <p:cNvPr id="63" name="TextBox 62">
              <a:extLst>
                <a:ext uri="{FF2B5EF4-FFF2-40B4-BE49-F238E27FC236}">
                  <a16:creationId xmlns:a16="http://schemas.microsoft.com/office/drawing/2014/main" id="{B7E4A7B8-8DE6-3732-B640-35C023B1084B}"/>
                </a:ext>
              </a:extLst>
            </p:cNvPr>
            <p:cNvSpPr txBox="1"/>
            <p:nvPr/>
          </p:nvSpPr>
          <p:spPr>
            <a:xfrm>
              <a:off x="8040624" y="5151469"/>
              <a:ext cx="2926080" cy="276999"/>
            </a:xfrm>
            <a:prstGeom prst="rect">
              <a:avLst/>
            </a:prstGeom>
            <a:noFill/>
          </p:spPr>
          <p:txBody>
            <a:bodyPr vert="horz" wrap="square" lIns="0" tIns="0" rIns="0" bIns="0" rtlCol="0" anchor="t">
              <a:normAutofit/>
            </a:bodyPr>
            <a:lstStyle/>
            <a:p>
              <a:r>
                <a:rPr lang="en-US" sz="1050">
                  <a:solidFill>
                    <a:srgbClr val="091F2C"/>
                  </a:solidFill>
                  <a:latin typeface="Segoe UI" panose="020B0502040204020203" pitchFamily="34" charset="0"/>
                </a:rPr>
                <a:t>Software engineers · AI engineers · data scientists</a:t>
              </a:r>
            </a:p>
          </p:txBody>
        </p:sp>
        <p:cxnSp>
          <p:nvCxnSpPr>
            <p:cNvPr id="64" name="Straight Connector 63">
              <a:extLst>
                <a:ext uri="{FF2B5EF4-FFF2-40B4-BE49-F238E27FC236}">
                  <a16:creationId xmlns:a16="http://schemas.microsoft.com/office/drawing/2014/main" id="{A927A2EB-5A19-DBA4-8394-B5F862AE6CEE}"/>
                </a:ext>
              </a:extLst>
            </p:cNvPr>
            <p:cNvCxnSpPr/>
            <p:nvPr/>
          </p:nvCxnSpPr>
          <p:spPr>
            <a:xfrm>
              <a:off x="8040624" y="5526373"/>
              <a:ext cx="2926080" cy="0"/>
            </a:xfrm>
            <a:prstGeom prst="line">
              <a:avLst/>
            </a:prstGeom>
            <a:ln w="10160">
              <a:solidFill>
                <a:srgbClr val="E7E5F0"/>
              </a:solidFill>
            </a:ln>
          </p:spPr>
          <p:style>
            <a:lnRef idx="1">
              <a:schemeClr val="accent1"/>
            </a:lnRef>
            <a:fillRef idx="0">
              <a:schemeClr val="accent1"/>
            </a:fillRef>
            <a:effectRef idx="0">
              <a:schemeClr val="accent1"/>
            </a:effectRef>
            <a:fontRef idx="minor">
              <a:schemeClr val="tx1"/>
            </a:fontRef>
          </p:style>
        </p:cxnSp>
        <p:sp>
          <p:nvSpPr>
            <p:cNvPr id="65" name="TextBox 64">
              <a:extLst>
                <a:ext uri="{FF2B5EF4-FFF2-40B4-BE49-F238E27FC236}">
                  <a16:creationId xmlns:a16="http://schemas.microsoft.com/office/drawing/2014/main" id="{803E94E8-3745-6EF6-9B60-BB81C8AA51AF}"/>
                </a:ext>
              </a:extLst>
            </p:cNvPr>
            <p:cNvSpPr txBox="1"/>
            <p:nvPr/>
          </p:nvSpPr>
          <p:spPr>
            <a:xfrm>
              <a:off x="8048413" y="5633381"/>
              <a:ext cx="2926080" cy="276999"/>
            </a:xfrm>
            <a:prstGeom prst="rect">
              <a:avLst/>
            </a:prstGeom>
            <a:noFill/>
          </p:spPr>
          <p:txBody>
            <a:bodyPr vert="horz" wrap="square" lIns="0" tIns="0" rIns="0" bIns="0" rtlCol="0" anchor="t">
              <a:normAutofit/>
            </a:bodyPr>
            <a:lstStyle/>
            <a:p>
              <a:r>
                <a:rPr lang="en-US" sz="900" b="1">
                  <a:solidFill>
                    <a:srgbClr val="C03BC4"/>
                  </a:solidFill>
                  <a:latin typeface="Segoe UI Semibold" panose="020B0702040204020203" pitchFamily="34" charset="0"/>
                </a:rPr>
                <a:t>GOVERNANCE FOCUS</a:t>
              </a:r>
            </a:p>
          </p:txBody>
        </p:sp>
        <p:sp>
          <p:nvSpPr>
            <p:cNvPr id="66" name="TextBox 65">
              <a:extLst>
                <a:ext uri="{FF2B5EF4-FFF2-40B4-BE49-F238E27FC236}">
                  <a16:creationId xmlns:a16="http://schemas.microsoft.com/office/drawing/2014/main" id="{44031DD0-315C-A7E6-3A14-D353988C760A}"/>
                </a:ext>
              </a:extLst>
            </p:cNvPr>
            <p:cNvSpPr txBox="1"/>
            <p:nvPr/>
          </p:nvSpPr>
          <p:spPr>
            <a:xfrm>
              <a:off x="8048413" y="5834548"/>
              <a:ext cx="2926080" cy="374904"/>
            </a:xfrm>
            <a:prstGeom prst="rect">
              <a:avLst/>
            </a:prstGeom>
            <a:noFill/>
          </p:spPr>
          <p:txBody>
            <a:bodyPr vert="horz" wrap="square" lIns="0" tIns="0" rIns="0" bIns="0" rtlCol="0" anchor="t">
              <a:noAutofit/>
            </a:bodyPr>
            <a:lstStyle/>
            <a:p>
              <a:r>
                <a:rPr lang="en-US" sz="1050" dirty="0">
                  <a:solidFill>
                    <a:srgbClr val="091F2C"/>
                  </a:solidFill>
                  <a:latin typeface="Segoe UI" panose="020B0502040204020203" pitchFamily="34" charset="0"/>
                </a:rPr>
                <a:t>Azure architecture, security, operations</a:t>
              </a:r>
            </a:p>
          </p:txBody>
        </p:sp>
      </p:grpSp>
      <p:sp>
        <p:nvSpPr>
          <p:cNvPr id="70" name="TextBox 69">
            <a:extLst>
              <a:ext uri="{FF2B5EF4-FFF2-40B4-BE49-F238E27FC236}">
                <a16:creationId xmlns:a16="http://schemas.microsoft.com/office/drawing/2014/main" id="{ACED5186-6C64-FA97-3EB8-C0C13478A508}"/>
              </a:ext>
            </a:extLst>
          </p:cNvPr>
          <p:cNvSpPr txBox="1"/>
          <p:nvPr/>
        </p:nvSpPr>
        <p:spPr>
          <a:xfrm>
            <a:off x="658368" y="6510528"/>
            <a:ext cx="1828800" cy="276999"/>
          </a:xfrm>
          <a:prstGeom prst="rect">
            <a:avLst/>
          </a:prstGeom>
          <a:noFill/>
        </p:spPr>
        <p:txBody>
          <a:bodyPr vert="horz" wrap="square" lIns="0" tIns="0" rIns="0" bIns="0" rtlCol="0" anchor="t">
            <a:normAutofit/>
          </a:bodyPr>
          <a:lstStyle/>
          <a:p>
            <a:r>
              <a:rPr lang="en-US" sz="850">
                <a:solidFill>
                  <a:srgbClr val="9AA3AD"/>
                </a:solidFill>
                <a:latin typeface="Segoe UI" panose="020B0502040204020203" pitchFamily="34" charset="0"/>
              </a:rPr>
              <a:t>Copilot Studio</a:t>
            </a:r>
          </a:p>
        </p:txBody>
      </p:sp>
      <p:sp>
        <p:nvSpPr>
          <p:cNvPr id="71" name="TextBox 70">
            <a:extLst>
              <a:ext uri="{FF2B5EF4-FFF2-40B4-BE49-F238E27FC236}">
                <a16:creationId xmlns:a16="http://schemas.microsoft.com/office/drawing/2014/main" id="{894D3D6E-AC89-50A8-EBCC-43B28361B64E}"/>
              </a:ext>
            </a:extLst>
          </p:cNvPr>
          <p:cNvSpPr txBox="1"/>
          <p:nvPr/>
        </p:nvSpPr>
        <p:spPr>
          <a:xfrm>
            <a:off x="11201400" y="6473952"/>
            <a:ext cx="320040" cy="276999"/>
          </a:xfrm>
          <a:prstGeom prst="rect">
            <a:avLst/>
          </a:prstGeom>
          <a:noFill/>
        </p:spPr>
        <p:txBody>
          <a:bodyPr vert="horz" wrap="square" lIns="0" tIns="0" rIns="0" bIns="0" rtlCol="0" anchor="t">
            <a:normAutofit/>
          </a:bodyPr>
          <a:lstStyle/>
          <a:p>
            <a:pPr algn="r"/>
            <a:r>
              <a:rPr lang="en-US" sz="900">
                <a:solidFill>
                  <a:srgbClr val="9AA3AD"/>
                </a:solidFill>
                <a:latin typeface="Segoe UI" panose="020B0502040204020203" pitchFamily="34" charset="0"/>
              </a:rPr>
              <a:t>8</a:t>
            </a:r>
          </a:p>
        </p:txBody>
      </p:sp>
    </p:spTree>
    <p:extLst>
      <p:ext uri="{BB962C8B-B14F-4D97-AF65-F5344CB8AC3E}">
        <p14:creationId xmlns:p14="http://schemas.microsoft.com/office/powerpoint/2010/main" val="307987333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10">
    <p:bg>
      <p:bgPr>
        <a:solidFill>
          <a:srgbClr val="091F2C"/>
        </a:solidFill>
        <a:effectLst/>
      </p:bgPr>
    </p:bg>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7040880" y="2194560"/>
            <a:ext cx="6400800" cy="6400800"/>
          </a:xfrm>
          <a:prstGeom prst="rect">
            <a:avLst/>
          </a:prstGeom>
        </p:spPr>
      </p:pic>
      <p:pic>
        <p:nvPicPr>
          <p:cNvPr id="3" name="Image 1" descr="preencoded.png"/>
          <p:cNvPicPr>
            <a:picLocks noChangeAspect="1"/>
          </p:cNvPicPr>
          <p:nvPr/>
        </p:nvPicPr>
        <p:blipFill>
          <a:blip r:embed="rId4"/>
          <a:stretch>
            <a:fillRect/>
          </a:stretch>
        </p:blipFill>
        <p:spPr>
          <a:xfrm>
            <a:off x="8961120" y="3657600"/>
            <a:ext cx="5029200" cy="5029200"/>
          </a:xfrm>
          <a:prstGeom prst="rect">
            <a:avLst/>
          </a:prstGeom>
        </p:spPr>
      </p:pic>
      <p:pic>
        <p:nvPicPr>
          <p:cNvPr id="4" name="Image 2" descr="preencoded.png"/>
          <p:cNvPicPr>
            <a:picLocks noChangeAspect="1"/>
          </p:cNvPicPr>
          <p:nvPr/>
        </p:nvPicPr>
        <p:blipFill>
          <a:blip r:embed="rId5"/>
          <a:stretch>
            <a:fillRect/>
          </a:stretch>
        </p:blipFill>
        <p:spPr>
          <a:xfrm>
            <a:off x="786384" y="685800"/>
            <a:ext cx="438912" cy="438912"/>
          </a:xfrm>
          <a:prstGeom prst="rect">
            <a:avLst/>
          </a:prstGeom>
        </p:spPr>
      </p:pic>
      <p:sp>
        <p:nvSpPr>
          <p:cNvPr id="5" name="Text 0"/>
          <p:cNvSpPr/>
          <p:nvPr/>
        </p:nvSpPr>
        <p:spPr>
          <a:xfrm>
            <a:off x="1389888" y="758952"/>
            <a:ext cx="3657600" cy="256032"/>
          </a:xfrm>
          <a:prstGeom prst="rect">
            <a:avLst/>
          </a:prstGeom>
          <a:noFill/>
          <a:ln/>
        </p:spPr>
        <p:txBody>
          <a:bodyPr wrap="square" lIns="0" tIns="0" rIns="0" bIns="0" rtlCol="0" anchor="ctr">
            <a:normAutofit/>
          </a:bodyPr>
          <a:lstStyle/>
          <a:p>
            <a:pPr marL="0" indent="0">
              <a:buNone/>
            </a:pPr>
            <a:r>
              <a:rPr lang="en-US" sz="1200" b="1" kern="0" spc="100" dirty="0">
                <a:solidFill>
                  <a:srgbClr val="8DC8E8"/>
                </a:solidFill>
                <a:latin typeface="Segoe UI Semibold" pitchFamily="34" charset="0"/>
                <a:ea typeface="Segoe UI Semibold" pitchFamily="34" charset="-122"/>
                <a:cs typeface="Segoe UI Semibold" pitchFamily="34" charset="-120"/>
              </a:rPr>
              <a:t>DISCUSSION  ·  18:00–25:00</a:t>
            </a:r>
            <a:endParaRPr lang="en-US" sz="1200" dirty="0"/>
          </a:p>
        </p:txBody>
      </p:sp>
      <p:sp>
        <p:nvSpPr>
          <p:cNvPr id="6" name="Text 1"/>
          <p:cNvSpPr/>
          <p:nvPr/>
        </p:nvSpPr>
        <p:spPr>
          <a:xfrm>
            <a:off x="777240" y="1389888"/>
            <a:ext cx="9692640" cy="621792"/>
          </a:xfrm>
          <a:prstGeom prst="rect">
            <a:avLst/>
          </a:prstGeom>
          <a:noFill/>
          <a:ln/>
        </p:spPr>
        <p:txBody>
          <a:bodyPr wrap="square" lIns="0" tIns="0" rIns="0" bIns="0" rtlCol="0" anchor="ctr">
            <a:normAutofit/>
          </a:bodyPr>
          <a:lstStyle/>
          <a:p>
            <a:pPr marL="0" indent="0">
              <a:buNone/>
            </a:pPr>
            <a:r>
              <a:rPr lang="en-US" sz="3100" b="1" dirty="0">
                <a:solidFill>
                  <a:srgbClr val="FFFFFF"/>
                </a:solidFill>
                <a:latin typeface="Segoe UI Semibold" pitchFamily="34" charset="0"/>
                <a:ea typeface="Segoe UI Semibold" pitchFamily="34" charset="-122"/>
                <a:cs typeface="Segoe UI Semibold" pitchFamily="34" charset="-120"/>
              </a:rPr>
              <a:t>Discussion, product handoffs &amp; Q&amp;A</a:t>
            </a:r>
            <a:endParaRPr lang="en-US" sz="3100" dirty="0"/>
          </a:p>
        </p:txBody>
      </p:sp>
      <p:sp>
        <p:nvSpPr>
          <p:cNvPr id="7" name="Shape 2"/>
          <p:cNvSpPr/>
          <p:nvPr/>
        </p:nvSpPr>
        <p:spPr>
          <a:xfrm>
            <a:off x="822960" y="2679192"/>
            <a:ext cx="109728" cy="109728"/>
          </a:xfrm>
          <a:prstGeom prst="ellipse">
            <a:avLst/>
          </a:prstGeom>
          <a:solidFill>
            <a:srgbClr val="0078D4"/>
          </a:solidFill>
          <a:ln w="12700">
            <a:solidFill>
              <a:srgbClr val="0078D4"/>
            </a:solidFill>
            <a:prstDash val="solid"/>
          </a:ln>
        </p:spPr>
        <p:txBody>
          <a:bodyPr/>
          <a:lstStyle/>
          <a:p>
            <a:endParaRPr lang="en-US"/>
          </a:p>
        </p:txBody>
      </p:sp>
      <p:sp>
        <p:nvSpPr>
          <p:cNvPr id="8" name="Text 3"/>
          <p:cNvSpPr/>
          <p:nvPr/>
        </p:nvSpPr>
        <p:spPr>
          <a:xfrm>
            <a:off x="1051560" y="2587752"/>
            <a:ext cx="8229600" cy="320040"/>
          </a:xfrm>
          <a:prstGeom prst="rect">
            <a:avLst/>
          </a:prstGeom>
          <a:noFill/>
          <a:ln/>
        </p:spPr>
        <p:txBody>
          <a:bodyPr wrap="square" lIns="0" tIns="0" rIns="0" bIns="0" rtlCol="0" anchor="ctr">
            <a:normAutofit/>
          </a:bodyPr>
          <a:lstStyle/>
          <a:p>
            <a:pPr marL="0" indent="0">
              <a:buNone/>
            </a:pPr>
            <a:r>
              <a:rPr lang="en-US" sz="1500" dirty="0">
                <a:solidFill>
                  <a:srgbClr val="C8D8E5"/>
                </a:solidFill>
                <a:latin typeface="Segoe UI" pitchFamily="34" charset="0"/>
                <a:ea typeface="Segoe UI" pitchFamily="34" charset="-122"/>
                <a:cs typeface="Segoe UI" pitchFamily="34" charset="-120"/>
              </a:rPr>
              <a:t>Where is your center of gravity today — and where should it be?</a:t>
            </a:r>
            <a:endParaRPr lang="en-US" sz="1500" dirty="0"/>
          </a:p>
        </p:txBody>
      </p:sp>
      <p:sp>
        <p:nvSpPr>
          <p:cNvPr id="9" name="Shape 4"/>
          <p:cNvSpPr/>
          <p:nvPr/>
        </p:nvSpPr>
        <p:spPr>
          <a:xfrm>
            <a:off x="822960" y="3209544"/>
            <a:ext cx="109728" cy="109728"/>
          </a:xfrm>
          <a:prstGeom prst="ellipse">
            <a:avLst/>
          </a:prstGeom>
          <a:solidFill>
            <a:srgbClr val="8661C5"/>
          </a:solidFill>
          <a:ln w="12700">
            <a:solidFill>
              <a:srgbClr val="8661C5"/>
            </a:solidFill>
            <a:prstDash val="solid"/>
          </a:ln>
        </p:spPr>
        <p:txBody>
          <a:bodyPr/>
          <a:lstStyle/>
          <a:p>
            <a:endParaRPr lang="en-US"/>
          </a:p>
        </p:txBody>
      </p:sp>
      <p:sp>
        <p:nvSpPr>
          <p:cNvPr id="10" name="Text 5"/>
          <p:cNvSpPr/>
          <p:nvPr/>
        </p:nvSpPr>
        <p:spPr>
          <a:xfrm>
            <a:off x="1051560" y="3118104"/>
            <a:ext cx="8229600" cy="320040"/>
          </a:xfrm>
          <a:prstGeom prst="rect">
            <a:avLst/>
          </a:prstGeom>
          <a:noFill/>
          <a:ln/>
        </p:spPr>
        <p:txBody>
          <a:bodyPr wrap="square" lIns="0" tIns="0" rIns="0" bIns="0" rtlCol="0" anchor="ctr">
            <a:normAutofit/>
          </a:bodyPr>
          <a:lstStyle/>
          <a:p>
            <a:pPr marL="0" indent="0">
              <a:buNone/>
            </a:pPr>
            <a:r>
              <a:rPr lang="en-US" sz="1500" dirty="0">
                <a:solidFill>
                  <a:srgbClr val="C8D8E5"/>
                </a:solidFill>
                <a:latin typeface="Segoe UI" pitchFamily="34" charset="0"/>
                <a:ea typeface="Segoe UI" pitchFamily="34" charset="-122"/>
                <a:cs typeface="Segoe UI" pitchFamily="34" charset="-120"/>
              </a:rPr>
              <a:t>Which process deserves your first agent?</a:t>
            </a:r>
            <a:endParaRPr lang="en-US" sz="1500" dirty="0"/>
          </a:p>
        </p:txBody>
      </p:sp>
      <p:sp>
        <p:nvSpPr>
          <p:cNvPr id="11" name="Shape 6"/>
          <p:cNvSpPr/>
          <p:nvPr/>
        </p:nvSpPr>
        <p:spPr>
          <a:xfrm>
            <a:off x="822960" y="3739896"/>
            <a:ext cx="109728" cy="109728"/>
          </a:xfrm>
          <a:prstGeom prst="ellipse">
            <a:avLst/>
          </a:prstGeom>
          <a:solidFill>
            <a:srgbClr val="C03BC4"/>
          </a:solidFill>
          <a:ln w="12700">
            <a:solidFill>
              <a:srgbClr val="C03BC4"/>
            </a:solidFill>
            <a:prstDash val="solid"/>
          </a:ln>
        </p:spPr>
        <p:txBody>
          <a:bodyPr/>
          <a:lstStyle/>
          <a:p>
            <a:endParaRPr lang="en-US"/>
          </a:p>
        </p:txBody>
      </p:sp>
      <p:sp>
        <p:nvSpPr>
          <p:cNvPr id="12" name="Text 7"/>
          <p:cNvSpPr/>
          <p:nvPr/>
        </p:nvSpPr>
        <p:spPr>
          <a:xfrm>
            <a:off x="1051560" y="3648456"/>
            <a:ext cx="8229600" cy="320040"/>
          </a:xfrm>
          <a:prstGeom prst="rect">
            <a:avLst/>
          </a:prstGeom>
          <a:noFill/>
          <a:ln/>
        </p:spPr>
        <p:txBody>
          <a:bodyPr wrap="square" lIns="0" tIns="0" rIns="0" bIns="0" rtlCol="0" anchor="ctr">
            <a:normAutofit/>
          </a:bodyPr>
          <a:lstStyle/>
          <a:p>
            <a:pPr marL="0" indent="0">
              <a:buNone/>
            </a:pPr>
            <a:r>
              <a:rPr lang="en-US" sz="1500" dirty="0">
                <a:solidFill>
                  <a:srgbClr val="C8D8E5"/>
                </a:solidFill>
                <a:latin typeface="Segoe UI" pitchFamily="34" charset="0"/>
                <a:ea typeface="Segoe UI" pitchFamily="34" charset="-122"/>
                <a:cs typeface="Segoe UI" pitchFamily="34" charset="-120"/>
              </a:rPr>
              <a:t>What must “governed” mean for your audience?</a:t>
            </a:r>
            <a:endParaRPr lang="en-US" sz="1500" dirty="0"/>
          </a:p>
        </p:txBody>
      </p:sp>
      <p:sp>
        <p:nvSpPr>
          <p:cNvPr id="13" name="Text 8"/>
          <p:cNvSpPr/>
          <p:nvPr/>
        </p:nvSpPr>
        <p:spPr>
          <a:xfrm>
            <a:off x="786384" y="4754880"/>
            <a:ext cx="8778240" cy="713232"/>
          </a:xfrm>
          <a:prstGeom prst="rect">
            <a:avLst/>
          </a:prstGeom>
          <a:noFill/>
          <a:ln/>
        </p:spPr>
        <p:txBody>
          <a:bodyPr wrap="square" lIns="0" tIns="0" rIns="0" bIns="0" rtlCol="0" anchor="ctr">
            <a:normAutofit/>
          </a:bodyPr>
          <a:lstStyle/>
          <a:p>
            <a:pPr marL="0" indent="0">
              <a:buNone/>
            </a:pPr>
            <a:r>
              <a:rPr lang="en-US" sz="1150" dirty="0">
                <a:solidFill>
                  <a:srgbClr val="C8D8E5"/>
                </a:solidFill>
                <a:latin typeface="Segoe UI" pitchFamily="34" charset="0"/>
                <a:ea typeface="Segoe UI" pitchFamily="34" charset="-122"/>
                <a:cs typeface="Segoe UI" pitchFamily="34" charset="-120"/>
              </a:rPr>
              <a:t>Handoff: when the need shifts to custom models or code-first orchestration, Microsoft Foundry becomes the starting point — or the specialized service behind your Studio agent.</a:t>
            </a:r>
            <a:endParaRPr lang="en-US" sz="1150" dirty="0"/>
          </a:p>
        </p:txBody>
      </p:sp>
      <p:sp>
        <p:nvSpPr>
          <p:cNvPr id="14" name="Text 9"/>
          <p:cNvSpPr/>
          <p:nvPr/>
        </p:nvSpPr>
        <p:spPr>
          <a:xfrm>
            <a:off x="786384" y="5961888"/>
            <a:ext cx="8595360" cy="320040"/>
          </a:xfrm>
          <a:prstGeom prst="rect">
            <a:avLst/>
          </a:prstGeom>
          <a:noFill/>
          <a:ln/>
        </p:spPr>
        <p:txBody>
          <a:bodyPr wrap="square" lIns="0" tIns="0" rIns="0" bIns="0" rtlCol="0" anchor="ctr">
            <a:normAutofit/>
          </a:bodyPr>
          <a:lstStyle/>
          <a:p>
            <a:pPr marL="0" indent="0">
              <a:buNone/>
            </a:pPr>
            <a:r>
              <a:rPr lang="en-US" sz="1350" b="1" i="1" dirty="0">
                <a:solidFill>
                  <a:srgbClr val="8DC8E8"/>
                </a:solidFill>
                <a:latin typeface="Segoe UI Semibold" pitchFamily="34" charset="0"/>
                <a:ea typeface="Segoe UI Semibold" pitchFamily="34" charset="-122"/>
                <a:cs typeface="Segoe UI Semibold" pitchFamily="34" charset="-120"/>
              </a:rPr>
              <a:t>Better together — from AI-powered productivity to AI-powered processes.</a:t>
            </a:r>
            <a:endParaRPr lang="en-US" sz="1350" dirty="0"/>
          </a:p>
        </p:txBody>
      </p:sp>
      <p:pic>
        <p:nvPicPr>
          <p:cNvPr id="15" name="Image 3" descr="preencoded.png"/>
          <p:cNvPicPr>
            <a:picLocks noChangeAspect="1"/>
          </p:cNvPicPr>
          <p:nvPr/>
        </p:nvPicPr>
        <p:blipFill>
          <a:blip r:embed="rId6"/>
          <a:stretch>
            <a:fillRect/>
          </a:stretch>
        </p:blipFill>
        <p:spPr>
          <a:xfrm>
            <a:off x="10076688" y="5257800"/>
            <a:ext cx="1024128" cy="1024128"/>
          </a:xfrm>
          <a:prstGeom prst="rect">
            <a:avLst/>
          </a:prstGeom>
        </p:spPr>
      </p:pic>
      <p:sp>
        <p:nvSpPr>
          <p:cNvPr id="16" name="Text 10"/>
          <p:cNvSpPr/>
          <p:nvPr/>
        </p:nvSpPr>
        <p:spPr>
          <a:xfrm>
            <a:off x="777240" y="6510528"/>
            <a:ext cx="1828800" cy="155448"/>
          </a:xfrm>
          <a:prstGeom prst="rect">
            <a:avLst/>
          </a:prstGeom>
          <a:noFill/>
          <a:ln/>
        </p:spPr>
        <p:txBody>
          <a:bodyPr wrap="square" lIns="0" tIns="0" rIns="0" bIns="0" rtlCol="0" anchor="ctr">
            <a:normAutofit/>
          </a:bodyPr>
          <a:lstStyle/>
          <a:p>
            <a:pPr marL="0" indent="0">
              <a:buNone/>
            </a:pPr>
            <a:r>
              <a:rPr lang="en-US" sz="850" dirty="0">
                <a:solidFill>
                  <a:srgbClr val="C8D8E5"/>
                </a:solidFill>
                <a:latin typeface="Segoe UI" pitchFamily="34" charset="0"/>
                <a:ea typeface="Segoe UI" pitchFamily="34" charset="-122"/>
                <a:cs typeface="Segoe UI" pitchFamily="34" charset="-120"/>
              </a:rPr>
              <a:t>Copilot Studio</a:t>
            </a:r>
            <a:endParaRPr lang="en-US" sz="850" dirty="0"/>
          </a:p>
        </p:txBody>
      </p:sp>
      <p:sp>
        <p:nvSpPr>
          <p:cNvPr id="17" name="Text 11"/>
          <p:cNvSpPr/>
          <p:nvPr/>
        </p:nvSpPr>
        <p:spPr>
          <a:xfrm>
            <a:off x="11228832" y="6473952"/>
            <a:ext cx="320040" cy="164592"/>
          </a:xfrm>
          <a:prstGeom prst="rect">
            <a:avLst/>
          </a:prstGeom>
          <a:noFill/>
          <a:ln/>
        </p:spPr>
        <p:txBody>
          <a:bodyPr wrap="square" lIns="0" tIns="0" rIns="0" bIns="0" rtlCol="0" anchor="ctr">
            <a:normAutofit/>
          </a:bodyPr>
          <a:lstStyle/>
          <a:p>
            <a:pPr marL="0" indent="0" algn="r">
              <a:buNone/>
            </a:pPr>
            <a:r>
              <a:rPr lang="en-US" sz="900">
                <a:solidFill>
                  <a:srgbClr val="C8D8E5"/>
                </a:solidFill>
                <a:latin typeface="Segoe UI" pitchFamily="34" charset="0"/>
                <a:ea typeface="Segoe UI" pitchFamily="34" charset="-122"/>
                <a:cs typeface="Segoe UI" pitchFamily="34" charset="-120"/>
              </a:rPr>
              <a:t>9</a:t>
            </a:r>
            <a:endParaRPr lang="en-US" sz="9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Segoe UI Semibold"/>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Segoe U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Metadata/LabelInfo.xml><?xml version="1.0" encoding="utf-8"?>
<clbl:labelList xmlns:clbl="http://schemas.microsoft.com/office/2020/mipLabelMetadata">
  <clbl:label id="{f42aa342-8706-4288-bd11-ebb85995028c}" enabled="1" method="Standard" siteId="{72f988bf-86f1-41af-91ab-2d7cd011db47}" contentBits="0" removed="0"/>
</clbl:labelList>
</file>

<file path=docProps/app.xml><?xml version="1.0" encoding="utf-8"?>
<Properties xmlns="http://schemas.openxmlformats.org/officeDocument/2006/extended-properties" xmlns:vt="http://schemas.openxmlformats.org/officeDocument/2006/docPropsVTypes">
  <TotalTime>3772</TotalTime>
  <Words>1549</Words>
  <Application>Microsoft Office PowerPoint</Application>
  <PresentationFormat>Widescreen</PresentationFormat>
  <Paragraphs>187</Paragraphs>
  <Slides>9</Slides>
  <Notes>9</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9</vt:i4>
      </vt:variant>
    </vt:vector>
  </HeadingPairs>
  <TitlesOfParts>
    <vt:vector size="16" baseType="lpstr">
      <vt:lpstr>Aptos</vt:lpstr>
      <vt:lpstr>Arial</vt:lpstr>
      <vt:lpstr>Segoe Sans Display</vt:lpstr>
      <vt:lpstr>Segoe UI</vt:lpstr>
      <vt:lpstr>Segoe UI Semibold</vt:lpstr>
      <vt:lpstr>Segoe UI Variable Display</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Microsoft</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Copilot Studio - From Productivity to Processes - Themed v2</dc:title>
  <dc:subject>Copilot Studio: From AI-Powered Productivity to AI-Powered Processes</dc:subject>
  <dc:creator>Kelly Cason</dc:creator>
  <cp:lastModifiedBy>Kelly Cason</cp:lastModifiedBy>
  <cp:revision>22</cp:revision>
  <dcterms:created xsi:type="dcterms:W3CDTF">2026-07-29T22:18:20Z</dcterms:created>
  <dcterms:modified xsi:type="dcterms:W3CDTF">2026-08-03T02:24:49Z</dcterms:modified>
</cp:coreProperties>
</file>