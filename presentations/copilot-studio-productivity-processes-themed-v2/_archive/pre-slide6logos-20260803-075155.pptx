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3.svg" ContentType="image/svg+xml"/>
  <Override PartName="/ppt/media/image16.svg" ContentType="image/svg+xml"/>
  <Override PartName="/ppt/media/image17.svg" ContentType="image/svg+xml"/>
  <Override PartName="/ppt/media/image18.svg" ContentType="image/svg+xml"/>
  <Override PartName="/ppt/media/image2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8" r:id="rId3"/>
    <p:sldId id="259" r:id="rId4"/>
    <p:sldId id="260" r:id="rId5"/>
    <p:sldId id="294" r:id="rId6"/>
    <p:sldId id="263" r:id="rId7"/>
    <p:sldId id="264" r:id="rId8"/>
    <p:sldId id="295" r:id="rId9"/>
    <p:sldId id="265"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B66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334" autoAdjust="0"/>
  </p:normalViewPr>
  <p:slideViewPr>
    <p:cSldViewPr snapToGrid="0" snapToObjects="1">
      <p:cViewPr varScale="1">
        <p:scale>
          <a:sx n="79" d="100"/>
          <a:sy n="79" d="100"/>
        </p:scale>
        <p:origin x="92" y="4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0002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session as a progression from AI-powered productivity to AI-powered processes. Copilot Studio is the focus: agents that know, reason, act, and reach users across channels. Keep this brief and move to the agenda.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M365 Copilot brings AI into the flow of work. Copilot Studio extends that experience into the flow of business. This is an expansion, not a replacement or migration. The transition happens when the organization moves from using AI in the flow of work to designing agents for specific business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Studio is Microsoft’s low-code platform for building enterprise agents. Inherits your power platform strategy which includes security, access, authentication, and more.</a:t>
            </a:r>
          </a:p>
          <a:p>
            <a:endParaRPr lang="en-US" dirty="0"/>
          </a:p>
          <a:p>
            <a:r>
              <a:rPr lang="en-US" dirty="0"/>
              <a:t>Build: Build custom agents using natural language and low code tools for any audience.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Connect: Where M365 Copilot knows your work; </a:t>
            </a:r>
            <a:r>
              <a:rPr lang="en-US" sz="1200" b="0" i="0" kern="1200" dirty="0">
                <a:solidFill>
                  <a:schemeClr val="tx1"/>
                </a:solidFill>
                <a:effectLst/>
                <a:latin typeface="+mn-lt"/>
                <a:ea typeface="+mn-ea"/>
                <a:cs typeface="+mn-cs"/>
              </a:rPr>
              <a:t>which is primarily grounded in your M365 data, Copilot Studio can connect to virtually any business data source, allowing agents to reason over the systems, records, and knowledge that runs your organization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Act: We want to go beyond just answering questions, how can we empower agents to act on a user's behalf using tools, automation, and business processes.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Reach: lastly, copilot studio allows you to reach any audience. Internal, external, employees, citizens, through virtually any channel. Your website, Facebook, text, voice. </a:t>
            </a:r>
            <a:r>
              <a:rPr lang="en-US" sz="1200" b="0" i="0" kern="1200">
                <a:solidFill>
                  <a:schemeClr val="tx1"/>
                </a:solidFill>
                <a:effectLst/>
                <a:latin typeface="+mn-lt"/>
                <a:ea typeface="+mn-ea"/>
                <a:cs typeface="+mn-cs"/>
              </a:rPr>
              <a:t>Full service IVR</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minutes. Show an employee invoking a specialized agent inside M365 Copilot, receiving a grounded and cited answer, then asking the agent to complete the next step through a connector or agent flow. The business action and visible confirmation are the differentiation; avoid a pure FAQ demonstration.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29783-C695-FD33-C9F3-F255C8FDA0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9BA2A0-B35E-AA5E-CC51-4814236E8F8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463F941-0DAE-FD83-8568-135605520A18}"/>
              </a:ext>
            </a:extLst>
          </p:cNvPr>
          <p:cNvSpPr>
            <a:spLocks noGrp="1"/>
          </p:cNvSpPr>
          <p:nvPr>
            <p:ph type="body" idx="1"/>
          </p:nvPr>
        </p:nvSpPr>
        <p:spPr/>
        <p:txBody>
          <a:bodyPr/>
          <a:lstStyle/>
          <a:p>
            <a:pPr marL="171450" indent="-171450">
              <a:buFont typeface="Arial" panose="020B0604020202020204" pitchFamily="34" charset="0"/>
              <a:buChar char="•"/>
            </a:pPr>
            <a:r>
              <a:rPr lang="en-US"/>
              <a:t>Finally, once you’re finished building an agent, you can make them accessible to your customers and employees wherever they need to engage with an agent</a:t>
            </a:r>
          </a:p>
          <a:p>
            <a:pPr marL="171450" indent="-171450">
              <a:buFont typeface="Arial" panose="020B0604020202020204" pitchFamily="34" charset="0"/>
              <a:buChar char="•"/>
            </a:pPr>
            <a:r>
              <a:rPr lang="en-US"/>
              <a:t>For example, a restaurant might use a WhatsApp agent to help answer customer questions</a:t>
            </a:r>
          </a:p>
          <a:p>
            <a:pPr marL="171450" indent="-171450">
              <a:buFont typeface="Arial" panose="020B0604020202020204" pitchFamily="34" charset="0"/>
              <a:buChar char="•"/>
            </a:pPr>
            <a:r>
              <a:rPr lang="en-US"/>
              <a:t>Or a legal agent may be published to Teams, where marketing employees can check that their messaging is compliant with advertising law</a:t>
            </a:r>
          </a:p>
          <a:p>
            <a:pPr marL="171450" indent="-171450">
              <a:buFont typeface="Arial" panose="020B0604020202020204" pitchFamily="34" charset="0"/>
              <a:buChar char="•"/>
            </a:pPr>
            <a:endParaRPr lang="en-US"/>
          </a:p>
        </p:txBody>
      </p:sp>
      <p:sp>
        <p:nvSpPr>
          <p:cNvPr id="4" name="Slide Number Placeholder 3">
            <a:extLst>
              <a:ext uri="{FF2B5EF4-FFF2-40B4-BE49-F238E27FC236}">
                <a16:creationId xmlns:a16="http://schemas.microsoft.com/office/drawing/2014/main" id="{801CEEDB-00A8-24DC-62A2-BFAF28F3A376}"/>
              </a:ext>
            </a:extLst>
          </p:cNvPr>
          <p:cNvSpPr>
            <a:spLocks noGrp="1"/>
          </p:cNvSpPr>
          <p:nvPr>
            <p:ph type="sldNum" sz="quarter" idx="5"/>
          </p:nvPr>
        </p:nvSpPr>
        <p:spPr/>
        <p:txBody>
          <a:bodyPr/>
          <a:lstStyle/>
          <a:p>
            <a:fld id="{DAB24075-3183-45B6-A8D3-A990B733D760}" type="slidenum">
              <a:rPr lang="en-US" smtClean="0"/>
              <a:t>5</a:t>
            </a:fld>
            <a:endParaRPr lang="en-US"/>
          </a:p>
        </p:txBody>
      </p:sp>
    </p:spTree>
    <p:extLst>
      <p:ext uri="{BB962C8B-B14F-4D97-AF65-F5344CB8AC3E}">
        <p14:creationId xmlns:p14="http://schemas.microsoft.com/office/powerpoint/2010/main" val="4117315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demo, approximately three and a half minutes. Show a resident describing a need, receiving approved public guidance, creating a request through a governed flow, and receiving a reference number. Keep the public agent's instructions, knowledge, authentication, and tools separate from the employee agent. AI Builder document extraction is optional and should occur after submission with validation before operational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decision guide, not a scorecard. Start with M365 Copilot when employee productivity and Microsoft 365 work are central. Start with Copilot Studio for governed business agents, actions, channels, and lifecycle. Start with Microsoft Foundry when custom models, code-first orchestration, evaluations, or an Azure-native runtime are central. The bidirectional connectors reinforce that integration remains open.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dirty="0"/>
              <a:t>These aren't competing technologies. They're optimized for different ownership models and outcomes. M365 Copilot brings AI into employee productivity. Copilot Studio extends AI into business processes and agents. Foundry provides the engineering platform for custom AI applications. Many organizations use all three together as part of a unified Microsoft AI strategy.</a:t>
            </a:r>
          </a:p>
          <a:p>
            <a:endParaRPr dirty="0"/>
          </a:p>
          <a:p>
            <a:r>
              <a:rPr dirty="0"/>
              <a:t>Read the slide as decision criteria, not a scorecard: Best For and Use When identify the center of gravity; Key Audience and Built By identify the ownership model; Governance Focus reinforces that every product sits within one Microsoft governance story. Avoid framing it as a maturity ladder (“use M365 until it can't, then Studio, then Foundry”) — that diminishes the products. For this GCC customer, validate any Azure Commercial integration and data boundary separately.</a:t>
            </a:r>
          </a:p>
        </p:txBody>
      </p:sp>
    </p:spTree>
    <p:extLst>
      <p:ext uri="{BB962C8B-B14F-4D97-AF65-F5344CB8AC3E}">
        <p14:creationId xmlns:p14="http://schemas.microsoft.com/office/powerpoint/2010/main" val="3277433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questions to open discussion. Handoff to the Foundry presenter: when the requirement shifts to custom models or code-first orchestration, Microsoft Foundry becomes the starting point or the specialized service behind the Copilot Studio agent. Close on the better-together message.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SAF">
    <p:bg>
      <p:bgPr>
        <a:gradFill>
          <a:gsLst>
            <a:gs pos="21000">
              <a:srgbClr val="F2FAFD"/>
            </a:gs>
            <a:gs pos="79000">
              <a:srgbClr val="F2FAFD"/>
            </a:gs>
            <a:gs pos="52000">
              <a:srgbClr val="D8F6FF"/>
            </a:gs>
          </a:gsLst>
          <a:lin ang="2700000" scaled="0"/>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068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45616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svg"/><Relationship Id="rId5" Type="http://schemas.openxmlformats.org/officeDocument/2006/relationships/image" Target="../media/image13.sv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svg"/><Relationship Id="rId9" Type="http://schemas.openxmlformats.org/officeDocument/2006/relationships/image" Target="../media/image17.svg"/><Relationship Id="rId10" Type="http://schemas.openxmlformats.org/officeDocument/2006/relationships/image" Target="../media/image18.svg"/><Relationship Id="rId11" Type="http://schemas.openxmlformats.org/officeDocument/2006/relationships/image" Target="../media/image19.png"/><Relationship Id="rId12" Type="http://schemas.openxmlformats.org/officeDocument/2006/relationships/image" Target="../media/image20.png"/><Relationship Id="rId13" Type="http://schemas.openxmlformats.org/officeDocument/2006/relationships/image" Target="../media/image21.png"/><Relationship Id="rId14" Type="http://schemas.openxmlformats.org/officeDocument/2006/relationships/image" Target="../media/image22.png"/><Relationship Id="rId15" Type="http://schemas.openxmlformats.org/officeDocument/2006/relationships/image" Target="../media/image23.png"/><Relationship Id="rId16" Type="http://schemas.openxmlformats.org/officeDocument/2006/relationships/image" Target="../media/image24.png"/><Relationship Id="rId17" Type="http://schemas.openxmlformats.org/officeDocument/2006/relationships/image" Target="../media/image25.png"/><Relationship Id="rId18" Type="http://schemas.openxmlformats.org/officeDocument/2006/relationships/image" Target="../media/image26.png"/><Relationship Id="rId19" Type="http://schemas.openxmlformats.org/officeDocument/2006/relationships/image" Target="../media/image27.png"/><Relationship Id="rId20" Type="http://schemas.openxmlformats.org/officeDocument/2006/relationships/image" Target="../media/image28.png"/><Relationship Id="rId21" Type="http://schemas.openxmlformats.org/officeDocument/2006/relationships/image" Target="../media/image29.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0.png"/><Relationship Id="rId4" Type="http://schemas.openxmlformats.org/officeDocument/2006/relationships/image" Target="../media/image9.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png"/><Relationship Id="rId8" Type="http://schemas.openxmlformats.org/officeDocument/2006/relationships/image" Target="../media/image34.png"/><Relationship Id="rId9"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3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58368"/>
            <a:ext cx="438912" cy="438912"/>
          </a:xfrm>
          <a:prstGeom prst="rect">
            <a:avLst/>
          </a:prstGeom>
        </p:spPr>
      </p:pic>
      <p:sp>
        <p:nvSpPr>
          <p:cNvPr id="5" name="Text 0"/>
          <p:cNvSpPr/>
          <p:nvPr/>
        </p:nvSpPr>
        <p:spPr>
          <a:xfrm>
            <a:off x="1389888" y="731520"/>
            <a:ext cx="3657600" cy="256032"/>
          </a:xfrm>
          <a:prstGeom prst="rect">
            <a:avLst/>
          </a:prstGeom>
          <a:noFill/>
          <a:ln/>
        </p:spPr>
        <p:txBody>
          <a:bodyPr wrap="square" lIns="0" tIns="0" rIns="0" bIns="0" rtlCol="0" anchor="ctr">
            <a:normAutofit/>
          </a:bodyPr>
          <a:lstStyle/>
          <a:p>
            <a:pPr marL="0" indent="0">
              <a:buNone/>
            </a:pPr>
            <a:r>
              <a:rPr lang="en-US" sz="1200" b="1" kern="0" spc="110" dirty="0">
                <a:solidFill>
                  <a:srgbClr val="8DC8E8"/>
                </a:solidFill>
                <a:latin typeface="Segoe UI Semibold" pitchFamily="34" charset="0"/>
                <a:ea typeface="Segoe UI Semibold" pitchFamily="34" charset="-122"/>
                <a:cs typeface="Segoe UI Semibold" pitchFamily="34" charset="-120"/>
              </a:rPr>
              <a:t>MICROSOFT COPILOT STUDIO</a:t>
            </a:r>
            <a:endParaRPr lang="en-US" sz="1200" dirty="0"/>
          </a:p>
        </p:txBody>
      </p:sp>
      <p:sp>
        <p:nvSpPr>
          <p:cNvPr id="6" name="Text 1"/>
          <p:cNvSpPr/>
          <p:nvPr/>
        </p:nvSpPr>
        <p:spPr>
          <a:xfrm>
            <a:off x="777240" y="1508760"/>
            <a:ext cx="8412480" cy="1508760"/>
          </a:xfrm>
          <a:prstGeom prst="rect">
            <a:avLst/>
          </a:prstGeom>
          <a:noFill/>
          <a:ln/>
        </p:spPr>
        <p:txBody>
          <a:bodyPr wrap="square" lIns="0" tIns="0" rIns="0" bIns="0" rtlCol="0" anchor="ctr">
            <a:normAutofit/>
          </a:bodyPr>
          <a:lstStyle/>
          <a:p>
            <a:pPr marL="0" indent="0">
              <a:buNone/>
            </a:pPr>
            <a:r>
              <a:rPr lang="en-US" sz="3700" b="1" dirty="0">
                <a:solidFill>
                  <a:srgbClr val="FFFFFF"/>
                </a:solidFill>
                <a:latin typeface="Segoe UI Semibold" pitchFamily="34" charset="0"/>
                <a:ea typeface="Segoe UI Semibold" pitchFamily="34" charset="-122"/>
                <a:cs typeface="Segoe UI Semibold" pitchFamily="34" charset="-120"/>
              </a:rPr>
              <a:t>Copilot Studio</a:t>
            </a:r>
            <a:endParaRPr lang="en-US" sz="3700" dirty="0"/>
          </a:p>
        </p:txBody>
      </p:sp>
      <p:sp>
        <p:nvSpPr>
          <p:cNvPr id="7" name="Text 2"/>
          <p:cNvSpPr/>
          <p:nvPr/>
        </p:nvSpPr>
        <p:spPr>
          <a:xfrm>
            <a:off x="786384" y="3383280"/>
            <a:ext cx="7955280" cy="694944"/>
          </a:xfrm>
          <a:prstGeom prst="rect">
            <a:avLst/>
          </a:prstGeom>
          <a:noFill/>
          <a:ln/>
        </p:spPr>
        <p:txBody>
          <a:bodyPr wrap="square" lIns="0" tIns="0" rIns="0" bIns="0" rtlCol="0" anchor="ctr">
            <a:normAutofit/>
          </a:bodyPr>
          <a:lstStyle/>
          <a:p>
            <a:pPr marL="0" indent="0">
              <a:buNone/>
            </a:pPr>
            <a:r>
              <a:rPr lang="en-US" sz="1600" dirty="0">
                <a:solidFill>
                  <a:srgbClr val="C8D8E5"/>
                </a:solidFill>
                <a:latin typeface="Segoe UI" pitchFamily="34" charset="0"/>
                <a:ea typeface="Segoe UI" pitchFamily="34" charset="-122"/>
                <a:cs typeface="Segoe UI" pitchFamily="34" charset="-120"/>
              </a:rPr>
              <a:t>Building custom agents that know, reason, act, and reach users — across every channel of your organization</a:t>
            </a:r>
            <a:endParaRPr lang="en-US" sz="1600" dirty="0"/>
          </a:p>
        </p:txBody>
      </p:sp>
      <p:pic>
        <p:nvPicPr>
          <p:cNvPr id="11" name="Image 3" descr="preencoded.png"/>
          <p:cNvPicPr>
            <a:picLocks noChangeAspect="1"/>
          </p:cNvPicPr>
          <p:nvPr/>
        </p:nvPicPr>
        <p:blipFill>
          <a:blip r:embed="rId5"/>
          <a:stretch>
            <a:fillRect/>
          </a:stretch>
        </p:blipFill>
        <p:spPr>
          <a:xfrm>
            <a:off x="9555480" y="4297680"/>
            <a:ext cx="1508760" cy="1508760"/>
          </a:xfrm>
          <a:prstGeom prst="rect">
            <a:avLst/>
          </a:prstGeom>
        </p:spPr>
      </p:pic>
      <p:sp>
        <p:nvSpPr>
          <p:cNvPr id="12" name="Text 6"/>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3" name="Text 7"/>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C8D8E5"/>
                </a:solidFill>
                <a:latin typeface="Segoe UI" pitchFamily="34" charset="0"/>
                <a:ea typeface="Segoe UI" pitchFamily="34" charset="-122"/>
                <a:cs typeface="Segoe U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THE EVOLUTION</a:t>
            </a:r>
            <a:endParaRPr lang="en-US" sz="1100" dirty="0"/>
          </a:p>
        </p:txBody>
      </p:sp>
      <p:sp>
        <p:nvSpPr>
          <p:cNvPr id="3" name="Text 1"/>
          <p:cNvSpPr/>
          <p:nvPr/>
        </p:nvSpPr>
        <p:spPr>
          <a:xfrm>
            <a:off x="777240" y="932688"/>
            <a:ext cx="10744200" cy="86868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M365 Copilot changes how people work; </a:t>
            </a:r>
            <a:r>
              <a:rPr lang="en-US" sz="2500" b="1" dirty="0">
                <a:solidFill>
                  <a:srgbClr val="8661C5"/>
                </a:solidFill>
                <a:latin typeface="Segoe UI Semibold" pitchFamily="34" charset="0"/>
                <a:ea typeface="Segoe UI Semibold" pitchFamily="34" charset="-122"/>
                <a:cs typeface="Segoe UI Semibold" pitchFamily="34" charset="-120"/>
              </a:rPr>
              <a:t>Copilot Studio changes how work gets done.</a:t>
            </a:r>
            <a:endParaRPr lang="en-US" sz="2500" dirty="0"/>
          </a:p>
        </p:txBody>
      </p:sp>
      <p:sp>
        <p:nvSpPr>
          <p:cNvPr id="4" name="Text 2"/>
          <p:cNvSpPr/>
          <p:nvPr/>
        </p:nvSpPr>
        <p:spPr>
          <a:xfrm>
            <a:off x="777240" y="1847088"/>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The shift from AI in the flow of work to agents in the flow of business</a:t>
            </a:r>
            <a:endParaRPr lang="en-US" sz="1320" dirty="0"/>
          </a:p>
        </p:txBody>
      </p:sp>
      <p:sp>
        <p:nvSpPr>
          <p:cNvPr id="5" name="Shape 3"/>
          <p:cNvSpPr/>
          <p:nvPr/>
        </p:nvSpPr>
        <p:spPr>
          <a:xfrm>
            <a:off x="685800" y="2743200"/>
            <a:ext cx="4800600" cy="2743200"/>
          </a:xfrm>
          <a:prstGeom prst="roundRect">
            <a:avLst>
              <a:gd name="adj" fmla="val 3000"/>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078992" y="3054096"/>
            <a:ext cx="640080" cy="640080"/>
          </a:xfrm>
          <a:prstGeom prst="rect">
            <a:avLst/>
          </a:prstGeom>
        </p:spPr>
      </p:pic>
      <p:sp>
        <p:nvSpPr>
          <p:cNvPr id="8" name="Text 4"/>
          <p:cNvSpPr/>
          <p:nvPr/>
        </p:nvSpPr>
        <p:spPr>
          <a:xfrm>
            <a:off x="187452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0078D4"/>
                </a:solidFill>
                <a:latin typeface="Segoe UI Semibold" pitchFamily="34" charset="0"/>
                <a:ea typeface="Segoe UI Semibold" pitchFamily="34" charset="-122"/>
                <a:cs typeface="Segoe UI Semibold" pitchFamily="34" charset="-120"/>
              </a:rPr>
              <a:t>M365 COPILOT</a:t>
            </a:r>
            <a:endParaRPr lang="en-US" sz="1200" dirty="0"/>
          </a:p>
        </p:txBody>
      </p:sp>
      <p:sp>
        <p:nvSpPr>
          <p:cNvPr id="9" name="Text 5"/>
          <p:cNvSpPr/>
          <p:nvPr/>
        </p:nvSpPr>
        <p:spPr>
          <a:xfrm>
            <a:off x="1078992" y="3794760"/>
            <a:ext cx="3474720" cy="411480"/>
          </a:xfrm>
          <a:prstGeom prst="rect">
            <a:avLst/>
          </a:prstGeom>
          <a:noFill/>
          <a:ln/>
        </p:spPr>
        <p:txBody>
          <a:bodyPr wrap="square" lIns="0" tIns="0" rIns="0" bIns="0" rtlCol="0" anchor="ctr">
            <a:normAutofit/>
          </a:bodyPr>
          <a:lstStyle/>
          <a:p>
            <a:pPr marL="0" indent="0">
              <a:buNone/>
            </a:pPr>
            <a:r>
              <a:rPr lang="en-US" sz="2000" b="1" dirty="0">
                <a:solidFill>
                  <a:srgbClr val="091F2C"/>
                </a:solidFill>
                <a:latin typeface="Segoe UI Semibold" pitchFamily="34" charset="0"/>
                <a:ea typeface="Segoe UI Semibold" pitchFamily="34" charset="-122"/>
                <a:cs typeface="Segoe UI Semibold" pitchFamily="34" charset="-120"/>
              </a:rPr>
              <a:t>AI in the flow of work</a:t>
            </a:r>
            <a:endParaRPr lang="en-US" sz="2000" dirty="0"/>
          </a:p>
        </p:txBody>
      </p:sp>
      <p:sp>
        <p:nvSpPr>
          <p:cNvPr id="10" name="Text 6"/>
          <p:cNvSpPr/>
          <p:nvPr/>
        </p:nvSpPr>
        <p:spPr>
          <a:xfrm>
            <a:off x="1078992" y="4498848"/>
            <a:ext cx="3383280" cy="310896"/>
          </a:xfrm>
          <a:prstGeom prst="rect">
            <a:avLst/>
          </a:prstGeom>
          <a:noFill/>
          <a:ln/>
        </p:spPr>
        <p:txBody>
          <a:bodyPr wrap="square" lIns="0" tIns="0" rIns="0" bIns="0" rtlCol="0" anchor="ctr">
            <a:normAutofit/>
          </a:bodyPr>
          <a:lstStyle/>
          <a:p>
            <a:pPr marL="0" indent="0">
              <a:buNone/>
            </a:pPr>
            <a:r>
              <a:rPr lang="en-US" sz="1200" dirty="0">
                <a:solidFill>
                  <a:srgbClr val="5B6672"/>
                </a:solidFill>
                <a:latin typeface="Segoe UI" pitchFamily="34" charset="0"/>
                <a:ea typeface="Segoe UI" pitchFamily="34" charset="-122"/>
                <a:cs typeface="Segoe UI" pitchFamily="34" charset="-120"/>
              </a:rPr>
              <a:t>Ask  ·  Create  ·  Summarize</a:t>
            </a:r>
            <a:endParaRPr lang="en-US" sz="1200" dirty="0"/>
          </a:p>
        </p:txBody>
      </p:sp>
      <p:sp>
        <p:nvSpPr>
          <p:cNvPr id="11" name="Text 7"/>
          <p:cNvSpPr/>
          <p:nvPr/>
        </p:nvSpPr>
        <p:spPr>
          <a:xfrm>
            <a:off x="107899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091F2C"/>
                </a:solidFill>
                <a:latin typeface="Segoe UI Semibold" pitchFamily="34" charset="0"/>
                <a:ea typeface="Segoe UI Semibold" pitchFamily="34" charset="-122"/>
                <a:cs typeface="Segoe UI Semibold" pitchFamily="34" charset="-120"/>
              </a:rPr>
              <a:t>Transforms how people work</a:t>
            </a:r>
            <a:endParaRPr lang="en-US" sz="1250" dirty="0"/>
          </a:p>
        </p:txBody>
      </p:sp>
      <p:sp>
        <p:nvSpPr>
          <p:cNvPr id="12" name="Shape 8"/>
          <p:cNvSpPr/>
          <p:nvPr/>
        </p:nvSpPr>
        <p:spPr>
          <a:xfrm>
            <a:off x="6720840" y="2743200"/>
            <a:ext cx="4800600" cy="2743200"/>
          </a:xfrm>
          <a:prstGeom prst="roundRect">
            <a:avLst>
              <a:gd name="adj" fmla="val 3000"/>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4" name="Image 3" descr="preencoded.png"/>
          <p:cNvPicPr>
            <a:picLocks noChangeAspect="1"/>
          </p:cNvPicPr>
          <p:nvPr/>
        </p:nvPicPr>
        <p:blipFill>
          <a:blip r:embed="rId4"/>
          <a:stretch>
            <a:fillRect/>
          </a:stretch>
        </p:blipFill>
        <p:spPr>
          <a:xfrm>
            <a:off x="7114032" y="3054096"/>
            <a:ext cx="640080" cy="640080"/>
          </a:xfrm>
          <a:prstGeom prst="rect">
            <a:avLst/>
          </a:prstGeom>
        </p:spPr>
      </p:pic>
      <p:sp>
        <p:nvSpPr>
          <p:cNvPr id="15" name="Text 9"/>
          <p:cNvSpPr/>
          <p:nvPr/>
        </p:nvSpPr>
        <p:spPr>
          <a:xfrm>
            <a:off x="7909560" y="3182112"/>
            <a:ext cx="2194560" cy="274320"/>
          </a:xfrm>
          <a:prstGeom prst="rect">
            <a:avLst/>
          </a:prstGeom>
          <a:noFill/>
          <a:ln/>
        </p:spPr>
        <p:txBody>
          <a:bodyPr wrap="square" lIns="0" tIns="0" rIns="0" bIns="0" rtlCol="0" anchor="ctr">
            <a:normAutofit/>
          </a:bodyPr>
          <a:lstStyle/>
          <a:p>
            <a:pPr marL="0" indent="0">
              <a:buNone/>
            </a:pPr>
            <a:r>
              <a:rPr lang="en-US" sz="1200" b="1" dirty="0">
                <a:solidFill>
                  <a:srgbClr val="8DC8E8"/>
                </a:solidFill>
                <a:latin typeface="Segoe UI Semibold" pitchFamily="34" charset="0"/>
                <a:ea typeface="Segoe UI Semibold" pitchFamily="34" charset="-122"/>
                <a:cs typeface="Segoe UI Semibold" pitchFamily="34" charset="-120"/>
              </a:rPr>
              <a:t>COPILOT STUDIO</a:t>
            </a:r>
            <a:endParaRPr lang="en-US" sz="1200" dirty="0"/>
          </a:p>
        </p:txBody>
      </p:sp>
      <p:sp>
        <p:nvSpPr>
          <p:cNvPr id="16" name="Text 10"/>
          <p:cNvSpPr/>
          <p:nvPr/>
        </p:nvSpPr>
        <p:spPr>
          <a:xfrm>
            <a:off x="7114032" y="3794760"/>
            <a:ext cx="3749040" cy="411480"/>
          </a:xfrm>
          <a:prstGeom prst="rect">
            <a:avLst/>
          </a:prstGeom>
          <a:noFill/>
          <a:ln/>
        </p:spPr>
        <p:txBody>
          <a:bodyPr wrap="square" lIns="0" tIns="0" rIns="0" bIns="0" rtlCol="0" anchor="ctr">
            <a:normAutofit/>
          </a:bodyPr>
          <a:lstStyle/>
          <a:p>
            <a:pPr marL="0" indent="0">
              <a:buNone/>
            </a:pPr>
            <a:r>
              <a:rPr lang="en-US" sz="1900" b="1" dirty="0">
                <a:solidFill>
                  <a:srgbClr val="FFFFFF"/>
                </a:solidFill>
                <a:latin typeface="Segoe UI Semibold" pitchFamily="34" charset="0"/>
                <a:ea typeface="Segoe UI Semibold" pitchFamily="34" charset="-122"/>
                <a:cs typeface="Segoe UI Semibold" pitchFamily="34" charset="-120"/>
              </a:rPr>
              <a:t>Agents in the flow of business</a:t>
            </a:r>
            <a:endParaRPr lang="en-US" sz="1900" dirty="0"/>
          </a:p>
        </p:txBody>
      </p:sp>
      <p:sp>
        <p:nvSpPr>
          <p:cNvPr id="17" name="Text 11"/>
          <p:cNvSpPr/>
          <p:nvPr/>
        </p:nvSpPr>
        <p:spPr>
          <a:xfrm>
            <a:off x="7114032" y="4498848"/>
            <a:ext cx="3474720" cy="310896"/>
          </a:xfrm>
          <a:prstGeom prst="rect">
            <a:avLst/>
          </a:prstGeom>
          <a:noFill/>
          <a:ln/>
        </p:spPr>
        <p:txBody>
          <a:bodyPr wrap="square" lIns="0" tIns="0" rIns="0" bIns="0" rtlCol="0" anchor="ctr">
            <a:normAutofit/>
          </a:bodyPr>
          <a:lstStyle/>
          <a:p>
            <a:pPr marL="0" indent="0">
              <a:buNone/>
            </a:pPr>
            <a:r>
              <a:rPr lang="en-US" sz="1200" dirty="0">
                <a:solidFill>
                  <a:srgbClr val="C8D8E5"/>
                </a:solidFill>
                <a:latin typeface="Segoe UI" pitchFamily="34" charset="0"/>
                <a:ea typeface="Segoe UI" pitchFamily="34" charset="-122"/>
                <a:cs typeface="Segoe UI" pitchFamily="34" charset="-120"/>
              </a:rPr>
              <a:t>Know  ·  Reason  ·  Act  ·  Reach</a:t>
            </a:r>
            <a:endParaRPr lang="en-US" sz="1200" dirty="0"/>
          </a:p>
        </p:txBody>
      </p:sp>
      <p:sp>
        <p:nvSpPr>
          <p:cNvPr id="18" name="Text 12"/>
          <p:cNvSpPr/>
          <p:nvPr/>
        </p:nvSpPr>
        <p:spPr>
          <a:xfrm>
            <a:off x="7114032" y="5065776"/>
            <a:ext cx="3474720" cy="310896"/>
          </a:xfrm>
          <a:prstGeom prst="rect">
            <a:avLst/>
          </a:prstGeom>
          <a:noFill/>
          <a:ln/>
        </p:spPr>
        <p:txBody>
          <a:bodyPr wrap="square" lIns="0" tIns="0" rIns="0" bIns="0" rtlCol="0" anchor="ctr">
            <a:normAutofit/>
          </a:bodyPr>
          <a:lstStyle/>
          <a:p>
            <a:pPr marL="0" indent="0">
              <a:buNone/>
            </a:pPr>
            <a:r>
              <a:rPr lang="en-US" sz="1250" b="1" dirty="0">
                <a:solidFill>
                  <a:srgbClr val="FFFFFF"/>
                </a:solidFill>
                <a:latin typeface="Segoe UI Semibold" pitchFamily="34" charset="0"/>
                <a:ea typeface="Segoe UI Semibold" pitchFamily="34" charset="-122"/>
                <a:cs typeface="Segoe UI Semibold" pitchFamily="34" charset="-120"/>
              </a:rPr>
              <a:t>Transforms how work gets done</a:t>
            </a:r>
            <a:endParaRPr lang="en-US" sz="1250" dirty="0"/>
          </a:p>
        </p:txBody>
      </p:sp>
      <p:sp>
        <p:nvSpPr>
          <p:cNvPr id="19" name="Shape 13"/>
          <p:cNvSpPr/>
          <p:nvPr/>
        </p:nvSpPr>
        <p:spPr>
          <a:xfrm>
            <a:off x="5737636" y="4114800"/>
            <a:ext cx="716728" cy="0"/>
          </a:xfrm>
          <a:prstGeom prst="line">
            <a:avLst/>
          </a:prstGeom>
          <a:noFill/>
          <a:ln w="31750">
            <a:solidFill>
              <a:srgbClr val="8661C5"/>
            </a:solidFill>
            <a:prstDash val="solid"/>
            <a:headEnd type="none"/>
            <a:tailEnd type="triangle"/>
          </a:ln>
        </p:spPr>
        <p:txBody>
          <a:bodyPr/>
          <a:lstStyle/>
          <a:p>
            <a:endParaRPr lang="en-US"/>
          </a:p>
        </p:txBody>
      </p:sp>
      <p:sp>
        <p:nvSpPr>
          <p:cNvPr id="22" name="Text 16"/>
          <p:cNvSpPr/>
          <p:nvPr/>
        </p:nvSpPr>
        <p:spPr>
          <a:xfrm>
            <a:off x="1920240" y="5975066"/>
            <a:ext cx="8321040" cy="274320"/>
          </a:xfrm>
          <a:prstGeom prst="rect">
            <a:avLst/>
          </a:prstGeom>
          <a:noFill/>
          <a:ln/>
        </p:spPr>
        <p:txBody>
          <a:bodyPr wrap="square" lIns="0" tIns="0" rIns="0" bIns="0" rtlCol="0" anchor="ctr">
            <a:normAutofit/>
          </a:bodyPr>
          <a:lstStyle/>
          <a:p>
            <a:pPr marL="0" indent="0" algn="ctr">
              <a:buNone/>
            </a:pPr>
            <a:r>
              <a:rPr lang="en-US" sz="1120" dirty="0">
                <a:solidFill>
                  <a:srgbClr val="5B6672"/>
                </a:solidFill>
                <a:latin typeface="Segoe UI Semibold" pitchFamily="34" charset="0"/>
                <a:ea typeface="Segoe UI Semibold" pitchFamily="34" charset="-122"/>
                <a:cs typeface="Segoe UI Semibold" pitchFamily="34" charset="-120"/>
              </a:rPr>
              <a:t>The next layer of the Microsoft agent stack</a:t>
            </a:r>
            <a:endParaRPr lang="en-US" sz="1120" dirty="0"/>
          </a:p>
        </p:txBody>
      </p:sp>
      <p:sp>
        <p:nvSpPr>
          <p:cNvPr id="23" name="Text 17"/>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4" name="Text 18"/>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WHAT IS COPILOT STUDIO</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What is Copilot Studio?</a:t>
            </a:r>
            <a:endParaRPr lang="en-US" sz="2500" dirty="0"/>
          </a:p>
        </p:txBody>
      </p:sp>
      <p:sp>
        <p:nvSpPr>
          <p:cNvPr id="4" name="Text 2"/>
          <p:cNvSpPr/>
          <p:nvPr/>
        </p:nvSpPr>
        <p:spPr>
          <a:xfrm>
            <a:off x="777240" y="1573669"/>
            <a:ext cx="10698480" cy="411480"/>
          </a:xfrm>
          <a:prstGeom prst="rect">
            <a:avLst/>
          </a:prstGeom>
          <a:noFill/>
          <a:ln/>
        </p:spPr>
        <p:txBody>
          <a:bodyPr wrap="square" lIns="0" tIns="0" rIns="0" bIns="0" rtlCol="0" anchor="ctr">
            <a:normAutofit/>
          </a:bodyPr>
          <a:lstStyle/>
          <a:p>
            <a:r>
              <a:rPr lang="en-US" sz="1400" b="1">
                <a:solidFill>
                  <a:srgbClr val="091F2C"/>
                </a:solidFill>
                <a:latin typeface="Segoe UI Semibold" pitchFamily="34" charset="0"/>
                <a:ea typeface="Segoe UI Semibold" pitchFamily="34" charset="-122"/>
                <a:cs typeface="Segoe UI Semibold" pitchFamily="34" charset="-120"/>
              </a:rPr>
              <a:t>One low-code platform to build agents that </a:t>
            </a:r>
            <a:r>
              <a:rPr lang="en-US" sz="1400" b="1">
                <a:solidFill>
                  <a:srgbClr val="8661C5"/>
                </a:solidFill>
                <a:latin typeface="Segoe UI Semibold" pitchFamily="34" charset="0"/>
                <a:ea typeface="Segoe UI Semibold" pitchFamily="34" charset="-122"/>
                <a:cs typeface="Segoe UI Semibold" pitchFamily="34" charset="-120"/>
              </a:rPr>
              <a:t>build, connect, act, and reach.</a:t>
            </a:r>
            <a:endParaRPr lang="en-US" sz="1400" dirty="0"/>
          </a:p>
        </p:txBody>
      </p:sp>
      <p:grpSp>
        <p:nvGrpSpPr>
          <p:cNvPr id="30" name="Group 29">
            <a:extLst>
              <a:ext uri="{FF2B5EF4-FFF2-40B4-BE49-F238E27FC236}">
                <a16:creationId xmlns:a16="http://schemas.microsoft.com/office/drawing/2014/main" id="{DF31FD11-6771-11D8-42C4-960C9CFD6D79}"/>
              </a:ext>
            </a:extLst>
          </p:cNvPr>
          <p:cNvGrpSpPr/>
          <p:nvPr/>
        </p:nvGrpSpPr>
        <p:grpSpPr>
          <a:xfrm>
            <a:off x="3576252" y="2576806"/>
            <a:ext cx="2331720" cy="2557215"/>
            <a:chOff x="6483096" y="2816352"/>
            <a:chExt cx="2331720" cy="2557215"/>
          </a:xfrm>
        </p:grpSpPr>
        <p:sp>
          <p:nvSpPr>
            <p:cNvPr id="13" name="Shape 9"/>
            <p:cNvSpPr/>
            <p:nvPr/>
          </p:nvSpPr>
          <p:spPr>
            <a:xfrm>
              <a:off x="6483096"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4" name="Image 2" descr="preencoded.png"/>
            <p:cNvPicPr>
              <a:picLocks noChangeAspect="1"/>
            </p:cNvPicPr>
            <p:nvPr/>
          </p:nvPicPr>
          <p:blipFill>
            <a:blip r:embed="rId3"/>
            <a:stretch>
              <a:fillRect/>
            </a:stretch>
          </p:blipFill>
          <p:spPr>
            <a:xfrm>
              <a:off x="7269480" y="3054096"/>
              <a:ext cx="749808" cy="749808"/>
            </a:xfrm>
            <a:prstGeom prst="rect">
              <a:avLst/>
            </a:prstGeom>
          </p:spPr>
        </p:pic>
        <p:sp>
          <p:nvSpPr>
            <p:cNvPr id="15" name="Text 10"/>
            <p:cNvSpPr/>
            <p:nvPr/>
          </p:nvSpPr>
          <p:spPr>
            <a:xfrm>
              <a:off x="6665976"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CONNECT</a:t>
              </a:r>
              <a:endParaRPr lang="en-US" sz="1500" dirty="0"/>
            </a:p>
          </p:txBody>
        </p:sp>
        <p:sp>
          <p:nvSpPr>
            <p:cNvPr id="16" name="Text 11"/>
            <p:cNvSpPr/>
            <p:nvPr/>
          </p:nvSpPr>
          <p:spPr>
            <a:xfrm>
              <a:off x="6702552"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Ground agents in your business data and systems with prebuilt and custom connectors</a:t>
              </a:r>
              <a:endParaRPr lang="en-US" sz="1180" dirty="0"/>
            </a:p>
          </p:txBody>
        </p:sp>
      </p:grpSp>
      <p:grpSp>
        <p:nvGrpSpPr>
          <p:cNvPr id="32" name="Group 31">
            <a:extLst>
              <a:ext uri="{FF2B5EF4-FFF2-40B4-BE49-F238E27FC236}">
                <a16:creationId xmlns:a16="http://schemas.microsoft.com/office/drawing/2014/main" id="{DC0004C8-231D-BFD5-A053-995402096B75}"/>
              </a:ext>
            </a:extLst>
          </p:cNvPr>
          <p:cNvGrpSpPr/>
          <p:nvPr/>
        </p:nvGrpSpPr>
        <p:grpSpPr>
          <a:xfrm>
            <a:off x="685800" y="5733282"/>
            <a:ext cx="11027664" cy="502926"/>
            <a:chOff x="685800" y="5733282"/>
            <a:chExt cx="11027664" cy="502926"/>
          </a:xfrm>
        </p:grpSpPr>
        <p:sp>
          <p:nvSpPr>
            <p:cNvPr id="21" name="Shape 15"/>
            <p:cNvSpPr/>
            <p:nvPr/>
          </p:nvSpPr>
          <p:spPr>
            <a:xfrm>
              <a:off x="685800" y="5733288"/>
              <a:ext cx="11027664" cy="502920"/>
            </a:xfrm>
            <a:prstGeom prst="roundRect">
              <a:avLst>
                <a:gd name="adj" fmla="val 16364"/>
              </a:avLst>
            </a:prstGeom>
            <a:solidFill>
              <a:srgbClr val="FFFFFF"/>
            </a:solidFill>
            <a:ln w="12700">
              <a:solidFill>
                <a:srgbClr val="E7E5F0"/>
              </a:solidFill>
              <a:prstDash val="solid"/>
            </a:ln>
          </p:spPr>
          <p:txBody>
            <a:bodyPr/>
            <a:lstStyle/>
            <a:p>
              <a:endParaRPr lang="en-US"/>
            </a:p>
          </p:txBody>
        </p:sp>
        <p:pic>
          <p:nvPicPr>
            <p:cNvPr id="23" name="Image 5" descr="preencoded.png"/>
            <p:cNvPicPr>
              <a:picLocks noChangeAspect="1"/>
            </p:cNvPicPr>
            <p:nvPr/>
          </p:nvPicPr>
          <p:blipFill>
            <a:blip r:embed="rId4"/>
            <a:stretch>
              <a:fillRect/>
            </a:stretch>
          </p:blipFill>
          <p:spPr>
            <a:xfrm>
              <a:off x="960120" y="5815584"/>
              <a:ext cx="347472" cy="347472"/>
            </a:xfrm>
            <a:prstGeom prst="rect">
              <a:avLst/>
            </a:prstGeom>
          </p:spPr>
        </p:pic>
        <p:sp>
          <p:nvSpPr>
            <p:cNvPr id="24" name="Text 16"/>
            <p:cNvSpPr/>
            <p:nvPr/>
          </p:nvSpPr>
          <p:spPr>
            <a:xfrm>
              <a:off x="1444752" y="5733287"/>
              <a:ext cx="2651760" cy="502919"/>
            </a:xfrm>
            <a:prstGeom prst="rect">
              <a:avLst/>
            </a:prstGeom>
            <a:noFill/>
            <a:ln/>
          </p:spPr>
          <p:txBody>
            <a:bodyPr wrap="square" lIns="0" tIns="0" rIns="0" bIns="0" rtlCol="0" anchor="ctr">
              <a:normAutofit/>
            </a:bodyPr>
            <a:lstStyle/>
            <a:p>
              <a:pPr marL="0" indent="0">
                <a:buNone/>
              </a:pPr>
              <a:r>
                <a:rPr lang="en-US" sz="1150" b="1" dirty="0">
                  <a:solidFill>
                    <a:srgbClr val="091F2C"/>
                  </a:solidFill>
                  <a:latin typeface="Segoe UI Semibold" pitchFamily="34" charset="0"/>
                  <a:ea typeface="Segoe UI Semibold" pitchFamily="34" charset="-122"/>
                  <a:cs typeface="Segoe UI Semibold" pitchFamily="34" charset="-120"/>
                </a:rPr>
                <a:t>Built on Microsoft Power Platform</a:t>
              </a:r>
              <a:endParaRPr lang="en-US" sz="1150" dirty="0"/>
            </a:p>
          </p:txBody>
        </p:sp>
        <p:sp>
          <p:nvSpPr>
            <p:cNvPr id="25" name="Text 17"/>
            <p:cNvSpPr/>
            <p:nvPr/>
          </p:nvSpPr>
          <p:spPr>
            <a:xfrm>
              <a:off x="3887393" y="5733282"/>
              <a:ext cx="4846320" cy="502921"/>
            </a:xfrm>
            <a:prstGeom prst="rect">
              <a:avLst/>
            </a:prstGeom>
            <a:noFill/>
            <a:ln/>
          </p:spPr>
          <p:txBody>
            <a:bodyPr wrap="square" lIns="0" tIns="0" rIns="0" bIns="0" rtlCol="0" anchor="ctr">
              <a:normAutofit/>
            </a:bodyPr>
            <a:lstStyle/>
            <a:p>
              <a:pPr marL="0" indent="0">
                <a:buNone/>
              </a:pPr>
              <a:r>
                <a:rPr lang="en-US" sz="1080" dirty="0">
                  <a:solidFill>
                    <a:srgbClr val="5B6672"/>
                  </a:solidFill>
                  <a:latin typeface="Segoe UI" pitchFamily="34" charset="0"/>
                  <a:ea typeface="Segoe UI" pitchFamily="34" charset="-122"/>
                  <a:cs typeface="Segoe UI" pitchFamily="34" charset="-120"/>
                </a:rPr>
                <a:t>Security  ·  Governance  ·  Lifecycle  ·  Analytics</a:t>
              </a:r>
              <a:endParaRPr lang="en-US" sz="1080" dirty="0"/>
            </a:p>
          </p:txBody>
        </p:sp>
      </p:grpSp>
      <p:sp>
        <p:nvSpPr>
          <p:cNvPr id="26" name="Text 18"/>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19"/>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3</a:t>
            </a:r>
            <a:endParaRPr lang="en-US" sz="900" dirty="0"/>
          </a:p>
        </p:txBody>
      </p:sp>
      <p:grpSp>
        <p:nvGrpSpPr>
          <p:cNvPr id="33" name="Group 32">
            <a:extLst>
              <a:ext uri="{FF2B5EF4-FFF2-40B4-BE49-F238E27FC236}">
                <a16:creationId xmlns:a16="http://schemas.microsoft.com/office/drawing/2014/main" id="{71412152-A812-1B12-3F62-4D969E6FD218}"/>
              </a:ext>
            </a:extLst>
          </p:cNvPr>
          <p:cNvGrpSpPr/>
          <p:nvPr/>
        </p:nvGrpSpPr>
        <p:grpSpPr>
          <a:xfrm>
            <a:off x="9384420" y="2582382"/>
            <a:ext cx="2331720" cy="2551639"/>
            <a:chOff x="9381744" y="2816352"/>
            <a:chExt cx="2331720" cy="2551639"/>
          </a:xfrm>
        </p:grpSpPr>
        <p:sp>
          <p:nvSpPr>
            <p:cNvPr id="34" name="Shape 12">
              <a:extLst>
                <a:ext uri="{FF2B5EF4-FFF2-40B4-BE49-F238E27FC236}">
                  <a16:creationId xmlns:a16="http://schemas.microsoft.com/office/drawing/2014/main" id="{4DF57619-BCC6-60D3-1722-8063911B98F0}"/>
                </a:ext>
              </a:extLst>
            </p:cNvPr>
            <p:cNvSpPr/>
            <p:nvPr/>
          </p:nvSpPr>
          <p:spPr>
            <a:xfrm>
              <a:off x="9381744"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35" name="Image 3" descr="preencoded.png">
              <a:extLst>
                <a:ext uri="{FF2B5EF4-FFF2-40B4-BE49-F238E27FC236}">
                  <a16:creationId xmlns:a16="http://schemas.microsoft.com/office/drawing/2014/main" id="{A4992893-B1FA-C547-BE6E-E3C80EB42E1F}"/>
                </a:ext>
              </a:extLst>
            </p:cNvPr>
            <p:cNvPicPr>
              <a:picLocks noChangeAspect="1"/>
            </p:cNvPicPr>
            <p:nvPr/>
          </p:nvPicPr>
          <p:blipFill>
            <a:blip r:embed="rId5"/>
            <a:stretch>
              <a:fillRect/>
            </a:stretch>
          </p:blipFill>
          <p:spPr>
            <a:xfrm>
              <a:off x="10168128" y="3054096"/>
              <a:ext cx="749808" cy="749808"/>
            </a:xfrm>
            <a:prstGeom prst="rect">
              <a:avLst/>
            </a:prstGeom>
          </p:spPr>
        </p:pic>
        <p:sp>
          <p:nvSpPr>
            <p:cNvPr id="36" name="Text 13">
              <a:extLst>
                <a:ext uri="{FF2B5EF4-FFF2-40B4-BE49-F238E27FC236}">
                  <a16:creationId xmlns:a16="http://schemas.microsoft.com/office/drawing/2014/main" id="{497A8D0D-5B27-68A7-F8D1-49E05443B3DB}"/>
                </a:ext>
              </a:extLst>
            </p:cNvPr>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cs typeface="Segoe UI Semibold" pitchFamily="34" charset="-120"/>
                </a:rPr>
                <a:t>REACH</a:t>
              </a:r>
              <a:endParaRPr lang="en-US" sz="1500" dirty="0"/>
            </a:p>
          </p:txBody>
        </p:sp>
        <p:sp>
          <p:nvSpPr>
            <p:cNvPr id="37" name="Text 14">
              <a:extLst>
                <a:ext uri="{FF2B5EF4-FFF2-40B4-BE49-F238E27FC236}">
                  <a16:creationId xmlns:a16="http://schemas.microsoft.com/office/drawing/2014/main" id="{CD4972C0-DFD7-9E01-80E4-5D5AC8A7C24D}"/>
                </a:ext>
              </a:extLst>
            </p:cNvPr>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Engage any audience through the channels they already use</a:t>
              </a:r>
              <a:endParaRPr lang="en-US" sz="1180" dirty="0"/>
            </a:p>
          </p:txBody>
        </p:sp>
      </p:grpSp>
      <p:grpSp>
        <p:nvGrpSpPr>
          <p:cNvPr id="47" name="Group 46">
            <a:extLst>
              <a:ext uri="{FF2B5EF4-FFF2-40B4-BE49-F238E27FC236}">
                <a16:creationId xmlns:a16="http://schemas.microsoft.com/office/drawing/2014/main" id="{FEAD8908-BE36-4414-DD1D-9EF2DBC6B186}"/>
              </a:ext>
            </a:extLst>
          </p:cNvPr>
          <p:cNvGrpSpPr/>
          <p:nvPr/>
        </p:nvGrpSpPr>
        <p:grpSpPr>
          <a:xfrm>
            <a:off x="6469380" y="2576806"/>
            <a:ext cx="2331720" cy="2557215"/>
            <a:chOff x="6469380" y="2576806"/>
            <a:chExt cx="2331720" cy="2557215"/>
          </a:xfrm>
        </p:grpSpPr>
        <p:grpSp>
          <p:nvGrpSpPr>
            <p:cNvPr id="31" name="Group 30">
              <a:extLst>
                <a:ext uri="{FF2B5EF4-FFF2-40B4-BE49-F238E27FC236}">
                  <a16:creationId xmlns:a16="http://schemas.microsoft.com/office/drawing/2014/main" id="{014886EC-B855-D11F-2373-207EDBDDB125}"/>
                </a:ext>
              </a:extLst>
            </p:cNvPr>
            <p:cNvGrpSpPr/>
            <p:nvPr/>
          </p:nvGrpSpPr>
          <p:grpSpPr>
            <a:xfrm>
              <a:off x="6469380" y="2576806"/>
              <a:ext cx="2331720" cy="2557215"/>
              <a:chOff x="9381744" y="2816352"/>
              <a:chExt cx="2331720" cy="2557215"/>
            </a:xfrm>
          </p:grpSpPr>
          <p:sp>
            <p:nvSpPr>
              <p:cNvPr id="17" name="Shape 12"/>
              <p:cNvSpPr/>
              <p:nvPr/>
            </p:nvSpPr>
            <p:spPr>
              <a:xfrm>
                <a:off x="9381744" y="2816352"/>
                <a:ext cx="2331720" cy="2557215"/>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3"/>
              <p:cNvSpPr/>
              <p:nvPr/>
            </p:nvSpPr>
            <p:spPr>
              <a:xfrm>
                <a:off x="9564624"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ACT</a:t>
                </a:r>
                <a:endParaRPr lang="en-US" sz="1500" dirty="0"/>
              </a:p>
            </p:txBody>
          </p:sp>
          <p:sp>
            <p:nvSpPr>
              <p:cNvPr id="20" name="Text 14"/>
              <p:cNvSpPr/>
              <p:nvPr/>
            </p:nvSpPr>
            <p:spPr>
              <a:xfrm>
                <a:off x="9601200" y="4370832"/>
                <a:ext cx="1892808" cy="890742"/>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Turn conversations into actions using AI, workflows, and business processes</a:t>
                </a:r>
                <a:endParaRPr lang="en-US" sz="1180" dirty="0"/>
              </a:p>
            </p:txBody>
          </p:sp>
        </p:grpSp>
        <p:pic>
          <p:nvPicPr>
            <p:cNvPr id="41" name="Image 1" descr="preencoded.png">
              <a:extLst>
                <a:ext uri="{FF2B5EF4-FFF2-40B4-BE49-F238E27FC236}">
                  <a16:creationId xmlns:a16="http://schemas.microsoft.com/office/drawing/2014/main" id="{C2B84E1D-2721-2C08-1E7A-508F5BF5882C}"/>
                </a:ext>
              </a:extLst>
            </p:cNvPr>
            <p:cNvPicPr>
              <a:picLocks noChangeAspect="1"/>
            </p:cNvPicPr>
            <p:nvPr/>
          </p:nvPicPr>
          <p:blipFill>
            <a:blip r:embed="rId6"/>
            <a:stretch>
              <a:fillRect/>
            </a:stretch>
          </p:blipFill>
          <p:spPr>
            <a:xfrm>
              <a:off x="7260336" y="2809643"/>
              <a:ext cx="749808" cy="749808"/>
            </a:xfrm>
            <a:prstGeom prst="rect">
              <a:avLst/>
            </a:prstGeom>
          </p:spPr>
        </p:pic>
      </p:grpSp>
      <p:grpSp>
        <p:nvGrpSpPr>
          <p:cNvPr id="46" name="Group 45">
            <a:extLst>
              <a:ext uri="{FF2B5EF4-FFF2-40B4-BE49-F238E27FC236}">
                <a16:creationId xmlns:a16="http://schemas.microsoft.com/office/drawing/2014/main" id="{983722CE-1256-409F-B583-18093445A34C}"/>
              </a:ext>
            </a:extLst>
          </p:cNvPr>
          <p:cNvGrpSpPr/>
          <p:nvPr/>
        </p:nvGrpSpPr>
        <p:grpSpPr>
          <a:xfrm>
            <a:off x="683124" y="2582382"/>
            <a:ext cx="2331720" cy="2551639"/>
            <a:chOff x="683124" y="2582382"/>
            <a:chExt cx="2331720" cy="2551639"/>
          </a:xfrm>
        </p:grpSpPr>
        <p:grpSp>
          <p:nvGrpSpPr>
            <p:cNvPr id="29" name="Group 28">
              <a:extLst>
                <a:ext uri="{FF2B5EF4-FFF2-40B4-BE49-F238E27FC236}">
                  <a16:creationId xmlns:a16="http://schemas.microsoft.com/office/drawing/2014/main" id="{BC1D6939-178B-15F5-3CD1-00FA8095E2CF}"/>
                </a:ext>
              </a:extLst>
            </p:cNvPr>
            <p:cNvGrpSpPr/>
            <p:nvPr/>
          </p:nvGrpSpPr>
          <p:grpSpPr>
            <a:xfrm>
              <a:off x="683124" y="2582382"/>
              <a:ext cx="2331720" cy="2551639"/>
              <a:chOff x="3584448" y="2816352"/>
              <a:chExt cx="2331720" cy="2551639"/>
            </a:xfrm>
          </p:grpSpPr>
          <p:sp>
            <p:nvSpPr>
              <p:cNvPr id="9" name="Shape 6"/>
              <p:cNvSpPr/>
              <p:nvPr/>
            </p:nvSpPr>
            <p:spPr>
              <a:xfrm>
                <a:off x="3584448" y="2816352"/>
                <a:ext cx="2331720" cy="2551639"/>
              </a:xfrm>
              <a:prstGeom prst="roundRect">
                <a:avLst>
                  <a:gd name="adj" fmla="val 3529"/>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dirty="0"/>
              </a:p>
            </p:txBody>
          </p:sp>
          <p:sp>
            <p:nvSpPr>
              <p:cNvPr id="11" name="Text 7"/>
              <p:cNvSpPr/>
              <p:nvPr/>
            </p:nvSpPr>
            <p:spPr>
              <a:xfrm>
                <a:off x="3767328" y="3968496"/>
                <a:ext cx="1965960" cy="310896"/>
              </a:xfrm>
              <a:prstGeom prst="rect">
                <a:avLst/>
              </a:prstGeom>
              <a:noFill/>
              <a:ln/>
            </p:spPr>
            <p:txBody>
              <a:bodyPr wrap="square" lIns="0" tIns="0" rIns="0" bIns="0" rtlCol="0" anchor="ctr">
                <a:normAutofit/>
              </a:bodyPr>
              <a:lstStyle/>
              <a:p>
                <a:pPr marL="0" indent="0" algn="ctr">
                  <a:buNone/>
                </a:pPr>
                <a:r>
                  <a:rPr lang="en-US" sz="1500" b="1" dirty="0">
                    <a:solidFill>
                      <a:srgbClr val="091F2C"/>
                    </a:solidFill>
                    <a:latin typeface="Segoe UI Semibold" pitchFamily="34" charset="0"/>
                    <a:ea typeface="Segoe UI Semibold" pitchFamily="34" charset="-122"/>
                    <a:cs typeface="Segoe UI Semibold" pitchFamily="34" charset="-120"/>
                  </a:rPr>
                  <a:t>BUILD</a:t>
                </a:r>
                <a:endParaRPr lang="en-US" sz="1500" dirty="0"/>
              </a:p>
            </p:txBody>
          </p:sp>
          <p:sp>
            <p:nvSpPr>
              <p:cNvPr id="12" name="Text 8"/>
              <p:cNvSpPr/>
              <p:nvPr/>
            </p:nvSpPr>
            <p:spPr>
              <a:xfrm>
                <a:off x="3803904" y="4420326"/>
                <a:ext cx="1929384" cy="841248"/>
              </a:xfrm>
              <a:prstGeom prst="rect">
                <a:avLst/>
              </a:prstGeom>
              <a:noFill/>
              <a:ln/>
            </p:spPr>
            <p:txBody>
              <a:bodyPr wrap="square" lIns="0" tIns="0" rIns="0" bIns="0" rtlCol="0" anchor="ctr">
                <a:normAutofit/>
              </a:bodyPr>
              <a:lstStyle/>
              <a:p>
                <a:pPr marL="0" indent="0" algn="ctr">
                  <a:buNone/>
                </a:pPr>
                <a:r>
                  <a:rPr lang="en-US" sz="1180" dirty="0">
                    <a:solidFill>
                      <a:srgbClr val="5B6672"/>
                    </a:solidFill>
                    <a:latin typeface="Segoe UI" pitchFamily="34" charset="0"/>
                    <a:ea typeface="Segoe UI" pitchFamily="34" charset="-122"/>
                    <a:cs typeface="Segoe UI" pitchFamily="34" charset="-120"/>
                  </a:rPr>
                  <a:t>Create agents using natural language and low-code tools</a:t>
                </a:r>
                <a:endParaRPr lang="en-US" sz="1180" dirty="0"/>
              </a:p>
            </p:txBody>
          </p:sp>
        </p:grpSp>
        <p:pic>
          <p:nvPicPr>
            <p:cNvPr id="45" name="Image 1" descr="preencoded.png">
              <a:extLst>
                <a:ext uri="{FF2B5EF4-FFF2-40B4-BE49-F238E27FC236}">
                  <a16:creationId xmlns:a16="http://schemas.microsoft.com/office/drawing/2014/main" id="{F11C9846-57DF-D0DC-4CB9-9AF5A293BA85}"/>
                </a:ext>
              </a:extLst>
            </p:cNvPr>
            <p:cNvPicPr>
              <a:picLocks noChangeAspect="1"/>
            </p:cNvPicPr>
            <p:nvPr/>
          </p:nvPicPr>
          <p:blipFill>
            <a:blip r:embed="rId7"/>
            <a:stretch>
              <a:fillRect/>
            </a:stretch>
          </p:blipFill>
          <p:spPr>
            <a:xfrm>
              <a:off x="1489914" y="2820126"/>
              <a:ext cx="754715" cy="754715"/>
            </a:xfrm>
            <a:prstGeom prst="rect">
              <a:avLst/>
            </a:prstGeom>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1 · EMPLOYEE ONBOARDING</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Accelerating Employee Onboarding with M365 Copilot</a:t>
            </a:r>
            <a:endParaRPr lang="en-US" sz="2500" dirty="0"/>
          </a:p>
        </p:txBody>
      </p:sp>
      <p:sp>
        <p:nvSpPr>
          <p:cNvPr id="4" name="Text 2"/>
          <p:cNvSpPr/>
          <p:nvPr/>
        </p:nvSpPr>
        <p:spPr>
          <a:xfrm>
            <a:off x="777240" y="1556058"/>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A hiring manager moves from onboarding questions to a completed onboarding request without leaving Microsoft 365 Copilot.</a:t>
            </a:r>
            <a:endParaRPr lang="en-US" sz="1320" dirty="0"/>
          </a:p>
        </p:txBody>
      </p:sp>
      <p:sp>
        <p:nvSpPr>
          <p:cNvPr id="8" name="Shape 5"/>
          <p:cNvSpPr/>
          <p:nvPr/>
        </p:nvSpPr>
        <p:spPr>
          <a:xfrm>
            <a:off x="627659"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Text 6"/>
          <p:cNvSpPr/>
          <p:nvPr/>
        </p:nvSpPr>
        <p:spPr>
          <a:xfrm>
            <a:off x="947699"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1</a:t>
            </a:r>
            <a:endParaRPr lang="en-US" sz="3000" dirty="0"/>
          </a:p>
        </p:txBody>
      </p:sp>
      <p:sp>
        <p:nvSpPr>
          <p:cNvPr id="11" name="Text 7"/>
          <p:cNvSpPr/>
          <p:nvPr/>
        </p:nvSpPr>
        <p:spPr>
          <a:xfrm>
            <a:off x="947699"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Ask</a:t>
            </a:r>
            <a:endParaRPr lang="en-US" sz="1450" dirty="0"/>
          </a:p>
        </p:txBody>
      </p:sp>
      <p:sp>
        <p:nvSpPr>
          <p:cNvPr id="12" name="Text 8"/>
          <p:cNvSpPr/>
          <p:nvPr/>
        </p:nvSpPr>
        <p:spPr>
          <a:xfrm>
            <a:off x="947699"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Need to onboard a new employee</a:t>
            </a:r>
            <a:endParaRPr lang="en-US" sz="1100" dirty="0"/>
          </a:p>
          <a:p>
            <a:r>
              <a:rPr lang="en-US" sz="900" b="0" dirty="0">
                <a:solidFill>
                  <a:srgbClr val="5B6672"/>
                </a:solidFill>
                <a:latin typeface="Segoe UI" pitchFamily="34" charset="0"/>
                <a:ea typeface="Segoe UI" pitchFamily="34" charset="-122"/>
                <a:cs typeface="Segoe UI" pitchFamily="34" charset="-120"/>
              </a:rPr>
              <a:t>•  Role-specific onboarding guidance</a:t>
            </a:r>
          </a:p>
          <a:p>
            <a:r>
              <a:rPr lang="en-US" sz="900" b="0" dirty="0">
                <a:solidFill>
                  <a:srgbClr val="5B6672"/>
                </a:solidFill>
                <a:latin typeface="Segoe UI" pitchFamily="34" charset="0"/>
                <a:ea typeface="Segoe UI" pitchFamily="34" charset="-122"/>
                <a:cs typeface="Segoe UI" pitchFamily="34" charset="-120"/>
              </a:rPr>
              <a:t>•  Equipment and access requirements</a:t>
            </a:r>
          </a:p>
          <a:p>
            <a:r>
              <a:rPr lang="en-US" sz="900" b="0" dirty="0">
                <a:solidFill>
                  <a:srgbClr val="5B6672"/>
                </a:solidFill>
                <a:latin typeface="Segoe UI" pitchFamily="34" charset="0"/>
                <a:ea typeface="Segoe UI" pitchFamily="34" charset="-122"/>
                <a:cs typeface="Segoe UI" pitchFamily="34" charset="-120"/>
              </a:rPr>
              <a:t>•  Policy questions answered from approved DoIT knowledge</a:t>
            </a:r>
          </a:p>
        </p:txBody>
      </p:sp>
      <p:sp>
        <p:nvSpPr>
          <p:cNvPr id="23" name="Shape 17"/>
          <p:cNvSpPr/>
          <p:nvPr/>
        </p:nvSpPr>
        <p:spPr>
          <a:xfrm>
            <a:off x="685800" y="5696712"/>
            <a:ext cx="10725912" cy="457200"/>
          </a:xfrm>
          <a:prstGeom prst="roundRect">
            <a:avLst>
              <a:gd name="adj" fmla="val 18000"/>
            </a:avLst>
          </a:prstGeom>
          <a:solidFill>
            <a:srgbClr val="EAF4FB"/>
          </a:solidFill>
          <a:ln w="12700">
            <a:solidFill>
              <a:srgbClr val="EAF4FB"/>
            </a:solidFill>
            <a:prstDash val="solid"/>
          </a:ln>
        </p:spPr>
        <p:txBody>
          <a:bodyPr/>
          <a:lstStyle/>
          <a:p>
            <a:endParaRPr lang="en-US"/>
          </a:p>
        </p:txBody>
      </p:sp>
      <p:sp>
        <p:nvSpPr>
          <p:cNvPr id="24" name="Text 18"/>
          <p:cNvSpPr/>
          <p:nvPr/>
        </p:nvSpPr>
        <p:spPr>
          <a:xfrm>
            <a:off x="914400" y="5769864"/>
            <a:ext cx="10241280" cy="274320"/>
          </a:xfrm>
          <a:prstGeom prst="rect">
            <a:avLst/>
          </a:prstGeom>
          <a:noFill/>
          <a:ln/>
        </p:spPr>
        <p:txBody>
          <a:bodyPr wrap="square" lIns="0" tIns="0" rIns="0" bIns="0" rtlCol="0" anchor="ctr">
            <a:normAutofit/>
          </a:bodyPr>
          <a:lstStyle/>
          <a:p>
            <a:pPr marL="0" indent="0" algn="ctr">
              <a:buNone/>
            </a:pPr>
            <a:r>
              <a:rPr lang="en-US" sz="1120" b="1" dirty="0">
                <a:solidFill>
                  <a:srgbClr val="174E7E"/>
                </a:solidFill>
                <a:latin typeface="Segoe UI Semibold" pitchFamily="34" charset="0"/>
                <a:ea typeface="Segoe UI Semibold" pitchFamily="34" charset="-122"/>
                <a:cs typeface="Segoe UI Semibold" pitchFamily="34" charset="-120"/>
              </a:rPr>
              <a:t>grounded knowledge   •   business action   •   approval workflow   •   status tracking</a:t>
            </a:r>
            <a:endParaRPr lang="en-US" sz="1120" dirty="0"/>
          </a:p>
        </p:txBody>
      </p:sp>
      <p:sp>
        <p:nvSpPr>
          <p:cNvPr id="25" name="Text 19"/>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6" name="Text 20"/>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4</a:t>
            </a:r>
            <a:endParaRPr lang="en-US" sz="900" dirty="0"/>
          </a:p>
        </p:txBody>
      </p:sp>
      <p:pic>
        <p:nvPicPr>
          <p:cNvPr id="27" name="Picture 26" descr="image.png"/>
          <p:cNvPicPr>
            <a:picLocks noChangeAspect="1"/>
          </p:cNvPicPr>
          <p:nvPr/>
        </p:nvPicPr>
        <p:blipFill>
          <a:blip r:embed="rId3"/>
          <a:stretch>
            <a:fillRect/>
          </a:stretch>
        </p:blipFill>
        <p:spPr>
          <a:xfrm>
            <a:off x="3142259" y="2716820"/>
            <a:ext cx="502920" cy="502920"/>
          </a:xfrm>
          <a:prstGeom prst="rect">
            <a:avLst/>
          </a:prstGeom>
        </p:spPr>
      </p:pic>
      <p:grpSp>
        <p:nvGrpSpPr>
          <p:cNvPr id="20" name="Group 19">
            <a:extLst>
              <a:ext uri="{FF2B5EF4-FFF2-40B4-BE49-F238E27FC236}">
                <a16:creationId xmlns:a16="http://schemas.microsoft.com/office/drawing/2014/main" id="{15B7726F-3310-7F4F-EAF8-CFAAA9692C0E}"/>
              </a:ext>
            </a:extLst>
          </p:cNvPr>
          <p:cNvGrpSpPr/>
          <p:nvPr/>
        </p:nvGrpSpPr>
        <p:grpSpPr>
          <a:xfrm>
            <a:off x="4321835" y="2460788"/>
            <a:ext cx="3337560" cy="2514600"/>
            <a:chOff x="4321835" y="2460788"/>
            <a:chExt cx="3337560" cy="2514600"/>
          </a:xfrm>
        </p:grpSpPr>
        <p:sp>
          <p:nvSpPr>
            <p:cNvPr id="13" name="Shape 9"/>
            <p:cNvSpPr/>
            <p:nvPr/>
          </p:nvSpPr>
          <p:spPr>
            <a:xfrm>
              <a:off x="4321835"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4" name="Text 10"/>
            <p:cNvSpPr/>
            <p:nvPr/>
          </p:nvSpPr>
          <p:spPr>
            <a:xfrm>
              <a:off x="4641875"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8661C5"/>
                  </a:solidFill>
                  <a:latin typeface="Segoe UI Semibold" pitchFamily="34" charset="0"/>
                  <a:ea typeface="Segoe UI Semibold" pitchFamily="34" charset="-122"/>
                  <a:cs typeface="Segoe UI Semibold" pitchFamily="34" charset="-120"/>
                </a:rPr>
                <a:t>2</a:t>
              </a:r>
              <a:endParaRPr lang="en-US" sz="3000" dirty="0"/>
            </a:p>
          </p:txBody>
        </p:sp>
        <p:sp>
          <p:nvSpPr>
            <p:cNvPr id="16" name="Text 11"/>
            <p:cNvSpPr/>
            <p:nvPr/>
          </p:nvSpPr>
          <p:spPr>
            <a:xfrm>
              <a:off x="4641875"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Act</a:t>
              </a:r>
              <a:endParaRPr lang="en-US" sz="1450" dirty="0"/>
            </a:p>
          </p:txBody>
        </p:sp>
        <p:sp>
          <p:nvSpPr>
            <p:cNvPr id="17" name="Text 12"/>
            <p:cNvSpPr/>
            <p:nvPr/>
          </p:nvSpPr>
          <p:spPr>
            <a:xfrm>
              <a:off x="4641875"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Create and route the onboarding request</a:t>
              </a:r>
              <a:endParaRPr lang="en-US" sz="1100" dirty="0"/>
            </a:p>
            <a:p>
              <a:r>
                <a:rPr lang="en-US" sz="900" b="0" dirty="0">
                  <a:solidFill>
                    <a:srgbClr val="5B6672"/>
                  </a:solidFill>
                  <a:latin typeface="Segoe UI" pitchFamily="34" charset="0"/>
                  <a:ea typeface="Segoe UI" pitchFamily="34" charset="-122"/>
                  <a:cs typeface="Segoe UI" pitchFamily="34" charset="-120"/>
                </a:rPr>
                <a:t>•  Build recommended equipment package</a:t>
              </a:r>
            </a:p>
            <a:p>
              <a:r>
                <a:rPr lang="en-US" sz="900" b="0" dirty="0">
                  <a:solidFill>
                    <a:srgbClr val="5B6672"/>
                  </a:solidFill>
                  <a:latin typeface="Segoe UI" pitchFamily="34" charset="0"/>
                  <a:ea typeface="Segoe UI" pitchFamily="34" charset="-122"/>
                  <a:cs typeface="Segoe UI" pitchFamily="34" charset="-120"/>
                </a:rPr>
                <a:t>•  Calculate costs automatically</a:t>
              </a:r>
            </a:p>
            <a:p>
              <a:r>
                <a:rPr lang="en-US" sz="900" b="0" dirty="0">
                  <a:solidFill>
                    <a:srgbClr val="5B6672"/>
                  </a:solidFill>
                  <a:latin typeface="Segoe UI" pitchFamily="34" charset="0"/>
                  <a:ea typeface="Segoe UI" pitchFamily="34" charset="-122"/>
                  <a:cs typeface="Segoe UI" pitchFamily="34" charset="-120"/>
                </a:rPr>
                <a:t>•  Trigger approval workflows</a:t>
              </a:r>
            </a:p>
          </p:txBody>
        </p:sp>
        <p:pic>
          <p:nvPicPr>
            <p:cNvPr id="28" name="Picture 27" descr="image.png"/>
            <p:cNvPicPr>
              <a:picLocks noChangeAspect="1"/>
            </p:cNvPicPr>
            <p:nvPr/>
          </p:nvPicPr>
          <p:blipFill>
            <a:blip r:embed="rId4"/>
            <a:stretch>
              <a:fillRect/>
            </a:stretch>
          </p:blipFill>
          <p:spPr>
            <a:xfrm>
              <a:off x="6836435" y="2716820"/>
              <a:ext cx="502920" cy="502920"/>
            </a:xfrm>
            <a:prstGeom prst="rect">
              <a:avLst/>
            </a:prstGeom>
          </p:spPr>
        </p:pic>
      </p:grpSp>
      <p:grpSp>
        <p:nvGrpSpPr>
          <p:cNvPr id="30" name="Group 29">
            <a:extLst>
              <a:ext uri="{FF2B5EF4-FFF2-40B4-BE49-F238E27FC236}">
                <a16:creationId xmlns:a16="http://schemas.microsoft.com/office/drawing/2014/main" id="{0ADF81A1-D6AB-47D7-96A4-5C567AFDE0F4}"/>
              </a:ext>
            </a:extLst>
          </p:cNvPr>
          <p:cNvGrpSpPr/>
          <p:nvPr/>
        </p:nvGrpSpPr>
        <p:grpSpPr>
          <a:xfrm>
            <a:off x="8016011" y="2460788"/>
            <a:ext cx="3337560" cy="2514600"/>
            <a:chOff x="8016011" y="2460788"/>
            <a:chExt cx="3337560" cy="2514600"/>
          </a:xfrm>
        </p:grpSpPr>
        <p:sp>
          <p:nvSpPr>
            <p:cNvPr id="18" name="Shape 13"/>
            <p:cNvSpPr/>
            <p:nvPr/>
          </p:nvSpPr>
          <p:spPr>
            <a:xfrm>
              <a:off x="8016011"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19" name="Text 14"/>
            <p:cNvSpPr/>
            <p:nvPr/>
          </p:nvSpPr>
          <p:spPr>
            <a:xfrm>
              <a:off x="8336051"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C03BC4"/>
                  </a:solidFill>
                  <a:latin typeface="Segoe UI Semibold" pitchFamily="34" charset="0"/>
                  <a:ea typeface="Segoe UI Semibold" pitchFamily="34" charset="-122"/>
                  <a:cs typeface="Segoe UI Semibold" pitchFamily="34" charset="-120"/>
                </a:rPr>
                <a:t>3</a:t>
              </a:r>
              <a:endParaRPr lang="en-US" sz="3000" dirty="0"/>
            </a:p>
          </p:txBody>
        </p:sp>
        <p:sp>
          <p:nvSpPr>
            <p:cNvPr id="21" name="Text 15"/>
            <p:cNvSpPr/>
            <p:nvPr/>
          </p:nvSpPr>
          <p:spPr>
            <a:xfrm>
              <a:off x="8336051"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Track</a:t>
              </a:r>
              <a:endParaRPr lang="en-US" sz="1450" dirty="0"/>
            </a:p>
          </p:txBody>
        </p:sp>
        <p:sp>
          <p:nvSpPr>
            <p:cNvPr id="22" name="Text 16"/>
            <p:cNvSpPr/>
            <p:nvPr/>
          </p:nvSpPr>
          <p:spPr>
            <a:xfrm>
              <a:off x="8336051"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Monitor progress through completion</a:t>
              </a:r>
              <a:endParaRPr lang="en-US" sz="1100" dirty="0"/>
            </a:p>
            <a:p>
              <a:r>
                <a:rPr lang="en-US" sz="900" b="0" dirty="0">
                  <a:solidFill>
                    <a:srgbClr val="5B6672"/>
                  </a:solidFill>
                  <a:latin typeface="Segoe UI" pitchFamily="34" charset="0"/>
                  <a:ea typeface="Segoe UI" pitchFamily="34" charset="-122"/>
                  <a:cs typeface="Segoe UI" pitchFamily="34" charset="-120"/>
                </a:rPr>
                <a:t>•  Approval status</a:t>
              </a:r>
            </a:p>
            <a:p>
              <a:r>
                <a:rPr lang="en-US" sz="900" b="0" dirty="0">
                  <a:solidFill>
                    <a:srgbClr val="5B6672"/>
                  </a:solidFill>
                  <a:latin typeface="Segoe UI" pitchFamily="34" charset="0"/>
                  <a:ea typeface="Segoe UI" pitchFamily="34" charset="-122"/>
                  <a:cs typeface="Segoe UI" pitchFamily="34" charset="-120"/>
                </a:rPr>
                <a:t>•  Fulfillment updates</a:t>
              </a:r>
            </a:p>
            <a:p>
              <a:r>
                <a:rPr lang="en-US" sz="900" b="0" dirty="0">
                  <a:solidFill>
                    <a:srgbClr val="5B6672"/>
                  </a:solidFill>
                  <a:latin typeface="Segoe UI" pitchFamily="34" charset="0"/>
                  <a:ea typeface="Segoe UI" pitchFamily="34" charset="-122"/>
                  <a:cs typeface="Segoe UI" pitchFamily="34" charset="-120"/>
                </a:rPr>
                <a:t>•  Estimated completion dates</a:t>
              </a:r>
            </a:p>
          </p:txBody>
        </p:sp>
        <p:pic>
          <p:nvPicPr>
            <p:cNvPr id="7" name="Picture 6">
              <a:extLst>
                <a:ext uri="{FF2B5EF4-FFF2-40B4-BE49-F238E27FC236}">
                  <a16:creationId xmlns:a16="http://schemas.microsoft.com/office/drawing/2014/main" id="{E446DEFD-F067-8E35-EDC4-54424127E51D}"/>
                </a:ext>
              </a:extLst>
            </p:cNvPr>
            <p:cNvPicPr>
              <a:picLocks noChangeAspect="1"/>
            </p:cNvPicPr>
            <p:nvPr/>
          </p:nvPicPr>
          <p:blipFill>
            <a:blip r:embed="rId5"/>
            <a:stretch>
              <a:fillRect/>
            </a:stretch>
          </p:blipFill>
          <p:spPr>
            <a:xfrm>
              <a:off x="10716541" y="2735108"/>
              <a:ext cx="454150" cy="454150"/>
            </a:xfrm>
            <a:prstGeom prst="rect">
              <a:avLst/>
            </a:prstGeom>
          </p:spPr>
        </p:pic>
      </p:grpSp>
      <p:pic>
        <p:nvPicPr>
          <p:cNvPr id="15" name="Picture 14" descr="image.png">
            <a:extLst>
              <a:ext uri="{FF2B5EF4-FFF2-40B4-BE49-F238E27FC236}">
                <a16:creationId xmlns:a16="http://schemas.microsoft.com/office/drawing/2014/main" id="{1414228F-959F-0DBF-3E38-8C5570913AEE}"/>
              </a:ext>
            </a:extLst>
          </p:cNvPr>
          <p:cNvPicPr>
            <a:picLocks noChangeAspect="1"/>
          </p:cNvPicPr>
          <p:nvPr/>
        </p:nvPicPr>
        <p:blipFill>
          <a:blip r:embed="rId4"/>
          <a:stretch>
            <a:fillRect/>
          </a:stretch>
        </p:blipFill>
        <p:spPr>
          <a:xfrm>
            <a:off x="10885932" y="436444"/>
            <a:ext cx="502920" cy="5029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BC398-ED80-1706-C6B8-C659F4B111CD}"/>
            </a:ext>
          </a:extLst>
        </p:cNvPr>
        <p:cNvGrpSpPr/>
        <p:nvPr/>
      </p:nvGrpSpPr>
      <p:grpSpPr>
        <a:xfrm>
          <a:off x="0" y="0"/>
          <a:ext cx="0" cy="0"/>
          <a:chOff x="0" y="0"/>
          <a:chExt cx="0" cy="0"/>
        </a:xfrm>
      </p:grpSpPr>
      <p:sp useBgFill="1">
        <p:nvSpPr>
          <p:cNvPr id="7" name="!!The Messy Middle Shape">
            <a:extLst>
              <a:ext uri="{FF2B5EF4-FFF2-40B4-BE49-F238E27FC236}">
                <a16:creationId xmlns:a16="http://schemas.microsoft.com/office/drawing/2014/main" id="{E4E42E63-813D-77A7-F3C6-20F2A6BB191C}"/>
              </a:ext>
            </a:extLst>
          </p:cNvPr>
          <p:cNvSpPr/>
          <p:nvPr/>
        </p:nvSpPr>
        <p:spPr>
          <a:xfrm>
            <a:off x="777240" y="2002146"/>
            <a:ext cx="10902366" cy="4051502"/>
          </a:xfrm>
          <a:prstGeom prst="roundRect">
            <a:avLst>
              <a:gd name="adj" fmla="val 4582"/>
            </a:avLst>
          </a:prstGeom>
          <a:gradFill rotWithShape="0">
            <a:gsLst>
              <a:gs pos="21000">
                <a:srgbClr val="F2FAFD"/>
              </a:gs>
              <a:gs pos="79000">
                <a:srgbClr val="F2FAFD"/>
              </a:gs>
              <a:gs pos="52000">
                <a:srgbClr val="D8F6FF"/>
              </a:gs>
            </a:gsLst>
            <a:lin ang="2700000" scaled="0"/>
            <a:tileRect l="-4113" t="-36776" r="-4113" b="-20668"/>
          </a:gra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8" name="Group 117">
            <a:extLst>
              <a:ext uri="{FF2B5EF4-FFF2-40B4-BE49-F238E27FC236}">
                <a16:creationId xmlns:a16="http://schemas.microsoft.com/office/drawing/2014/main" id="{5DC47D6A-14B3-A38C-11A5-0F97814B79B9}"/>
              </a:ext>
            </a:extLst>
          </p:cNvPr>
          <p:cNvGrpSpPr/>
          <p:nvPr/>
        </p:nvGrpSpPr>
        <p:grpSpPr>
          <a:xfrm>
            <a:off x="1311267" y="2250911"/>
            <a:ext cx="2297555" cy="1033126"/>
            <a:chOff x="-1631113" y="2186776"/>
            <a:chExt cx="2297555" cy="1033126"/>
          </a:xfrm>
        </p:grpSpPr>
        <p:grpSp>
          <p:nvGrpSpPr>
            <p:cNvPr id="117" name="Group 116">
              <a:extLst>
                <a:ext uri="{FF2B5EF4-FFF2-40B4-BE49-F238E27FC236}">
                  <a16:creationId xmlns:a16="http://schemas.microsoft.com/office/drawing/2014/main" id="{D88CF877-C455-8A0E-D702-5CB6416EE70A}"/>
                </a:ext>
              </a:extLst>
            </p:cNvPr>
            <p:cNvGrpSpPr/>
            <p:nvPr/>
          </p:nvGrpSpPr>
          <p:grpSpPr>
            <a:xfrm>
              <a:off x="-366684" y="2186776"/>
              <a:ext cx="1033126" cy="1033126"/>
              <a:chOff x="-369796" y="2186776"/>
              <a:chExt cx="1033126" cy="1033126"/>
            </a:xfrm>
          </p:grpSpPr>
          <p:sp>
            <p:nvSpPr>
              <p:cNvPr id="78" name="Rectangle: Rounded Corners 23">
                <a:extLst>
                  <a:ext uri="{FF2B5EF4-FFF2-40B4-BE49-F238E27FC236}">
                    <a16:creationId xmlns:a16="http://schemas.microsoft.com/office/drawing/2014/main" id="{F191FA34-7C3E-FAF4-3ECB-1077D58B7EC6}"/>
                  </a:ext>
                </a:extLst>
              </p:cNvPr>
              <p:cNvSpPr/>
              <p:nvPr/>
            </p:nvSpPr>
            <p:spPr bwMode="auto">
              <a:xfrm>
                <a:off x="-369796" y="218677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9" name="TextBox 78">
                <a:extLst>
                  <a:ext uri="{FF2B5EF4-FFF2-40B4-BE49-F238E27FC236}">
                    <a16:creationId xmlns:a16="http://schemas.microsoft.com/office/drawing/2014/main" id="{0E9465D3-54E6-5C99-E755-FD9F8B8A4ADD}"/>
                  </a:ext>
                </a:extLst>
              </p:cNvPr>
              <p:cNvSpPr txBox="1"/>
              <p:nvPr/>
            </p:nvSpPr>
            <p:spPr>
              <a:xfrm>
                <a:off x="-369796" y="2870015"/>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SharePoint</a:t>
                </a:r>
              </a:p>
            </p:txBody>
          </p:sp>
          <p:pic>
            <p:nvPicPr>
              <p:cNvPr id="80" name="Picture 79" descr="A logo with a black background&#10;&#10;AI-generated content may be incorrect.">
                <a:extLst>
                  <a:ext uri="{FF2B5EF4-FFF2-40B4-BE49-F238E27FC236}">
                    <a16:creationId xmlns:a16="http://schemas.microsoft.com/office/drawing/2014/main" id="{1A38C091-CFF6-B37E-CABB-8F78DD6F1D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179" y="2385251"/>
                <a:ext cx="481893" cy="481893"/>
              </a:xfrm>
              <a:prstGeom prst="rect">
                <a:avLst/>
              </a:prstGeom>
            </p:spPr>
          </p:pic>
        </p:grpSp>
        <p:grpSp>
          <p:nvGrpSpPr>
            <p:cNvPr id="3" name="Group 2">
              <a:extLst>
                <a:ext uri="{FF2B5EF4-FFF2-40B4-BE49-F238E27FC236}">
                  <a16:creationId xmlns:a16="http://schemas.microsoft.com/office/drawing/2014/main" id="{F5149E15-06F6-6D57-627F-5038D1524AFB}"/>
                </a:ext>
              </a:extLst>
            </p:cNvPr>
            <p:cNvGrpSpPr/>
            <p:nvPr/>
          </p:nvGrpSpPr>
          <p:grpSpPr>
            <a:xfrm>
              <a:off x="-1631113" y="2186776"/>
              <a:ext cx="1033126" cy="1033125"/>
              <a:chOff x="2934304" y="4248384"/>
              <a:chExt cx="1033126" cy="1033125"/>
            </a:xfrm>
          </p:grpSpPr>
          <p:sp>
            <p:nvSpPr>
              <p:cNvPr id="35" name="Rectangle: Rounded Corners 2">
                <a:extLst>
                  <a:ext uri="{FF2B5EF4-FFF2-40B4-BE49-F238E27FC236}">
                    <a16:creationId xmlns:a16="http://schemas.microsoft.com/office/drawing/2014/main" id="{894CB34B-0BDF-3FFC-04F4-0AF10D874EFE}"/>
                  </a:ext>
                </a:extLst>
              </p:cNvPr>
              <p:cNvSpPr/>
              <p:nvPr/>
            </p:nvSpPr>
            <p:spPr bwMode="auto">
              <a:xfrm>
                <a:off x="2934304" y="4248384"/>
                <a:ext cx="1033126" cy="1033125"/>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6" name="TextBox 35">
                <a:extLst>
                  <a:ext uri="{FF2B5EF4-FFF2-40B4-BE49-F238E27FC236}">
                    <a16:creationId xmlns:a16="http://schemas.microsoft.com/office/drawing/2014/main" id="{BBB18D5F-45A0-95F4-358D-6EA458DCAB56}"/>
                  </a:ext>
                </a:extLst>
              </p:cNvPr>
              <p:cNvSpPr txBox="1"/>
              <p:nvPr/>
            </p:nvSpPr>
            <p:spPr>
              <a:xfrm>
                <a:off x="2934304" y="4842403"/>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Teams</a:t>
                </a:r>
              </a:p>
            </p:txBody>
          </p:sp>
          <p:pic>
            <p:nvPicPr>
              <p:cNvPr id="37" name="Graphic 36">
                <a:extLst>
                  <a:ext uri="{FF2B5EF4-FFF2-40B4-BE49-F238E27FC236}">
                    <a16:creationId xmlns:a16="http://schemas.microsoft.com/office/drawing/2014/main" id="{37FE6389-7171-6ADC-4607-9929255743D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66380" y="4449290"/>
                <a:ext cx="368974" cy="368973"/>
              </a:xfrm>
              <a:prstGeom prst="rect">
                <a:avLst/>
              </a:prstGeom>
            </p:spPr>
          </p:pic>
        </p:grpSp>
      </p:grpSp>
      <p:grpSp>
        <p:nvGrpSpPr>
          <p:cNvPr id="120" name="Group 119">
            <a:extLst>
              <a:ext uri="{FF2B5EF4-FFF2-40B4-BE49-F238E27FC236}">
                <a16:creationId xmlns:a16="http://schemas.microsoft.com/office/drawing/2014/main" id="{F366FF3C-15FC-F93B-A286-8E03F3D5E9AE}"/>
              </a:ext>
            </a:extLst>
          </p:cNvPr>
          <p:cNvGrpSpPr/>
          <p:nvPr/>
        </p:nvGrpSpPr>
        <p:grpSpPr>
          <a:xfrm>
            <a:off x="1301583" y="4673056"/>
            <a:ext cx="2316923" cy="1033126"/>
            <a:chOff x="3426605" y="2186776"/>
            <a:chExt cx="2316923" cy="1033126"/>
          </a:xfrm>
        </p:grpSpPr>
        <p:grpSp>
          <p:nvGrpSpPr>
            <p:cNvPr id="42" name="Group 41">
              <a:extLst>
                <a:ext uri="{FF2B5EF4-FFF2-40B4-BE49-F238E27FC236}">
                  <a16:creationId xmlns:a16="http://schemas.microsoft.com/office/drawing/2014/main" id="{233C866F-3B2D-D611-EEB1-DEB64496A9F9}"/>
                </a:ext>
              </a:extLst>
            </p:cNvPr>
            <p:cNvGrpSpPr/>
            <p:nvPr/>
          </p:nvGrpSpPr>
          <p:grpSpPr>
            <a:xfrm>
              <a:off x="4710402" y="2186776"/>
              <a:ext cx="1033126" cy="1033126"/>
              <a:chOff x="5348994" y="2945705"/>
              <a:chExt cx="1033126" cy="1033126"/>
            </a:xfrm>
          </p:grpSpPr>
          <p:sp>
            <p:nvSpPr>
              <p:cNvPr id="90" name="Rectangle: Rounded Corners 17">
                <a:extLst>
                  <a:ext uri="{FF2B5EF4-FFF2-40B4-BE49-F238E27FC236}">
                    <a16:creationId xmlns:a16="http://schemas.microsoft.com/office/drawing/2014/main" id="{7A235DC8-9E05-9D79-AB19-F4E62DD87C8F}"/>
                  </a:ext>
                </a:extLst>
              </p:cNvPr>
              <p:cNvSpPr/>
              <p:nvPr/>
            </p:nvSpPr>
            <p:spPr bwMode="auto">
              <a:xfrm>
                <a:off x="5348994"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1" name="TextBox 90">
                <a:extLst>
                  <a:ext uri="{FF2B5EF4-FFF2-40B4-BE49-F238E27FC236}">
                    <a16:creationId xmlns:a16="http://schemas.microsoft.com/office/drawing/2014/main" id="{12528E83-F53A-DDF5-B793-2D0569254211}"/>
                  </a:ext>
                </a:extLst>
              </p:cNvPr>
              <p:cNvSpPr txBox="1"/>
              <p:nvPr/>
            </p:nvSpPr>
            <p:spPr>
              <a:xfrm>
                <a:off x="5348994"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Email</a:t>
                </a:r>
              </a:p>
            </p:txBody>
          </p:sp>
          <p:pic>
            <p:nvPicPr>
              <p:cNvPr id="92" name="Graphic 91">
                <a:extLst>
                  <a:ext uri="{FF2B5EF4-FFF2-40B4-BE49-F238E27FC236}">
                    <a16:creationId xmlns:a16="http://schemas.microsoft.com/office/drawing/2014/main" id="{3C95F1A8-21E0-24BC-7EB0-33BEADA676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681070" y="3134013"/>
                <a:ext cx="368974" cy="368974"/>
              </a:xfrm>
              <a:prstGeom prst="rect">
                <a:avLst/>
              </a:prstGeom>
            </p:spPr>
          </p:pic>
        </p:grpSp>
        <p:grpSp>
          <p:nvGrpSpPr>
            <p:cNvPr id="47" name="Group 46">
              <a:extLst>
                <a:ext uri="{FF2B5EF4-FFF2-40B4-BE49-F238E27FC236}">
                  <a16:creationId xmlns:a16="http://schemas.microsoft.com/office/drawing/2014/main" id="{C00DD8E9-C174-50ED-9D03-0B0612DA9C43}"/>
                </a:ext>
              </a:extLst>
            </p:cNvPr>
            <p:cNvGrpSpPr/>
            <p:nvPr/>
          </p:nvGrpSpPr>
          <p:grpSpPr>
            <a:xfrm>
              <a:off x="3426605" y="2186776"/>
              <a:ext cx="1052494" cy="1033126"/>
              <a:chOff x="7766553" y="1690215"/>
              <a:chExt cx="1052494" cy="1033126"/>
            </a:xfrm>
          </p:grpSpPr>
          <p:sp>
            <p:nvSpPr>
              <p:cNvPr id="75" name="Rectangle: Rounded Corners 30">
                <a:extLst>
                  <a:ext uri="{FF2B5EF4-FFF2-40B4-BE49-F238E27FC236}">
                    <a16:creationId xmlns:a16="http://schemas.microsoft.com/office/drawing/2014/main" id="{7167F3A5-BBFC-BC9D-CF4C-15C65B2AF0BC}"/>
                  </a:ext>
                </a:extLst>
              </p:cNvPr>
              <p:cNvSpPr/>
              <p:nvPr/>
            </p:nvSpPr>
            <p:spPr bwMode="auto">
              <a:xfrm>
                <a:off x="7785922" y="1690215"/>
                <a:ext cx="1033125"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6" name="TextBox 75">
                <a:extLst>
                  <a:ext uri="{FF2B5EF4-FFF2-40B4-BE49-F238E27FC236}">
                    <a16:creationId xmlns:a16="http://schemas.microsoft.com/office/drawing/2014/main" id="{4AF93CFB-C94F-42B1-DE61-D02D9F6C917B}"/>
                  </a:ext>
                </a:extLst>
              </p:cNvPr>
              <p:cNvSpPr txBox="1"/>
              <p:nvPr/>
            </p:nvSpPr>
            <p:spPr>
              <a:xfrm>
                <a:off x="7766553" y="2359389"/>
                <a:ext cx="1033125"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Slack</a:t>
                </a:r>
                <a:endParaRPr kumimoji="0" lang="en-US" sz="1000" b="0" i="0" u="none" strike="noStrike" kern="0" cap="none" spc="0" normalizeH="0" baseline="30000" noProof="0">
                  <a:ln>
                    <a:noFill/>
                  </a:ln>
                  <a:solidFill>
                    <a:srgbClr val="000000"/>
                  </a:solidFill>
                  <a:effectLst/>
                  <a:uLnTx/>
                  <a:uFillTx/>
                  <a:latin typeface="Segoe Sans Display" pitchFamily="2" charset="0"/>
                  <a:cs typeface="Segoe Sans Display" pitchFamily="2" charset="0"/>
                </a:endParaRPr>
              </a:p>
            </p:txBody>
          </p:sp>
          <p:pic>
            <p:nvPicPr>
              <p:cNvPr id="77" name="Picture 76" descr="A colorful logo with black background&#10;&#10;AI-generated content may be incorrect.">
                <a:extLst>
                  <a:ext uri="{FF2B5EF4-FFF2-40B4-BE49-F238E27FC236}">
                    <a16:creationId xmlns:a16="http://schemas.microsoft.com/office/drawing/2014/main" id="{ABC71CE8-191D-2031-EB61-79A120A7198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36602" y="1949689"/>
                <a:ext cx="331764" cy="331764"/>
              </a:xfrm>
              <a:prstGeom prst="rect">
                <a:avLst/>
              </a:prstGeom>
            </p:spPr>
          </p:pic>
        </p:grpSp>
      </p:grpSp>
      <p:grpSp>
        <p:nvGrpSpPr>
          <p:cNvPr id="123" name="Group 122">
            <a:extLst>
              <a:ext uri="{FF2B5EF4-FFF2-40B4-BE49-F238E27FC236}">
                <a16:creationId xmlns:a16="http://schemas.microsoft.com/office/drawing/2014/main" id="{DB38D4B0-EFCC-02F4-D3B0-B3E2821FE2F3}"/>
              </a:ext>
            </a:extLst>
          </p:cNvPr>
          <p:cNvGrpSpPr/>
          <p:nvPr/>
        </p:nvGrpSpPr>
        <p:grpSpPr>
          <a:xfrm>
            <a:off x="5631208" y="2250911"/>
            <a:ext cx="4826414" cy="1033126"/>
            <a:chOff x="18619121" y="2186776"/>
            <a:chExt cx="4826414" cy="1033126"/>
          </a:xfrm>
        </p:grpSpPr>
        <p:grpSp>
          <p:nvGrpSpPr>
            <p:cNvPr id="11" name="Group 10">
              <a:extLst>
                <a:ext uri="{FF2B5EF4-FFF2-40B4-BE49-F238E27FC236}">
                  <a16:creationId xmlns:a16="http://schemas.microsoft.com/office/drawing/2014/main" id="{5F50A005-F911-C7C1-5B6D-F56897F80D26}"/>
                </a:ext>
              </a:extLst>
            </p:cNvPr>
            <p:cNvGrpSpPr/>
            <p:nvPr/>
          </p:nvGrpSpPr>
          <p:grpSpPr>
            <a:xfrm>
              <a:off x="18619121" y="2186776"/>
              <a:ext cx="1033126" cy="1033126"/>
              <a:chOff x="6586532" y="4253410"/>
              <a:chExt cx="1033126" cy="1033126"/>
            </a:xfrm>
          </p:grpSpPr>
          <p:sp>
            <p:nvSpPr>
              <p:cNvPr id="20" name="Rectangle: Rounded Corners 42">
                <a:extLst>
                  <a:ext uri="{FF2B5EF4-FFF2-40B4-BE49-F238E27FC236}">
                    <a16:creationId xmlns:a16="http://schemas.microsoft.com/office/drawing/2014/main" id="{63BE73F8-225A-DDBB-31D1-59B9A5C9C37F}"/>
                  </a:ext>
                </a:extLst>
              </p:cNvPr>
              <p:cNvSpPr/>
              <p:nvPr/>
            </p:nvSpPr>
            <p:spPr bwMode="auto">
              <a:xfrm>
                <a:off x="6586532" y="425341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3" name="TextBox 22">
                <a:extLst>
                  <a:ext uri="{FF2B5EF4-FFF2-40B4-BE49-F238E27FC236}">
                    <a16:creationId xmlns:a16="http://schemas.microsoft.com/office/drawing/2014/main" id="{C5F59A4A-BB49-59DC-D923-EE9A23483D46}"/>
                  </a:ext>
                </a:extLst>
              </p:cNvPr>
              <p:cNvSpPr txBox="1"/>
              <p:nvPr/>
            </p:nvSpPr>
            <p:spPr>
              <a:xfrm>
                <a:off x="6586532" y="492366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Kik</a:t>
                </a:r>
              </a:p>
            </p:txBody>
          </p:sp>
          <p:pic>
            <p:nvPicPr>
              <p:cNvPr id="24" name="Picture 23" descr="A green letter k with a black background&#10;&#10;AI-generated content may be incorrect.">
                <a:extLst>
                  <a:ext uri="{FF2B5EF4-FFF2-40B4-BE49-F238E27FC236}">
                    <a16:creationId xmlns:a16="http://schemas.microsoft.com/office/drawing/2014/main" id="{9F3B6544-0A13-A387-1F92-E2842DEB43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08643" y="4439324"/>
                <a:ext cx="388905" cy="388905"/>
              </a:xfrm>
              <a:prstGeom prst="rect">
                <a:avLst/>
              </a:prstGeom>
            </p:spPr>
          </p:pic>
        </p:grpSp>
        <p:grpSp>
          <p:nvGrpSpPr>
            <p:cNvPr id="12" name="Group 11">
              <a:extLst>
                <a:ext uri="{FF2B5EF4-FFF2-40B4-BE49-F238E27FC236}">
                  <a16:creationId xmlns:a16="http://schemas.microsoft.com/office/drawing/2014/main" id="{D53CDC28-7E1C-1615-915A-1BB054F491B6}"/>
                </a:ext>
              </a:extLst>
            </p:cNvPr>
            <p:cNvGrpSpPr/>
            <p:nvPr/>
          </p:nvGrpSpPr>
          <p:grpSpPr>
            <a:xfrm>
              <a:off x="19883550" y="2186776"/>
              <a:ext cx="1033126" cy="1033126"/>
              <a:chOff x="7822836" y="4239019"/>
              <a:chExt cx="1033126" cy="1033126"/>
            </a:xfrm>
          </p:grpSpPr>
          <p:sp>
            <p:nvSpPr>
              <p:cNvPr id="15" name="Rectangle: Rounded Corners 44">
                <a:extLst>
                  <a:ext uri="{FF2B5EF4-FFF2-40B4-BE49-F238E27FC236}">
                    <a16:creationId xmlns:a16="http://schemas.microsoft.com/office/drawing/2014/main" id="{7C1A88E3-4900-56C1-715B-51F828584251}"/>
                  </a:ext>
                </a:extLst>
              </p:cNvPr>
              <p:cNvSpPr/>
              <p:nvPr/>
            </p:nvSpPr>
            <p:spPr bwMode="auto">
              <a:xfrm>
                <a:off x="7822836"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6" name="TextBox 15">
                <a:extLst>
                  <a:ext uri="{FF2B5EF4-FFF2-40B4-BE49-F238E27FC236}">
                    <a16:creationId xmlns:a16="http://schemas.microsoft.com/office/drawing/2014/main" id="{2B0ED2FD-C8BC-1DEE-7710-98ADC13AA722}"/>
                  </a:ext>
                </a:extLst>
              </p:cNvPr>
              <p:cNvSpPr txBox="1"/>
              <p:nvPr/>
            </p:nvSpPr>
            <p:spPr>
              <a:xfrm>
                <a:off x="7822836"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Phone</a:t>
                </a:r>
              </a:p>
            </p:txBody>
          </p:sp>
          <p:sp>
            <p:nvSpPr>
              <p:cNvPr id="18" name="Graphic 28">
                <a:extLst>
                  <a:ext uri="{FF2B5EF4-FFF2-40B4-BE49-F238E27FC236}">
                    <a16:creationId xmlns:a16="http://schemas.microsoft.com/office/drawing/2014/main" id="{6CA5B3CA-1D2A-3366-C777-1E6BCCBE472C}"/>
                  </a:ext>
                  <a:ext uri="{C183D7F6-B498-43B3-948B-1728B52AA6E4}">
                    <adec:decorative xmlns:adec="http://schemas.microsoft.com/office/drawing/2017/decorative" val="1"/>
                  </a:ext>
                </a:extLst>
              </p:cNvPr>
              <p:cNvSpPr>
                <a:spLocks/>
              </p:cNvSpPr>
              <p:nvPr/>
            </p:nvSpPr>
            <p:spPr>
              <a:xfrm>
                <a:off x="8241797" y="4494345"/>
                <a:ext cx="195204" cy="278863"/>
              </a:xfrm>
              <a:custGeom>
                <a:avLst/>
                <a:gdLst>
                  <a:gd name="connsiteX0" fmla="*/ 27042 w 160218"/>
                  <a:gd name="connsiteY0" fmla="*/ 5024 h 228883"/>
                  <a:gd name="connsiteX1" fmla="*/ 39362 w 160218"/>
                  <a:gd name="connsiteY1" fmla="*/ 1087 h 228883"/>
                  <a:gd name="connsiteX2" fmla="*/ 68187 w 160218"/>
                  <a:gd name="connsiteY2" fmla="*/ 15018 h 228883"/>
                  <a:gd name="connsiteX3" fmla="*/ 78025 w 160218"/>
                  <a:gd name="connsiteY3" fmla="*/ 38220 h 228883"/>
                  <a:gd name="connsiteX4" fmla="*/ 72143 w 160218"/>
                  <a:gd name="connsiteY4" fmla="*/ 67614 h 228883"/>
                  <a:gd name="connsiteX5" fmla="*/ 50465 w 160218"/>
                  <a:gd name="connsiteY5" fmla="*/ 88191 h 228883"/>
                  <a:gd name="connsiteX6" fmla="*/ 62877 w 160218"/>
                  <a:gd name="connsiteY6" fmla="*/ 124549 h 228883"/>
                  <a:gd name="connsiteX7" fmla="*/ 88866 w 160218"/>
                  <a:gd name="connsiteY7" fmla="*/ 154240 h 228883"/>
                  <a:gd name="connsiteX8" fmla="*/ 114904 w 160218"/>
                  <a:gd name="connsiteY8" fmla="*/ 145557 h 228883"/>
                  <a:gd name="connsiteX9" fmla="*/ 141576 w 160218"/>
                  <a:gd name="connsiteY9" fmla="*/ 154943 h 228883"/>
                  <a:gd name="connsiteX10" fmla="*/ 155680 w 160218"/>
                  <a:gd name="connsiteY10" fmla="*/ 175662 h 228883"/>
                  <a:gd name="connsiteX11" fmla="*/ 152719 w 160218"/>
                  <a:gd name="connsiteY11" fmla="*/ 209031 h 228883"/>
                  <a:gd name="connsiteX12" fmla="*/ 143360 w 160218"/>
                  <a:gd name="connsiteY12" fmla="*/ 218426 h 228883"/>
                  <a:gd name="connsiteX13" fmla="*/ 108435 w 160218"/>
                  <a:gd name="connsiteY13" fmla="*/ 227330 h 228883"/>
                  <a:gd name="connsiteX14" fmla="*/ 28292 w 160218"/>
                  <a:gd name="connsiteY14" fmla="*/ 146608 h 228883"/>
                  <a:gd name="connsiteX15" fmla="*/ 2448 w 160218"/>
                  <a:gd name="connsiteY15" fmla="*/ 32534 h 228883"/>
                  <a:gd name="connsiteX16" fmla="*/ 27042 w 160218"/>
                  <a:gd name="connsiteY16" fmla="*/ 5024 h 228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218" h="228883">
                    <a:moveTo>
                      <a:pt x="27042" y="5024"/>
                    </a:moveTo>
                    <a:lnTo>
                      <a:pt x="39362" y="1087"/>
                    </a:lnTo>
                    <a:cubicBezTo>
                      <a:pt x="50907" y="-2602"/>
                      <a:pt x="63243" y="3360"/>
                      <a:pt x="68187" y="15018"/>
                    </a:cubicBezTo>
                    <a:lnTo>
                      <a:pt x="78025" y="38220"/>
                    </a:lnTo>
                    <a:cubicBezTo>
                      <a:pt x="82313" y="48330"/>
                      <a:pt x="79934" y="60220"/>
                      <a:pt x="72143" y="67614"/>
                    </a:cubicBezTo>
                    <a:lnTo>
                      <a:pt x="50465" y="88191"/>
                    </a:lnTo>
                    <a:cubicBezTo>
                      <a:pt x="51802" y="100498"/>
                      <a:pt x="55939" y="112617"/>
                      <a:pt x="62877" y="124549"/>
                    </a:cubicBezTo>
                    <a:cubicBezTo>
                      <a:pt x="69813" y="136480"/>
                      <a:pt x="78476" y="146377"/>
                      <a:pt x="88866" y="154240"/>
                    </a:cubicBezTo>
                    <a:lnTo>
                      <a:pt x="114904" y="145557"/>
                    </a:lnTo>
                    <a:cubicBezTo>
                      <a:pt x="124774" y="142266"/>
                      <a:pt x="135522" y="146048"/>
                      <a:pt x="141576" y="154943"/>
                    </a:cubicBezTo>
                    <a:lnTo>
                      <a:pt x="155680" y="175662"/>
                    </a:lnTo>
                    <a:cubicBezTo>
                      <a:pt x="162717" y="186001"/>
                      <a:pt x="161451" y="200265"/>
                      <a:pt x="152719" y="209031"/>
                    </a:cubicBezTo>
                    <a:lnTo>
                      <a:pt x="143360" y="218426"/>
                    </a:lnTo>
                    <a:cubicBezTo>
                      <a:pt x="134046" y="227777"/>
                      <a:pt x="120742" y="231169"/>
                      <a:pt x="108435" y="227330"/>
                    </a:cubicBezTo>
                    <a:cubicBezTo>
                      <a:pt x="79379" y="218267"/>
                      <a:pt x="52665" y="191359"/>
                      <a:pt x="28292" y="146608"/>
                    </a:cubicBezTo>
                    <a:cubicBezTo>
                      <a:pt x="3883" y="101790"/>
                      <a:pt x="-4732" y="63766"/>
                      <a:pt x="2448" y="32534"/>
                    </a:cubicBezTo>
                    <a:cubicBezTo>
                      <a:pt x="5469" y="19393"/>
                      <a:pt x="14825" y="8927"/>
                      <a:pt x="27042" y="5024"/>
                    </a:cubicBezTo>
                    <a:close/>
                  </a:path>
                </a:pathLst>
              </a:custGeom>
              <a:solidFill>
                <a:srgbClr val="0078D4"/>
              </a:solidFill>
              <a:ln w="17463" cap="flat">
                <a:noFill/>
                <a:prstDash val="solid"/>
                <a:miter/>
              </a:ln>
            </p:spPr>
            <p:txBody>
              <a:bodyPr wrap="square" lIns="0" tIns="0" rIns="0" bIns="0" rtlCol="0" anchor="ctr" anchorCtr="0">
                <a:noAutofit/>
              </a:bodyPr>
              <a:lstStyle/>
              <a:p>
                <a:pPr marL="0" marR="0" lvl="0" indent="0" algn="ctr" defTabSz="914400" eaLnBrk="1" fontAlgn="base" latinLnBrk="0" hangingPunct="1">
                  <a:lnSpc>
                    <a:spcPct val="100000"/>
                  </a:lnSpc>
                  <a:spcBef>
                    <a:spcPct val="0"/>
                  </a:spcBef>
                  <a:spcAft>
                    <a:spcPts val="1200"/>
                  </a:spcAft>
                  <a:buClrTx/>
                  <a:buSzPct val="90000"/>
                  <a:buFontTx/>
                  <a:buNone/>
                  <a:tabLst/>
                  <a:defRPr/>
                </a:pPr>
                <a:endParaRPr kumimoji="0" lang="en-US" sz="2400" b="1" i="0" u="none" strike="noStrike" kern="0" cap="none" spc="0" normalizeH="0" baseline="0" noProof="0">
                  <a:ln>
                    <a:noFill/>
                  </a:ln>
                  <a:solidFill>
                    <a:srgbClr val="FFFFFF"/>
                  </a:solidFill>
                  <a:effectLst/>
                  <a:uLnTx/>
                  <a:uFillTx/>
                  <a:latin typeface="Segoe UI Semibold"/>
                </a:endParaRPr>
              </a:p>
            </p:txBody>
          </p:sp>
        </p:grpSp>
        <p:grpSp>
          <p:nvGrpSpPr>
            <p:cNvPr id="39" name="Group 38">
              <a:extLst>
                <a:ext uri="{FF2B5EF4-FFF2-40B4-BE49-F238E27FC236}">
                  <a16:creationId xmlns:a16="http://schemas.microsoft.com/office/drawing/2014/main" id="{0D6B7BD9-EA3B-60CF-B189-54E32E42EA87}"/>
                </a:ext>
              </a:extLst>
            </p:cNvPr>
            <p:cNvGrpSpPr/>
            <p:nvPr/>
          </p:nvGrpSpPr>
          <p:grpSpPr>
            <a:xfrm>
              <a:off x="22412407" y="2186776"/>
              <a:ext cx="1033128" cy="1033126"/>
              <a:chOff x="2934304" y="2942619"/>
              <a:chExt cx="1033128" cy="1033126"/>
            </a:xfrm>
          </p:grpSpPr>
          <p:sp>
            <p:nvSpPr>
              <p:cNvPr id="99" name="Rectangle: Rounded Corners 6">
                <a:extLst>
                  <a:ext uri="{FF2B5EF4-FFF2-40B4-BE49-F238E27FC236}">
                    <a16:creationId xmlns:a16="http://schemas.microsoft.com/office/drawing/2014/main" id="{5FA8D881-0CCD-CC2A-6525-6CE14C4050B8}"/>
                  </a:ext>
                </a:extLst>
              </p:cNvPr>
              <p:cNvSpPr/>
              <p:nvPr/>
            </p:nvSpPr>
            <p:spPr bwMode="auto">
              <a:xfrm>
                <a:off x="2934304" y="29426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100" name="TextBox 99">
                <a:extLst>
                  <a:ext uri="{FF2B5EF4-FFF2-40B4-BE49-F238E27FC236}">
                    <a16:creationId xmlns:a16="http://schemas.microsoft.com/office/drawing/2014/main" id="{80BB6CE0-51C4-9C1C-DA1A-492403E8EB22}"/>
                  </a:ext>
                </a:extLst>
              </p:cNvPr>
              <p:cNvSpPr txBox="1"/>
              <p:nvPr/>
            </p:nvSpPr>
            <p:spPr>
              <a:xfrm>
                <a:off x="2934306" y="36128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Mobile app</a:t>
                </a:r>
              </a:p>
            </p:txBody>
          </p:sp>
          <p:pic>
            <p:nvPicPr>
              <p:cNvPr id="101" name="Graphic 100">
                <a:extLst>
                  <a:ext uri="{FF2B5EF4-FFF2-40B4-BE49-F238E27FC236}">
                    <a16:creationId xmlns:a16="http://schemas.microsoft.com/office/drawing/2014/main" id="{C321E3ED-410E-4C08-94ED-A073A3F9EB3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66382" y="3134013"/>
                <a:ext cx="368974" cy="368974"/>
              </a:xfrm>
              <a:prstGeom prst="rect">
                <a:avLst/>
              </a:prstGeom>
            </p:spPr>
          </p:pic>
        </p:grpSp>
        <p:grpSp>
          <p:nvGrpSpPr>
            <p:cNvPr id="40" name="Group 39">
              <a:extLst>
                <a:ext uri="{FF2B5EF4-FFF2-40B4-BE49-F238E27FC236}">
                  <a16:creationId xmlns:a16="http://schemas.microsoft.com/office/drawing/2014/main" id="{67CD6B4E-3E25-71D6-7220-22B767784468}"/>
                </a:ext>
              </a:extLst>
            </p:cNvPr>
            <p:cNvGrpSpPr/>
            <p:nvPr/>
          </p:nvGrpSpPr>
          <p:grpSpPr>
            <a:xfrm>
              <a:off x="21147979" y="2186776"/>
              <a:ext cx="1033129" cy="1033126"/>
              <a:chOff x="2934304" y="1676150"/>
              <a:chExt cx="1033129" cy="1033126"/>
            </a:xfrm>
          </p:grpSpPr>
          <p:sp>
            <p:nvSpPr>
              <p:cNvPr id="96" name="Rectangle: Rounded Corners 9">
                <a:extLst>
                  <a:ext uri="{FF2B5EF4-FFF2-40B4-BE49-F238E27FC236}">
                    <a16:creationId xmlns:a16="http://schemas.microsoft.com/office/drawing/2014/main" id="{AF083535-9387-4FD8-C039-AB19D9CA98BA}"/>
                  </a:ext>
                </a:extLst>
              </p:cNvPr>
              <p:cNvSpPr/>
              <p:nvPr/>
            </p:nvSpPr>
            <p:spPr bwMode="auto">
              <a:xfrm>
                <a:off x="2934304" y="1676150"/>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97" name="TextBox 96">
                <a:extLst>
                  <a:ext uri="{FF2B5EF4-FFF2-40B4-BE49-F238E27FC236}">
                    <a16:creationId xmlns:a16="http://schemas.microsoft.com/office/drawing/2014/main" id="{9492D93E-9AF5-E0F5-A9E7-B9895F4DE556}"/>
                  </a:ext>
                </a:extLst>
              </p:cNvPr>
              <p:cNvSpPr txBox="1"/>
              <p:nvPr/>
            </p:nvSpPr>
            <p:spPr>
              <a:xfrm>
                <a:off x="2934306" y="2359389"/>
                <a:ext cx="1033127"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Website</a:t>
                </a:r>
              </a:p>
            </p:txBody>
          </p:sp>
          <p:pic>
            <p:nvPicPr>
              <p:cNvPr id="98" name="Graphic 97">
                <a:extLst>
                  <a:ext uri="{FF2B5EF4-FFF2-40B4-BE49-F238E27FC236}">
                    <a16:creationId xmlns:a16="http://schemas.microsoft.com/office/drawing/2014/main" id="{5EB6BBDE-9EDA-9F39-4677-01036D81BF2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66383" y="1931084"/>
                <a:ext cx="368974" cy="368974"/>
              </a:xfrm>
              <a:prstGeom prst="rect">
                <a:avLst/>
              </a:prstGeom>
            </p:spPr>
          </p:pic>
        </p:grpSp>
      </p:grpSp>
      <p:grpSp>
        <p:nvGrpSpPr>
          <p:cNvPr id="122" name="Group 121">
            <a:extLst>
              <a:ext uri="{FF2B5EF4-FFF2-40B4-BE49-F238E27FC236}">
                <a16:creationId xmlns:a16="http://schemas.microsoft.com/office/drawing/2014/main" id="{FE8465E4-FBC4-472A-0302-FD9FF812DA1B}"/>
              </a:ext>
            </a:extLst>
          </p:cNvPr>
          <p:cNvGrpSpPr/>
          <p:nvPr/>
        </p:nvGrpSpPr>
        <p:grpSpPr>
          <a:xfrm>
            <a:off x="4998994" y="3461984"/>
            <a:ext cx="6090842" cy="1033126"/>
            <a:chOff x="12296976" y="2186776"/>
            <a:chExt cx="6090842" cy="1033126"/>
          </a:xfrm>
        </p:grpSpPr>
        <p:grpSp>
          <p:nvGrpSpPr>
            <p:cNvPr id="5" name="Group 4">
              <a:extLst>
                <a:ext uri="{FF2B5EF4-FFF2-40B4-BE49-F238E27FC236}">
                  <a16:creationId xmlns:a16="http://schemas.microsoft.com/office/drawing/2014/main" id="{029120C8-407C-EA22-3766-A233C5F3557B}"/>
                </a:ext>
              </a:extLst>
            </p:cNvPr>
            <p:cNvGrpSpPr/>
            <p:nvPr/>
          </p:nvGrpSpPr>
          <p:grpSpPr>
            <a:xfrm>
              <a:off x="16090263" y="2186776"/>
              <a:ext cx="1033126" cy="1033126"/>
              <a:chOff x="4149754" y="4239019"/>
              <a:chExt cx="1033126" cy="1033126"/>
            </a:xfrm>
          </p:grpSpPr>
          <p:sp>
            <p:nvSpPr>
              <p:cNvPr id="32" name="Rectangle: Rounded Corners 35">
                <a:extLst>
                  <a:ext uri="{FF2B5EF4-FFF2-40B4-BE49-F238E27FC236}">
                    <a16:creationId xmlns:a16="http://schemas.microsoft.com/office/drawing/2014/main" id="{912B0205-F39B-C213-14AE-FAA187059ECD}"/>
                  </a:ext>
                </a:extLst>
              </p:cNvPr>
              <p:cNvSpPr/>
              <p:nvPr/>
            </p:nvSpPr>
            <p:spPr bwMode="auto">
              <a:xfrm>
                <a:off x="4149754"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33" name="TextBox 32">
                <a:extLst>
                  <a:ext uri="{FF2B5EF4-FFF2-40B4-BE49-F238E27FC236}">
                    <a16:creationId xmlns:a16="http://schemas.microsoft.com/office/drawing/2014/main" id="{0C6D2E27-5689-580C-5EF5-477734A11481}"/>
                  </a:ext>
                </a:extLst>
              </p:cNvPr>
              <p:cNvSpPr txBox="1"/>
              <p:nvPr/>
            </p:nvSpPr>
            <p:spPr>
              <a:xfrm>
                <a:off x="4149754"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SMS*</a:t>
                </a:r>
              </a:p>
            </p:txBody>
          </p:sp>
          <p:pic>
            <p:nvPicPr>
              <p:cNvPr id="34" name="Graphic 33">
                <a:extLst>
                  <a:ext uri="{FF2B5EF4-FFF2-40B4-BE49-F238E27FC236}">
                    <a16:creationId xmlns:a16="http://schemas.microsoft.com/office/drawing/2014/main" id="{CF66B914-D42C-56DB-5DB5-05B88CE1BF5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81830" y="4449289"/>
                <a:ext cx="368974" cy="368974"/>
              </a:xfrm>
              <a:prstGeom prst="rect">
                <a:avLst/>
              </a:prstGeom>
            </p:spPr>
          </p:pic>
        </p:grpSp>
        <p:grpSp>
          <p:nvGrpSpPr>
            <p:cNvPr id="10" name="Group 9">
              <a:extLst>
                <a:ext uri="{FF2B5EF4-FFF2-40B4-BE49-F238E27FC236}">
                  <a16:creationId xmlns:a16="http://schemas.microsoft.com/office/drawing/2014/main" id="{1CE3D074-9D3D-84BE-145C-2567B62D7E58}"/>
                </a:ext>
              </a:extLst>
            </p:cNvPr>
            <p:cNvGrpSpPr/>
            <p:nvPr/>
          </p:nvGrpSpPr>
          <p:grpSpPr>
            <a:xfrm>
              <a:off x="12296976" y="2186776"/>
              <a:ext cx="1033126" cy="1033126"/>
              <a:chOff x="5354432" y="4239019"/>
              <a:chExt cx="1033126" cy="1033126"/>
            </a:xfrm>
          </p:grpSpPr>
          <p:sp>
            <p:nvSpPr>
              <p:cNvPr id="25" name="Rectangle: Rounded Corners 40">
                <a:extLst>
                  <a:ext uri="{FF2B5EF4-FFF2-40B4-BE49-F238E27FC236}">
                    <a16:creationId xmlns:a16="http://schemas.microsoft.com/office/drawing/2014/main" id="{C28289B9-3F93-ACC2-449C-4CD5D7CEF8F0}"/>
                  </a:ext>
                </a:extLst>
              </p:cNvPr>
              <p:cNvSpPr/>
              <p:nvPr/>
            </p:nvSpPr>
            <p:spPr bwMode="auto">
              <a:xfrm>
                <a:off x="5354432" y="4239019"/>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26" name="TextBox 25">
                <a:extLst>
                  <a:ext uri="{FF2B5EF4-FFF2-40B4-BE49-F238E27FC236}">
                    <a16:creationId xmlns:a16="http://schemas.microsoft.com/office/drawing/2014/main" id="{6CD12D7F-E40E-C059-D2A6-DDB5FE3BC371}"/>
                  </a:ext>
                </a:extLst>
              </p:cNvPr>
              <p:cNvSpPr txBox="1"/>
              <p:nvPr/>
            </p:nvSpPr>
            <p:spPr>
              <a:xfrm>
                <a:off x="5354432" y="4909277"/>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Telegram</a:t>
                </a:r>
              </a:p>
            </p:txBody>
          </p:sp>
          <p:pic>
            <p:nvPicPr>
              <p:cNvPr id="28" name="Picture 27" descr="A blue circle with a white triangle in it&#10;&#10;AI-generated content may be incorrect.">
                <a:extLst>
                  <a:ext uri="{FF2B5EF4-FFF2-40B4-BE49-F238E27FC236}">
                    <a16:creationId xmlns:a16="http://schemas.microsoft.com/office/drawing/2014/main" id="{1DC63DD6-F96D-2206-4C09-B1651425923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694832" y="4457613"/>
                <a:ext cx="352326" cy="352326"/>
              </a:xfrm>
              <a:prstGeom prst="rect">
                <a:avLst/>
              </a:prstGeom>
            </p:spPr>
          </p:pic>
        </p:grpSp>
        <p:grpSp>
          <p:nvGrpSpPr>
            <p:cNvPr id="41" name="Group 40">
              <a:extLst>
                <a:ext uri="{FF2B5EF4-FFF2-40B4-BE49-F238E27FC236}">
                  <a16:creationId xmlns:a16="http://schemas.microsoft.com/office/drawing/2014/main" id="{266DC7D5-39A8-029E-9B25-02C09D5E9B07}"/>
                </a:ext>
              </a:extLst>
            </p:cNvPr>
            <p:cNvGrpSpPr/>
            <p:nvPr/>
          </p:nvGrpSpPr>
          <p:grpSpPr>
            <a:xfrm>
              <a:off x="14825834" y="2186776"/>
              <a:ext cx="1033126" cy="1033126"/>
              <a:chOff x="6567458" y="1690215"/>
              <a:chExt cx="1033126" cy="1033126"/>
            </a:xfrm>
          </p:grpSpPr>
          <p:sp>
            <p:nvSpPr>
              <p:cNvPr id="93" name="Rectangle: Rounded Corners 14">
                <a:extLst>
                  <a:ext uri="{FF2B5EF4-FFF2-40B4-BE49-F238E27FC236}">
                    <a16:creationId xmlns:a16="http://schemas.microsoft.com/office/drawing/2014/main" id="{DB18BF71-D66E-C257-4520-93FF1818E2B4}"/>
                  </a:ext>
                </a:extLst>
              </p:cNvPr>
              <p:cNvSpPr/>
              <p:nvPr/>
            </p:nvSpPr>
            <p:spPr bwMode="auto">
              <a:xfrm>
                <a:off x="6567458"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94" name="TextBox 93">
                <a:extLst>
                  <a:ext uri="{FF2B5EF4-FFF2-40B4-BE49-F238E27FC236}">
                    <a16:creationId xmlns:a16="http://schemas.microsoft.com/office/drawing/2014/main" id="{497D5C33-2F49-D377-B867-9050838A8FC2}"/>
                  </a:ext>
                </a:extLst>
              </p:cNvPr>
              <p:cNvSpPr txBox="1"/>
              <p:nvPr/>
            </p:nvSpPr>
            <p:spPr>
              <a:xfrm>
                <a:off x="6567458"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Facebook</a:t>
                </a:r>
              </a:p>
            </p:txBody>
          </p:sp>
          <p:pic>
            <p:nvPicPr>
              <p:cNvPr id="95" name="Picture 94">
                <a:extLst>
                  <a:ext uri="{FF2B5EF4-FFF2-40B4-BE49-F238E27FC236}">
                    <a16:creationId xmlns:a16="http://schemas.microsoft.com/office/drawing/2014/main" id="{4FFEBC81-53DE-D150-EDC8-132AD7E692B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920288" y="1920820"/>
                <a:ext cx="327467" cy="327467"/>
              </a:xfrm>
              <a:prstGeom prst="rect">
                <a:avLst/>
              </a:prstGeom>
            </p:spPr>
          </p:pic>
        </p:grpSp>
        <p:grpSp>
          <p:nvGrpSpPr>
            <p:cNvPr id="44" name="Group 43">
              <a:extLst>
                <a:ext uri="{FF2B5EF4-FFF2-40B4-BE49-F238E27FC236}">
                  <a16:creationId xmlns:a16="http://schemas.microsoft.com/office/drawing/2014/main" id="{DF2042E2-EB25-F44B-AF23-ACDE688F8BB5}"/>
                </a:ext>
              </a:extLst>
            </p:cNvPr>
            <p:cNvGrpSpPr/>
            <p:nvPr/>
          </p:nvGrpSpPr>
          <p:grpSpPr>
            <a:xfrm>
              <a:off x="13561405" y="2186776"/>
              <a:ext cx="1033126" cy="1033126"/>
              <a:chOff x="5348994" y="1690215"/>
              <a:chExt cx="1033126" cy="1033126"/>
            </a:xfrm>
          </p:grpSpPr>
          <p:sp>
            <p:nvSpPr>
              <p:cNvPr id="84" name="Rectangle: Rounded Corners 25">
                <a:extLst>
                  <a:ext uri="{FF2B5EF4-FFF2-40B4-BE49-F238E27FC236}">
                    <a16:creationId xmlns:a16="http://schemas.microsoft.com/office/drawing/2014/main" id="{B4FDAB1C-64DE-C558-1AA7-46FCC76A22F9}"/>
                  </a:ext>
                </a:extLst>
              </p:cNvPr>
              <p:cNvSpPr/>
              <p:nvPr/>
            </p:nvSpPr>
            <p:spPr bwMode="auto">
              <a:xfrm>
                <a:off x="5348994" y="169021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5" name="TextBox 84">
                <a:extLst>
                  <a:ext uri="{FF2B5EF4-FFF2-40B4-BE49-F238E27FC236}">
                    <a16:creationId xmlns:a16="http://schemas.microsoft.com/office/drawing/2014/main" id="{4845557B-252F-82B5-CBE0-6BA29FB54264}"/>
                  </a:ext>
                </a:extLst>
              </p:cNvPr>
              <p:cNvSpPr txBox="1"/>
              <p:nvPr/>
            </p:nvSpPr>
            <p:spPr>
              <a:xfrm>
                <a:off x="5348994" y="2359389"/>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WhatsApp</a:t>
                </a:r>
              </a:p>
            </p:txBody>
          </p:sp>
          <p:pic>
            <p:nvPicPr>
              <p:cNvPr id="86" name="Picture 4" descr="undefined">
                <a:extLst>
                  <a:ext uri="{FF2B5EF4-FFF2-40B4-BE49-F238E27FC236}">
                    <a16:creationId xmlns:a16="http://schemas.microsoft.com/office/drawing/2014/main" id="{6ED7A193-3DC9-46B1-9F80-4D733166863B}"/>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662067" y="1890707"/>
                <a:ext cx="406981" cy="40935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9" name="Group 48">
              <a:extLst>
                <a:ext uri="{FF2B5EF4-FFF2-40B4-BE49-F238E27FC236}">
                  <a16:creationId xmlns:a16="http://schemas.microsoft.com/office/drawing/2014/main" id="{8613D3C9-3801-C115-055B-639EC4FDCFB9}"/>
                </a:ext>
              </a:extLst>
            </p:cNvPr>
            <p:cNvGrpSpPr/>
            <p:nvPr/>
          </p:nvGrpSpPr>
          <p:grpSpPr>
            <a:xfrm>
              <a:off x="17354692" y="2186776"/>
              <a:ext cx="1033126" cy="1033126"/>
              <a:chOff x="6575878" y="2945705"/>
              <a:chExt cx="1033126" cy="1033126"/>
            </a:xfrm>
          </p:grpSpPr>
          <p:sp>
            <p:nvSpPr>
              <p:cNvPr id="69" name="Rectangle: Rounded Corners 38">
                <a:extLst>
                  <a:ext uri="{FF2B5EF4-FFF2-40B4-BE49-F238E27FC236}">
                    <a16:creationId xmlns:a16="http://schemas.microsoft.com/office/drawing/2014/main" id="{A55A0E7E-4F77-17AB-C6CF-AF8FA95D3EFE}"/>
                  </a:ext>
                </a:extLst>
              </p:cNvPr>
              <p:cNvSpPr/>
              <p:nvPr/>
            </p:nvSpPr>
            <p:spPr bwMode="auto">
              <a:xfrm>
                <a:off x="657587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0" name="TextBox 69">
                <a:extLst>
                  <a:ext uri="{FF2B5EF4-FFF2-40B4-BE49-F238E27FC236}">
                    <a16:creationId xmlns:a16="http://schemas.microsoft.com/office/drawing/2014/main" id="{0F1689AA-DED4-32A7-86BE-9D99677D607B}"/>
                  </a:ext>
                </a:extLst>
              </p:cNvPr>
              <p:cNvSpPr txBox="1"/>
              <p:nvPr/>
            </p:nvSpPr>
            <p:spPr>
              <a:xfrm>
                <a:off x="6575878" y="3615963"/>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GroupMe</a:t>
                </a:r>
              </a:p>
            </p:txBody>
          </p:sp>
          <p:pic>
            <p:nvPicPr>
              <p:cNvPr id="71" name="Picture 70" descr="A blue square with a white face and a hashtag&#10;&#10;AI-generated content may be incorrect.">
                <a:extLst>
                  <a:ext uri="{FF2B5EF4-FFF2-40B4-BE49-F238E27FC236}">
                    <a16:creationId xmlns:a16="http://schemas.microsoft.com/office/drawing/2014/main" id="{B8D47CB0-51F5-1431-6A5F-03B988A066A3}"/>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914089" y="3140148"/>
                <a:ext cx="356705" cy="356705"/>
              </a:xfrm>
              <a:prstGeom prst="rect">
                <a:avLst/>
              </a:prstGeom>
            </p:spPr>
          </p:pic>
        </p:grpSp>
      </p:grpSp>
      <p:grpSp>
        <p:nvGrpSpPr>
          <p:cNvPr id="119" name="Group 118">
            <a:extLst>
              <a:ext uri="{FF2B5EF4-FFF2-40B4-BE49-F238E27FC236}">
                <a16:creationId xmlns:a16="http://schemas.microsoft.com/office/drawing/2014/main" id="{596DA3B9-5CB9-135E-9118-80D20BEAE178}"/>
              </a:ext>
            </a:extLst>
          </p:cNvPr>
          <p:cNvGrpSpPr/>
          <p:nvPr/>
        </p:nvGrpSpPr>
        <p:grpSpPr>
          <a:xfrm>
            <a:off x="1311266" y="3461984"/>
            <a:ext cx="2297557" cy="1033126"/>
            <a:chOff x="897745" y="2186776"/>
            <a:chExt cx="2297557" cy="1033126"/>
          </a:xfrm>
        </p:grpSpPr>
        <p:grpSp>
          <p:nvGrpSpPr>
            <p:cNvPr id="8" name="Group 7">
              <a:extLst>
                <a:ext uri="{FF2B5EF4-FFF2-40B4-BE49-F238E27FC236}">
                  <a16:creationId xmlns:a16="http://schemas.microsoft.com/office/drawing/2014/main" id="{8DD35977-ABCC-BCBE-A1C3-05D6C5B54189}"/>
                </a:ext>
              </a:extLst>
            </p:cNvPr>
            <p:cNvGrpSpPr/>
            <p:nvPr/>
          </p:nvGrpSpPr>
          <p:grpSpPr>
            <a:xfrm>
              <a:off x="897745" y="2186776"/>
              <a:ext cx="1033128" cy="1033126"/>
              <a:chOff x="2929635" y="5515043"/>
              <a:chExt cx="1033128" cy="1033126"/>
            </a:xfrm>
          </p:grpSpPr>
          <p:sp>
            <p:nvSpPr>
              <p:cNvPr id="29" name="Rectangle: Rounded Corners 12">
                <a:extLst>
                  <a:ext uri="{FF2B5EF4-FFF2-40B4-BE49-F238E27FC236}">
                    <a16:creationId xmlns:a16="http://schemas.microsoft.com/office/drawing/2014/main" id="{21DC63C7-B2DF-7F94-2125-CD45FA97872D}"/>
                  </a:ext>
                </a:extLst>
              </p:cNvPr>
              <p:cNvSpPr/>
              <p:nvPr/>
            </p:nvSpPr>
            <p:spPr bwMode="auto">
              <a:xfrm>
                <a:off x="2929636" y="5515043"/>
                <a:ext cx="1033127"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a:solidFill>
                    <a:srgbClr val="000000"/>
                  </a:solidFill>
                  <a:latin typeface="Segoe UI Semibold"/>
                  <a:cs typeface="Segoe UI Semibold" panose="020B0702040204020203" pitchFamily="34" charset="0"/>
                </a:endParaRPr>
              </a:p>
            </p:txBody>
          </p:sp>
          <p:sp>
            <p:nvSpPr>
              <p:cNvPr id="30" name="TextBox 29">
                <a:extLst>
                  <a:ext uri="{FF2B5EF4-FFF2-40B4-BE49-F238E27FC236}">
                    <a16:creationId xmlns:a16="http://schemas.microsoft.com/office/drawing/2014/main" id="{E4FE5F98-444D-6420-37F3-D1EF2BBAEA43}"/>
                  </a:ext>
                </a:extLst>
              </p:cNvPr>
              <p:cNvSpPr txBox="1"/>
              <p:nvPr/>
            </p:nvSpPr>
            <p:spPr>
              <a:xfrm>
                <a:off x="2929635" y="6109065"/>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Microsoft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365 Copilot</a:t>
                </a:r>
              </a:p>
            </p:txBody>
          </p:sp>
          <p:pic>
            <p:nvPicPr>
              <p:cNvPr id="31" name="Picture 30" descr="A rainbow colored logo on a black background&#10;&#10;AI-generated content may be incorrect.">
                <a:extLst>
                  <a:ext uri="{FF2B5EF4-FFF2-40B4-BE49-F238E27FC236}">
                    <a16:creationId xmlns:a16="http://schemas.microsoft.com/office/drawing/2014/main" id="{F3D32304-F778-273F-0265-1497C0434E45}"/>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184807" y="5750221"/>
                <a:ext cx="542063" cy="304911"/>
              </a:xfrm>
              <a:prstGeom prst="rect">
                <a:avLst/>
              </a:prstGeom>
            </p:spPr>
          </p:pic>
        </p:grpSp>
        <p:grpSp>
          <p:nvGrpSpPr>
            <p:cNvPr id="51" name="Group 50">
              <a:extLst>
                <a:ext uri="{FF2B5EF4-FFF2-40B4-BE49-F238E27FC236}">
                  <a16:creationId xmlns:a16="http://schemas.microsoft.com/office/drawing/2014/main" id="{71627690-FAEF-BDA7-97F8-F55493472489}"/>
                </a:ext>
              </a:extLst>
            </p:cNvPr>
            <p:cNvGrpSpPr/>
            <p:nvPr/>
          </p:nvGrpSpPr>
          <p:grpSpPr>
            <a:xfrm>
              <a:off x="2162176" y="2186776"/>
              <a:ext cx="1033126" cy="1033126"/>
              <a:chOff x="7822836" y="5534180"/>
              <a:chExt cx="1033126" cy="1033126"/>
            </a:xfrm>
          </p:grpSpPr>
          <p:sp>
            <p:nvSpPr>
              <p:cNvPr id="57" name="Rectangle: Rounded Corners 50">
                <a:extLst>
                  <a:ext uri="{FF2B5EF4-FFF2-40B4-BE49-F238E27FC236}">
                    <a16:creationId xmlns:a16="http://schemas.microsoft.com/office/drawing/2014/main" id="{5FE4C71F-454E-7DD0-A7D8-6E43A1B64D1B}"/>
                  </a:ext>
                </a:extLst>
              </p:cNvPr>
              <p:cNvSpPr/>
              <p:nvPr/>
            </p:nvSpPr>
            <p:spPr bwMode="auto">
              <a:xfrm>
                <a:off x="7822836" y="553418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9" name="TextBox 58">
                <a:extLst>
                  <a:ext uri="{FF2B5EF4-FFF2-40B4-BE49-F238E27FC236}">
                    <a16:creationId xmlns:a16="http://schemas.microsoft.com/office/drawing/2014/main" id="{E51DBC1A-9DEA-B8B5-56E1-9B4190D4CCE1}"/>
                  </a:ext>
                </a:extLst>
              </p:cNvPr>
              <p:cNvSpPr txBox="1"/>
              <p:nvPr/>
            </p:nvSpPr>
            <p:spPr>
              <a:xfrm>
                <a:off x="7822836" y="620443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Power Pages</a:t>
                </a:r>
              </a:p>
            </p:txBody>
          </p:sp>
          <p:pic>
            <p:nvPicPr>
              <p:cNvPr id="64" name="Picture 63" descr="A close up of a logo&#10;&#10;AI-generated content may be incorrect.">
                <a:extLst>
                  <a:ext uri="{FF2B5EF4-FFF2-40B4-BE49-F238E27FC236}">
                    <a16:creationId xmlns:a16="http://schemas.microsoft.com/office/drawing/2014/main" id="{382CF828-18D9-B134-103F-8B10545049BA}"/>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8143819" y="5707096"/>
                <a:ext cx="391160" cy="391160"/>
              </a:xfrm>
              <a:prstGeom prst="rect">
                <a:avLst/>
              </a:prstGeom>
            </p:spPr>
          </p:pic>
        </p:grpSp>
      </p:grpSp>
      <p:grpSp>
        <p:nvGrpSpPr>
          <p:cNvPr id="121" name="Group 120">
            <a:extLst>
              <a:ext uri="{FF2B5EF4-FFF2-40B4-BE49-F238E27FC236}">
                <a16:creationId xmlns:a16="http://schemas.microsoft.com/office/drawing/2014/main" id="{C2F14931-0268-6BC3-B196-E4AAE3ADB27C}"/>
              </a:ext>
            </a:extLst>
          </p:cNvPr>
          <p:cNvGrpSpPr/>
          <p:nvPr/>
        </p:nvGrpSpPr>
        <p:grpSpPr>
          <a:xfrm>
            <a:off x="5006137" y="4673056"/>
            <a:ext cx="6089904" cy="1033126"/>
            <a:chOff x="5974831" y="2186776"/>
            <a:chExt cx="6090842" cy="1033126"/>
          </a:xfrm>
        </p:grpSpPr>
        <p:grpSp>
          <p:nvGrpSpPr>
            <p:cNvPr id="48" name="Group 47">
              <a:extLst>
                <a:ext uri="{FF2B5EF4-FFF2-40B4-BE49-F238E27FC236}">
                  <a16:creationId xmlns:a16="http://schemas.microsoft.com/office/drawing/2014/main" id="{8E5E16E4-97FD-B1C1-A22C-F31BBB51B51E}"/>
                </a:ext>
              </a:extLst>
            </p:cNvPr>
            <p:cNvGrpSpPr/>
            <p:nvPr/>
          </p:nvGrpSpPr>
          <p:grpSpPr>
            <a:xfrm>
              <a:off x="11032547" y="2186776"/>
              <a:ext cx="1033126" cy="1033126"/>
              <a:chOff x="6589990" y="5519960"/>
              <a:chExt cx="1033126" cy="1033126"/>
            </a:xfrm>
          </p:grpSpPr>
          <p:sp>
            <p:nvSpPr>
              <p:cNvPr id="72" name="Rectangle: Rounded Corners 48">
                <a:extLst>
                  <a:ext uri="{FF2B5EF4-FFF2-40B4-BE49-F238E27FC236}">
                    <a16:creationId xmlns:a16="http://schemas.microsoft.com/office/drawing/2014/main" id="{DA6896C7-C577-3C89-5C94-310398E94106}"/>
                  </a:ext>
                </a:extLst>
              </p:cNvPr>
              <p:cNvSpPr/>
              <p:nvPr/>
            </p:nvSpPr>
            <p:spPr bwMode="auto">
              <a:xfrm>
                <a:off x="6589990"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73" name="TextBox 72">
                <a:extLst>
                  <a:ext uri="{FF2B5EF4-FFF2-40B4-BE49-F238E27FC236}">
                    <a16:creationId xmlns:a16="http://schemas.microsoft.com/office/drawing/2014/main" id="{4A9E089A-3F0D-3263-BAF7-BAD38CA9A6CC}"/>
                  </a:ext>
                </a:extLst>
              </p:cNvPr>
              <p:cNvSpPr txBox="1"/>
              <p:nvPr/>
            </p:nvSpPr>
            <p:spPr>
              <a:xfrm>
                <a:off x="6589990"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Twilio</a:t>
                </a:r>
              </a:p>
            </p:txBody>
          </p:sp>
          <p:pic>
            <p:nvPicPr>
              <p:cNvPr id="74" name="Picture 73" descr="A red text on a black background&#10;&#10;AI-generated content may be incorrect.">
                <a:extLst>
                  <a:ext uri="{FF2B5EF4-FFF2-40B4-BE49-F238E27FC236}">
                    <a16:creationId xmlns:a16="http://schemas.microsoft.com/office/drawing/2014/main" id="{0909B7E7-27CE-3121-1EB9-B957195ADA00}"/>
                  </a:ext>
                </a:extLst>
              </p:cNvPr>
              <p:cNvPicPr>
                <a:picLocks noChangeAspect="1"/>
              </p:cNvPicPr>
              <p:nvPr/>
            </p:nvPicPr>
            <p:blipFill>
              <a:blip r:embed="rId17">
                <a:extLst>
                  <a:ext uri="{28A0092B-C50C-407E-A947-70E740481C1C}">
                    <a14:useLocalDpi xmlns:a14="http://schemas.microsoft.com/office/drawing/2010/main" val="0"/>
                  </a:ext>
                </a:extLst>
              </a:blip>
              <a:srcRect/>
              <a:stretch>
                <a:fillRect/>
              </a:stretch>
            </p:blipFill>
            <p:spPr>
              <a:xfrm>
                <a:off x="6897745" y="5711054"/>
                <a:ext cx="389391" cy="383245"/>
              </a:xfrm>
              <a:prstGeom prst="rect">
                <a:avLst/>
              </a:prstGeom>
            </p:spPr>
          </p:pic>
        </p:grpSp>
        <p:grpSp>
          <p:nvGrpSpPr>
            <p:cNvPr id="43" name="Group 42">
              <a:extLst>
                <a:ext uri="{FF2B5EF4-FFF2-40B4-BE49-F238E27FC236}">
                  <a16:creationId xmlns:a16="http://schemas.microsoft.com/office/drawing/2014/main" id="{0E8E1229-DF31-3B95-95AA-F01602A57335}"/>
                </a:ext>
              </a:extLst>
            </p:cNvPr>
            <p:cNvGrpSpPr/>
            <p:nvPr/>
          </p:nvGrpSpPr>
          <p:grpSpPr>
            <a:xfrm>
              <a:off x="7239260" y="2186776"/>
              <a:ext cx="1033126" cy="1033126"/>
              <a:chOff x="7773518" y="2945705"/>
              <a:chExt cx="1033126" cy="1033126"/>
            </a:xfrm>
          </p:grpSpPr>
          <p:sp>
            <p:nvSpPr>
              <p:cNvPr id="87" name="Rectangle: Rounded Corners 20">
                <a:extLst>
                  <a:ext uri="{FF2B5EF4-FFF2-40B4-BE49-F238E27FC236}">
                    <a16:creationId xmlns:a16="http://schemas.microsoft.com/office/drawing/2014/main" id="{13BA2BE6-E67E-520E-E697-F6611EE3B88C}"/>
                  </a:ext>
                </a:extLst>
              </p:cNvPr>
              <p:cNvSpPr/>
              <p:nvPr/>
            </p:nvSpPr>
            <p:spPr bwMode="auto">
              <a:xfrm>
                <a:off x="7773518" y="2945705"/>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8" name="TextBox 87">
                <a:extLst>
                  <a:ext uri="{FF2B5EF4-FFF2-40B4-BE49-F238E27FC236}">
                    <a16:creationId xmlns:a16="http://schemas.microsoft.com/office/drawing/2014/main" id="{238B1F6B-8D4E-A7E6-BC8D-9AD5EDBABD24}"/>
                  </a:ext>
                </a:extLst>
              </p:cNvPr>
              <p:cNvSpPr txBox="1"/>
              <p:nvPr/>
            </p:nvSpPr>
            <p:spPr>
              <a:xfrm>
                <a:off x="7773518" y="3539727"/>
                <a:ext cx="1033126" cy="323486"/>
              </a:xfrm>
              <a:prstGeom prst="rect">
                <a:avLst/>
              </a:prstGeom>
              <a:noFill/>
            </p:spPr>
            <p:txBody>
              <a:bodyPr wrap="square" lIns="0" tIns="0" rIns="0" bIns="0" rtlCol="0">
                <a:spAutoFit/>
              </a:bodyPr>
              <a:lstStyle/>
              <a:p>
                <a:pPr marL="0" marR="0" lvl="0" indent="0" algn="ctr" defTabSz="914400" eaLnBrk="1" fontAlgn="auto" latinLnBrk="0" hangingPunct="1">
                  <a:lnSpc>
                    <a:spcPct val="11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Apple Messages </a:t>
                </a:r>
                <a:b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b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for Business</a:t>
                </a:r>
              </a:p>
            </p:txBody>
          </p:sp>
          <p:pic>
            <p:nvPicPr>
              <p:cNvPr id="89" name="Picture 28">
                <a:extLst>
                  <a:ext uri="{FF2B5EF4-FFF2-40B4-BE49-F238E27FC236}">
                    <a16:creationId xmlns:a16="http://schemas.microsoft.com/office/drawing/2014/main" id="{C6DF0F04-CD09-FA86-EB5F-DEDF2AEB9936}"/>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8139929" y="3087713"/>
                <a:ext cx="300303"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5" name="Group 44">
              <a:extLst>
                <a:ext uri="{FF2B5EF4-FFF2-40B4-BE49-F238E27FC236}">
                  <a16:creationId xmlns:a16="http://schemas.microsoft.com/office/drawing/2014/main" id="{950D9E06-B8E1-358F-1EE4-6D9FF79CCA0F}"/>
                </a:ext>
              </a:extLst>
            </p:cNvPr>
            <p:cNvGrpSpPr/>
            <p:nvPr/>
          </p:nvGrpSpPr>
          <p:grpSpPr>
            <a:xfrm>
              <a:off x="5974831" y="2186776"/>
              <a:ext cx="1033126" cy="1033126"/>
              <a:chOff x="4152771" y="2945706"/>
              <a:chExt cx="1033126" cy="1033126"/>
            </a:xfrm>
          </p:grpSpPr>
          <p:sp>
            <p:nvSpPr>
              <p:cNvPr id="81" name="Rectangle: Rounded Corners 32">
                <a:extLst>
                  <a:ext uri="{FF2B5EF4-FFF2-40B4-BE49-F238E27FC236}">
                    <a16:creationId xmlns:a16="http://schemas.microsoft.com/office/drawing/2014/main" id="{EC384861-86F9-6731-7286-A4FE9CF3DB5A}"/>
                  </a:ext>
                </a:extLst>
              </p:cNvPr>
              <p:cNvSpPr/>
              <p:nvPr/>
            </p:nvSpPr>
            <p:spPr bwMode="auto">
              <a:xfrm>
                <a:off x="4152771" y="2945706"/>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82" name="TextBox 81">
                <a:extLst>
                  <a:ext uri="{FF2B5EF4-FFF2-40B4-BE49-F238E27FC236}">
                    <a16:creationId xmlns:a16="http://schemas.microsoft.com/office/drawing/2014/main" id="{4BB476E8-F162-EF4A-6CCA-6C1BC392F243}"/>
                  </a:ext>
                </a:extLst>
              </p:cNvPr>
              <p:cNvSpPr txBox="1"/>
              <p:nvPr/>
            </p:nvSpPr>
            <p:spPr>
              <a:xfrm>
                <a:off x="4152771" y="3615964"/>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Line</a:t>
                </a:r>
              </a:p>
            </p:txBody>
          </p:sp>
          <p:pic>
            <p:nvPicPr>
              <p:cNvPr id="83" name="Picture 2">
                <a:extLst>
                  <a:ext uri="{FF2B5EF4-FFF2-40B4-BE49-F238E27FC236}">
                    <a16:creationId xmlns:a16="http://schemas.microsoft.com/office/drawing/2014/main" id="{D4AE23AD-3B43-4991-0644-61F2F55900EF}"/>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4484847" y="3134013"/>
                <a:ext cx="368974" cy="36897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50" name="Group 49">
              <a:extLst>
                <a:ext uri="{FF2B5EF4-FFF2-40B4-BE49-F238E27FC236}">
                  <a16:creationId xmlns:a16="http://schemas.microsoft.com/office/drawing/2014/main" id="{4C5AA24F-4823-E716-D803-3A273A8519EF}"/>
                </a:ext>
              </a:extLst>
            </p:cNvPr>
            <p:cNvGrpSpPr/>
            <p:nvPr/>
          </p:nvGrpSpPr>
          <p:grpSpPr>
            <a:xfrm>
              <a:off x="9768118" y="2186776"/>
              <a:ext cx="1033126" cy="1033126"/>
              <a:chOff x="5348993" y="5528603"/>
              <a:chExt cx="1033126" cy="1033126"/>
            </a:xfrm>
          </p:grpSpPr>
          <p:sp>
            <p:nvSpPr>
              <p:cNvPr id="65" name="Rectangle: Rounded Corners 46">
                <a:extLst>
                  <a:ext uri="{FF2B5EF4-FFF2-40B4-BE49-F238E27FC236}">
                    <a16:creationId xmlns:a16="http://schemas.microsoft.com/office/drawing/2014/main" id="{D914D0CF-5B98-83C2-C8E1-2B6449E7D874}"/>
                  </a:ext>
                </a:extLst>
              </p:cNvPr>
              <p:cNvSpPr/>
              <p:nvPr/>
            </p:nvSpPr>
            <p:spPr bwMode="auto">
              <a:xfrm>
                <a:off x="5348993" y="5528603"/>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67" name="TextBox 66">
                <a:extLst>
                  <a:ext uri="{FF2B5EF4-FFF2-40B4-BE49-F238E27FC236}">
                    <a16:creationId xmlns:a16="http://schemas.microsoft.com/office/drawing/2014/main" id="{45C488C1-9648-15AD-E9A1-0EA196B2E8F7}"/>
                  </a:ext>
                </a:extLst>
              </p:cNvPr>
              <p:cNvSpPr txBox="1"/>
              <p:nvPr/>
            </p:nvSpPr>
            <p:spPr>
              <a:xfrm>
                <a:off x="5348993" y="6198861"/>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WeChat</a:t>
                </a:r>
              </a:p>
            </p:txBody>
          </p:sp>
          <p:pic>
            <p:nvPicPr>
              <p:cNvPr id="68" name="Picture 67" descr="A green circle with black and white circles and black dots&#10;&#10;AI-generated content may be incorrect.">
                <a:extLst>
                  <a:ext uri="{FF2B5EF4-FFF2-40B4-BE49-F238E27FC236}">
                    <a16:creationId xmlns:a16="http://schemas.microsoft.com/office/drawing/2014/main" id="{597F9473-64E8-81A9-82AC-FC09F4859B6E}"/>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673702" y="5710822"/>
                <a:ext cx="383709" cy="383709"/>
              </a:xfrm>
              <a:prstGeom prst="rect">
                <a:avLst/>
              </a:prstGeom>
            </p:spPr>
          </p:pic>
        </p:grpSp>
        <p:grpSp>
          <p:nvGrpSpPr>
            <p:cNvPr id="53" name="Group 52">
              <a:extLst>
                <a:ext uri="{FF2B5EF4-FFF2-40B4-BE49-F238E27FC236}">
                  <a16:creationId xmlns:a16="http://schemas.microsoft.com/office/drawing/2014/main" id="{BC6D56A0-A406-5E55-ACE1-CC9774781D98}"/>
                </a:ext>
              </a:extLst>
            </p:cNvPr>
            <p:cNvGrpSpPr/>
            <p:nvPr/>
          </p:nvGrpSpPr>
          <p:grpSpPr>
            <a:xfrm>
              <a:off x="8503689" y="2186776"/>
              <a:ext cx="1033126" cy="1033126"/>
              <a:chOff x="4149754" y="5519960"/>
              <a:chExt cx="1033126" cy="1033126"/>
            </a:xfrm>
          </p:grpSpPr>
          <p:sp>
            <p:nvSpPr>
              <p:cNvPr id="54" name="Rectangle: Rounded Corners 28">
                <a:extLst>
                  <a:ext uri="{FF2B5EF4-FFF2-40B4-BE49-F238E27FC236}">
                    <a16:creationId xmlns:a16="http://schemas.microsoft.com/office/drawing/2014/main" id="{392358B1-A103-8516-6C06-C666D2D8268B}"/>
                  </a:ext>
                </a:extLst>
              </p:cNvPr>
              <p:cNvSpPr/>
              <p:nvPr/>
            </p:nvSpPr>
            <p:spPr bwMode="auto">
              <a:xfrm>
                <a:off x="4149754" y="5519960"/>
                <a:ext cx="1033126" cy="1033126"/>
              </a:xfrm>
              <a:prstGeom prst="roundRect">
                <a:avLst>
                  <a:gd name="adj" fmla="val 7249"/>
                </a:avLst>
              </a:prstGeom>
              <a:solidFill>
                <a:srgbClr val="FFFFFF">
                  <a:alpha val="75000"/>
                </a:srgbClr>
              </a:solidFill>
              <a:ln w="12700" cap="flat" cmpd="sng" algn="ctr">
                <a:solidFill>
                  <a:srgbClr val="FFFFFF"/>
                </a:solidFill>
                <a:prstDash val="solid"/>
              </a:ln>
              <a:effectLst>
                <a:outerShdw blurRad="190500" dist="25400" dir="2700000" algn="tl" rotWithShape="0">
                  <a:srgbClr val="463668">
                    <a:alpha val="15000"/>
                  </a:srgbClr>
                </a:outerShdw>
              </a:effectLst>
            </p:spPr>
            <p:txBody>
              <a:bodyPr rot="0" spcFirstLastPara="0" vertOverflow="overflow" horzOverflow="overflow" vert="horz" wrap="square" lIns="182880" tIns="91440" rIns="182880" bIns="182880" numCol="1" spcCol="0" rtlCol="0" fromWordArt="0" anchor="t" anchorCtr="0" forceAA="0" compatLnSpc="1">
                <a:prstTxWarp prst="textNoShape">
                  <a:avLst/>
                </a:prstTxWarp>
                <a:noAutofit/>
              </a:bodyPr>
              <a:lstStyle/>
              <a:p>
                <a:pPr algn="ctr">
                  <a:spcBef>
                    <a:spcPts val="900"/>
                  </a:spcBef>
                </a:pPr>
                <a:endParaRPr lang="en-US" sz="2400" b="1" err="1">
                  <a:solidFill>
                    <a:srgbClr val="000000"/>
                  </a:solidFill>
                  <a:latin typeface="Segoe UI Semibold"/>
                  <a:cs typeface="Segoe UI Semibold" panose="020B0702040204020203" pitchFamily="34" charset="0"/>
                </a:endParaRPr>
              </a:p>
            </p:txBody>
          </p:sp>
          <p:sp>
            <p:nvSpPr>
              <p:cNvPr id="55" name="TextBox 54">
                <a:extLst>
                  <a:ext uri="{FF2B5EF4-FFF2-40B4-BE49-F238E27FC236}">
                    <a16:creationId xmlns:a16="http://schemas.microsoft.com/office/drawing/2014/main" id="{7ECA88C0-8BA6-0762-2A39-2F748514FF48}"/>
                  </a:ext>
                </a:extLst>
              </p:cNvPr>
              <p:cNvSpPr txBox="1"/>
              <p:nvPr/>
            </p:nvSpPr>
            <p:spPr>
              <a:xfrm>
                <a:off x="4149754" y="6190218"/>
                <a:ext cx="1033126" cy="153888"/>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Segoe Sans Display" pitchFamily="2" charset="0"/>
                    <a:cs typeface="Segoe Sans Display" pitchFamily="2" charset="0"/>
                  </a:rPr>
                  <a:t>Custom</a:t>
                </a:r>
              </a:p>
            </p:txBody>
          </p:sp>
          <p:pic>
            <p:nvPicPr>
              <p:cNvPr id="56" name="Graphic 55">
                <a:extLst>
                  <a:ext uri="{FF2B5EF4-FFF2-40B4-BE49-F238E27FC236}">
                    <a16:creationId xmlns:a16="http://schemas.microsoft.com/office/drawing/2014/main" id="{F793F12F-0233-CAAA-C374-0A98EEA4BDE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4431545" y="5693047"/>
                <a:ext cx="419259" cy="419259"/>
              </a:xfrm>
              <a:prstGeom prst="rect">
                <a:avLst/>
              </a:prstGeom>
            </p:spPr>
          </p:pic>
        </p:grpSp>
      </p:grpSp>
      <p:sp useBgFill="1">
        <p:nvSpPr>
          <p:cNvPr id="124" name="TextBox 123">
            <a:extLst>
              <a:ext uri="{FF2B5EF4-FFF2-40B4-BE49-F238E27FC236}">
                <a16:creationId xmlns:a16="http://schemas.microsoft.com/office/drawing/2014/main" id="{D607625A-B030-FD46-365A-7EC070B67BAD}"/>
              </a:ext>
            </a:extLst>
          </p:cNvPr>
          <p:cNvSpPr txBox="1"/>
          <p:nvPr/>
        </p:nvSpPr>
        <p:spPr>
          <a:xfrm>
            <a:off x="1874818" y="5879576"/>
            <a:ext cx="1160766"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Employees</a:t>
            </a:r>
          </a:p>
        </p:txBody>
      </p:sp>
      <p:sp useBgFill="1">
        <p:nvSpPr>
          <p:cNvPr id="125" name="TextBox 124">
            <a:extLst>
              <a:ext uri="{FF2B5EF4-FFF2-40B4-BE49-F238E27FC236}">
                <a16:creationId xmlns:a16="http://schemas.microsoft.com/office/drawing/2014/main" id="{673AA684-39AF-B379-93D4-EBCD7B7BC61D}"/>
              </a:ext>
            </a:extLst>
          </p:cNvPr>
          <p:cNvSpPr txBox="1"/>
          <p:nvPr/>
        </p:nvSpPr>
        <p:spPr>
          <a:xfrm>
            <a:off x="7576950" y="5884371"/>
            <a:ext cx="898003" cy="338554"/>
          </a:xfrm>
          <a:prstGeom prst="rect">
            <a:avLst/>
          </a:prstGeom>
        </p:spPr>
        <p:txBody>
          <a:bodyPr wrap="none">
            <a:spAutoFit/>
          </a:bodyPr>
          <a:lstStyle/>
          <a:p>
            <a:pPr marL="0" marR="0" lvl="0" indent="0" algn="ctr" defTabSz="932472" rtl="0" eaLnBrk="1" fontAlgn="base" latinLnBrk="0" hangingPunct="1">
              <a:lnSpc>
                <a:spcPct val="100000"/>
              </a:lnSpc>
              <a:spcBef>
                <a:spcPts val="600"/>
              </a:spcBef>
              <a:spcAft>
                <a:spcPct val="0"/>
              </a:spcAft>
              <a:buClrTx/>
              <a:buSzTx/>
              <a:buFontTx/>
              <a:buNone/>
              <a:tabLst/>
              <a:defRPr/>
            </a:pPr>
            <a:r>
              <a:rPr kumimoji="0" lang="en-US" sz="1600" u="none" strike="noStrike" kern="1200" cap="none" spc="0" normalizeH="0" baseline="0" noProof="0" dirty="0">
                <a:ln>
                  <a:noFill/>
                </a:ln>
                <a:solidFill>
                  <a:srgbClr val="000000"/>
                </a:solidFill>
                <a:effectLst/>
                <a:uLnTx/>
                <a:uFillTx/>
                <a:latin typeface="Segoe UI Variable Display" pitchFamily="2" charset="0"/>
                <a:cs typeface="Segoe UI Variable Display" pitchFamily="2" charset="0"/>
              </a:rPr>
              <a:t>Citizens</a:t>
            </a:r>
          </a:p>
        </p:txBody>
      </p:sp>
      <p:sp>
        <p:nvSpPr>
          <p:cNvPr id="13" name="Text 0">
            <a:extLst>
              <a:ext uri="{FF2B5EF4-FFF2-40B4-BE49-F238E27FC236}">
                <a16:creationId xmlns:a16="http://schemas.microsoft.com/office/drawing/2014/main" id="{841FEAFD-8247-0236-9C11-5845F8139C04}"/>
              </a:ext>
            </a:extLst>
          </p:cNvPr>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BEYOND ONE WORK SURFACE</a:t>
            </a:r>
            <a:endParaRPr lang="en-US" sz="1100" dirty="0"/>
          </a:p>
        </p:txBody>
      </p:sp>
      <p:sp>
        <p:nvSpPr>
          <p:cNvPr id="17" name="Text 1">
            <a:extLst>
              <a:ext uri="{FF2B5EF4-FFF2-40B4-BE49-F238E27FC236}">
                <a16:creationId xmlns:a16="http://schemas.microsoft.com/office/drawing/2014/main" id="{8F1DE1ED-FB48-6D83-4CFD-0F9B8216CC7B}"/>
              </a:ext>
            </a:extLst>
          </p:cNvPr>
          <p:cNvSpPr/>
          <p:nvPr/>
        </p:nvSpPr>
        <p:spPr>
          <a:xfrm>
            <a:off x="777240" y="932688"/>
            <a:ext cx="10744200" cy="466003"/>
          </a:xfrm>
          <a:prstGeom prst="rect">
            <a:avLst/>
          </a:prstGeom>
          <a:noFill/>
          <a:ln/>
        </p:spPr>
        <p:txBody>
          <a:bodyPr wrap="square" lIns="0" tIns="0" rIns="0" bIns="0" rtlCol="0" anchor="ctr">
            <a:normAutofit/>
          </a:bodyPr>
          <a:lstStyle/>
          <a:p>
            <a:pPr marL="0" indent="0">
              <a:buNone/>
            </a:pPr>
            <a:r>
              <a:rPr lang="en-US" sz="2400" b="1" dirty="0">
                <a:solidFill>
                  <a:srgbClr val="091F2C"/>
                </a:solidFill>
                <a:latin typeface="Segoe UI Semibold" pitchFamily="34" charset="0"/>
                <a:ea typeface="Segoe UI Semibold" pitchFamily="34" charset="-122"/>
                <a:cs typeface="Segoe UI Semibold" pitchFamily="34" charset="-120"/>
              </a:rPr>
              <a:t>The same platform serves employees, citizens, and service channels</a:t>
            </a:r>
            <a:endParaRPr lang="en-US" sz="2400" dirty="0"/>
          </a:p>
        </p:txBody>
      </p:sp>
      <p:sp>
        <p:nvSpPr>
          <p:cNvPr id="21" name="Text 19">
            <a:extLst>
              <a:ext uri="{FF2B5EF4-FFF2-40B4-BE49-F238E27FC236}">
                <a16:creationId xmlns:a16="http://schemas.microsoft.com/office/drawing/2014/main" id="{9D03BFC0-A964-D3E5-1A61-C86FA9A0E4FE}"/>
              </a:ext>
            </a:extLst>
          </p:cNvPr>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27" name="Text 2">
            <a:extLst>
              <a:ext uri="{FF2B5EF4-FFF2-40B4-BE49-F238E27FC236}">
                <a16:creationId xmlns:a16="http://schemas.microsoft.com/office/drawing/2014/main" id="{D9CAE55C-6513-5F17-F424-5BB7E75BF72B}"/>
              </a:ext>
            </a:extLst>
          </p:cNvPr>
          <p:cNvSpPr/>
          <p:nvPr/>
        </p:nvSpPr>
        <p:spPr>
          <a:xfrm>
            <a:off x="777240" y="135796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External audiences change the channel, identity, data, and operating model — not the platform.</a:t>
            </a:r>
            <a:endParaRPr lang="en-US" sz="1320" dirty="0"/>
          </a:p>
        </p:txBody>
      </p:sp>
      <p:sp>
        <p:nvSpPr>
          <p:cNvPr id="38" name="TextBox 37">
            <a:extLst>
              <a:ext uri="{FF2B5EF4-FFF2-40B4-BE49-F238E27FC236}">
                <a16:creationId xmlns:a16="http://schemas.microsoft.com/office/drawing/2014/main" id="{E37039B1-3005-539B-BE33-1417B14BD5BB}"/>
              </a:ext>
            </a:extLst>
          </p:cNvPr>
          <p:cNvSpPr txBox="1"/>
          <p:nvPr/>
        </p:nvSpPr>
        <p:spPr>
          <a:xfrm>
            <a:off x="11201400" y="6473952"/>
            <a:ext cx="320040" cy="276999"/>
          </a:xfrm>
          <a:prstGeom prst="rect">
            <a:avLst/>
          </a:prstGeom>
          <a:noFill/>
        </p:spPr>
        <p:txBody>
          <a:bodyPr vert="horz" wrap="square" lIns="0" tIns="0" rIns="0" bIns="0" rtlCol="0" anchor="t">
            <a:normAutofit/>
          </a:bodyPr>
          <a:lstStyle/>
          <a:p>
            <a:pPr algn="r"/>
            <a:r>
              <a:rPr lang="en-US" sz="900">
                <a:solidFill>
                  <a:srgbClr val="9AA3AD"/>
                </a:solidFill>
                <a:latin typeface="Segoe UI" panose="020B0502040204020203" pitchFamily="34" charset="0"/>
              </a:rPr>
              <a:t>5</a:t>
            </a:r>
          </a:p>
        </p:txBody>
      </p:sp>
    </p:spTree>
    <p:extLst>
      <p:ext uri="{BB962C8B-B14F-4D97-AF65-F5344CB8AC3E}">
        <p14:creationId xmlns:p14="http://schemas.microsoft.com/office/powerpoint/2010/main" val="3042395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1" presetClass="entr" presetSubtype="1" fill="hold" grpId="1"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heel(1)">
                                      <p:cBhvr>
                                        <p:cTn id="10" dur="500"/>
                                        <p:tgtEl>
                                          <p:spTgt spid="7"/>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124"/>
                                        </p:tgtEl>
                                        <p:attrNameLst>
                                          <p:attrName>style.visibility</p:attrName>
                                        </p:attrNameLst>
                                      </p:cBhvr>
                                      <p:to>
                                        <p:strVal val="visible"/>
                                      </p:to>
                                    </p:set>
                                    <p:animEffect transition="in" filter="fade">
                                      <p:cBhvr>
                                        <p:cTn id="14" dur="500"/>
                                        <p:tgtEl>
                                          <p:spTgt spid="124"/>
                                        </p:tgtEl>
                                      </p:cBhvr>
                                    </p:animEffect>
                                  </p:childTnLst>
                                </p:cTn>
                              </p:par>
                              <p:par>
                                <p:cTn id="15" presetID="42" presetClass="path" presetSubtype="0" decel="100000" fill="hold" grpId="1" nodeType="withEffect">
                                  <p:stCondLst>
                                    <p:cond delay="0"/>
                                  </p:stCondLst>
                                  <p:childTnLst>
                                    <p:animMotion origin="layout" path="M -2.08333E-6 -4.44444E-6 L -2.08333E-6 0.03542 " pathEditMode="relative" rAng="0" ptsTypes="AA">
                                      <p:cBhvr>
                                        <p:cTn id="16" dur="700" spd="-100000" fill="hold"/>
                                        <p:tgtEl>
                                          <p:spTgt spid="124"/>
                                        </p:tgtEl>
                                        <p:attrNameLst>
                                          <p:attrName>ppt_x</p:attrName>
                                          <p:attrName>ppt_y</p:attrName>
                                        </p:attrNameLst>
                                      </p:cBhvr>
                                      <p:rCtr x="0" y="1759"/>
                                    </p:animMotion>
                                  </p:childTnLst>
                                </p:cTn>
                              </p:par>
                            </p:childTnLst>
                          </p:cTn>
                        </p:par>
                        <p:par>
                          <p:cTn id="17" fill="hold">
                            <p:stCondLst>
                              <p:cond delay="1200"/>
                            </p:stCondLst>
                            <p:childTnLst>
                              <p:par>
                                <p:cTn id="18" presetID="10" presetClass="entr" presetSubtype="0" fill="hold" nodeType="afterEffect">
                                  <p:stCondLst>
                                    <p:cond delay="0"/>
                                  </p:stCondLst>
                                  <p:childTnLst>
                                    <p:set>
                                      <p:cBhvr>
                                        <p:cTn id="19" dur="1" fill="hold">
                                          <p:stCondLst>
                                            <p:cond delay="0"/>
                                          </p:stCondLst>
                                        </p:cTn>
                                        <p:tgtEl>
                                          <p:spTgt spid="120"/>
                                        </p:tgtEl>
                                        <p:attrNameLst>
                                          <p:attrName>style.visibility</p:attrName>
                                        </p:attrNameLst>
                                      </p:cBhvr>
                                      <p:to>
                                        <p:strVal val="visible"/>
                                      </p:to>
                                    </p:set>
                                    <p:animEffect transition="in" filter="fade">
                                      <p:cBhvr>
                                        <p:cTn id="20" dur="500"/>
                                        <p:tgtEl>
                                          <p:spTgt spid="120"/>
                                        </p:tgtEl>
                                      </p:cBhvr>
                                    </p:animEffect>
                                  </p:childTnLst>
                                </p:cTn>
                              </p:par>
                              <p:par>
                                <p:cTn id="21" presetID="42" presetClass="path" presetSubtype="0" decel="100000" fill="hold" nodeType="withEffect">
                                  <p:stCondLst>
                                    <p:cond delay="0"/>
                                  </p:stCondLst>
                                  <p:childTnLst>
                                    <p:animMotion origin="layout" path="M -2.70833E-6 -2.96296E-6 L -2.70833E-6 0.03542 " pathEditMode="relative" rAng="0" ptsTypes="AA">
                                      <p:cBhvr>
                                        <p:cTn id="22" dur="700" spd="-100000" fill="hold"/>
                                        <p:tgtEl>
                                          <p:spTgt spid="120"/>
                                        </p:tgtEl>
                                        <p:attrNameLst>
                                          <p:attrName>ppt_x</p:attrName>
                                          <p:attrName>ppt_y</p:attrName>
                                        </p:attrNameLst>
                                      </p:cBhvr>
                                      <p:rCtr x="0" y="1759"/>
                                    </p:animMotion>
                                  </p:childTnLst>
                                </p:cTn>
                              </p:par>
                            </p:childTnLst>
                          </p:cTn>
                        </p:par>
                        <p:par>
                          <p:cTn id="23" fill="hold">
                            <p:stCondLst>
                              <p:cond delay="1900"/>
                            </p:stCondLst>
                            <p:childTnLst>
                              <p:par>
                                <p:cTn id="24" presetID="10" presetClass="entr" presetSubtype="0" fill="hold" nodeType="afterEffect">
                                  <p:stCondLst>
                                    <p:cond delay="0"/>
                                  </p:stCondLst>
                                  <p:childTnLst>
                                    <p:set>
                                      <p:cBhvr>
                                        <p:cTn id="25" dur="1" fill="hold">
                                          <p:stCondLst>
                                            <p:cond delay="0"/>
                                          </p:stCondLst>
                                        </p:cTn>
                                        <p:tgtEl>
                                          <p:spTgt spid="119"/>
                                        </p:tgtEl>
                                        <p:attrNameLst>
                                          <p:attrName>style.visibility</p:attrName>
                                        </p:attrNameLst>
                                      </p:cBhvr>
                                      <p:to>
                                        <p:strVal val="visible"/>
                                      </p:to>
                                    </p:set>
                                    <p:animEffect transition="in" filter="fade">
                                      <p:cBhvr>
                                        <p:cTn id="26" dur="500"/>
                                        <p:tgtEl>
                                          <p:spTgt spid="119"/>
                                        </p:tgtEl>
                                      </p:cBhvr>
                                    </p:animEffect>
                                  </p:childTnLst>
                                </p:cTn>
                              </p:par>
                              <p:par>
                                <p:cTn id="27" presetID="42" presetClass="path" presetSubtype="0" decel="100000" fill="hold" nodeType="withEffect">
                                  <p:stCondLst>
                                    <p:cond delay="0"/>
                                  </p:stCondLst>
                                  <p:childTnLst>
                                    <p:animMotion origin="layout" path="M -2.70833E-6 -2.59259E-6 L -2.70833E-6 0.03542 " pathEditMode="relative" rAng="0" ptsTypes="AA">
                                      <p:cBhvr>
                                        <p:cTn id="28" dur="700" spd="-100000" fill="hold"/>
                                        <p:tgtEl>
                                          <p:spTgt spid="119"/>
                                        </p:tgtEl>
                                        <p:attrNameLst>
                                          <p:attrName>ppt_x</p:attrName>
                                          <p:attrName>ppt_y</p:attrName>
                                        </p:attrNameLst>
                                      </p:cBhvr>
                                      <p:rCtr x="0" y="1759"/>
                                    </p:animMotion>
                                  </p:childTnLst>
                                </p:cTn>
                              </p:par>
                            </p:childTnLst>
                          </p:cTn>
                        </p:par>
                        <p:par>
                          <p:cTn id="29" fill="hold">
                            <p:stCondLst>
                              <p:cond delay="2600"/>
                            </p:stCondLst>
                            <p:childTnLst>
                              <p:par>
                                <p:cTn id="30" presetID="10" presetClass="entr" presetSubtype="0" fill="hold" nodeType="afterEffect">
                                  <p:stCondLst>
                                    <p:cond delay="0"/>
                                  </p:stCondLst>
                                  <p:childTnLst>
                                    <p:set>
                                      <p:cBhvr>
                                        <p:cTn id="31" dur="1" fill="hold">
                                          <p:stCondLst>
                                            <p:cond delay="0"/>
                                          </p:stCondLst>
                                        </p:cTn>
                                        <p:tgtEl>
                                          <p:spTgt spid="118"/>
                                        </p:tgtEl>
                                        <p:attrNameLst>
                                          <p:attrName>style.visibility</p:attrName>
                                        </p:attrNameLst>
                                      </p:cBhvr>
                                      <p:to>
                                        <p:strVal val="visible"/>
                                      </p:to>
                                    </p:set>
                                    <p:animEffect transition="in" filter="fade">
                                      <p:cBhvr>
                                        <p:cTn id="32" dur="500"/>
                                        <p:tgtEl>
                                          <p:spTgt spid="118"/>
                                        </p:tgtEl>
                                      </p:cBhvr>
                                    </p:animEffect>
                                  </p:childTnLst>
                                </p:cTn>
                              </p:par>
                              <p:par>
                                <p:cTn id="33" presetID="42" presetClass="path" presetSubtype="0" decel="100000" fill="hold" nodeType="withEffect">
                                  <p:stCondLst>
                                    <p:cond delay="0"/>
                                  </p:stCondLst>
                                  <p:childTnLst>
                                    <p:animMotion origin="layout" path="M -2.70833E-6 -2.22222E-6 L -2.70833E-6 0.03542 " pathEditMode="relative" rAng="0" ptsTypes="AA">
                                      <p:cBhvr>
                                        <p:cTn id="34" dur="700" spd="-100000" fill="hold"/>
                                        <p:tgtEl>
                                          <p:spTgt spid="118"/>
                                        </p:tgtEl>
                                        <p:attrNameLst>
                                          <p:attrName>ppt_x</p:attrName>
                                          <p:attrName>ppt_y</p:attrName>
                                        </p:attrNameLst>
                                      </p:cBhvr>
                                      <p:rCtr x="0" y="1759"/>
                                    </p:animMotion>
                                  </p:childTnLst>
                                </p:cTn>
                              </p:par>
                            </p:childTnLst>
                          </p:cTn>
                        </p:par>
                        <p:par>
                          <p:cTn id="35" fill="hold">
                            <p:stCondLst>
                              <p:cond delay="3300"/>
                            </p:stCondLst>
                            <p:childTnLst>
                              <p:par>
                                <p:cTn id="36" presetID="10" presetClass="entr" presetSubtype="0" fill="hold" grpId="0" nodeType="afterEffect">
                                  <p:stCondLst>
                                    <p:cond delay="0"/>
                                  </p:stCondLst>
                                  <p:childTnLst>
                                    <p:set>
                                      <p:cBhvr>
                                        <p:cTn id="37" dur="1" fill="hold">
                                          <p:stCondLst>
                                            <p:cond delay="0"/>
                                          </p:stCondLst>
                                        </p:cTn>
                                        <p:tgtEl>
                                          <p:spTgt spid="125"/>
                                        </p:tgtEl>
                                        <p:attrNameLst>
                                          <p:attrName>style.visibility</p:attrName>
                                        </p:attrNameLst>
                                      </p:cBhvr>
                                      <p:to>
                                        <p:strVal val="visible"/>
                                      </p:to>
                                    </p:set>
                                    <p:animEffect transition="in" filter="fade">
                                      <p:cBhvr>
                                        <p:cTn id="38" dur="500"/>
                                        <p:tgtEl>
                                          <p:spTgt spid="125"/>
                                        </p:tgtEl>
                                      </p:cBhvr>
                                    </p:animEffect>
                                  </p:childTnLst>
                                </p:cTn>
                              </p:par>
                              <p:par>
                                <p:cTn id="39" presetID="42" presetClass="path" presetSubtype="0" decel="100000" fill="hold" grpId="1" nodeType="withEffect">
                                  <p:stCondLst>
                                    <p:cond delay="0"/>
                                  </p:stCondLst>
                                  <p:childTnLst>
                                    <p:animMotion origin="layout" path="M -3.33333E-6 1.11111E-6 L -3.33333E-6 0.03542 " pathEditMode="relative" rAng="0" ptsTypes="AA">
                                      <p:cBhvr>
                                        <p:cTn id="40" dur="700" spd="-100000" fill="hold"/>
                                        <p:tgtEl>
                                          <p:spTgt spid="125"/>
                                        </p:tgtEl>
                                        <p:attrNameLst>
                                          <p:attrName>ppt_x</p:attrName>
                                          <p:attrName>ppt_y</p:attrName>
                                        </p:attrNameLst>
                                      </p:cBhvr>
                                      <p:rCtr x="0" y="1759"/>
                                    </p:animMotion>
                                  </p:childTnLst>
                                </p:cTn>
                              </p:par>
                            </p:childTnLst>
                          </p:cTn>
                        </p:par>
                        <p:par>
                          <p:cTn id="41" fill="hold">
                            <p:stCondLst>
                              <p:cond delay="4000"/>
                            </p:stCondLst>
                            <p:childTnLst>
                              <p:par>
                                <p:cTn id="42" presetID="10" presetClass="entr" presetSubtype="0" fill="hold" nodeType="afterEffect">
                                  <p:stCondLst>
                                    <p:cond delay="0"/>
                                  </p:stCondLst>
                                  <p:childTnLst>
                                    <p:set>
                                      <p:cBhvr>
                                        <p:cTn id="43" dur="1" fill="hold">
                                          <p:stCondLst>
                                            <p:cond delay="0"/>
                                          </p:stCondLst>
                                        </p:cTn>
                                        <p:tgtEl>
                                          <p:spTgt spid="121"/>
                                        </p:tgtEl>
                                        <p:attrNameLst>
                                          <p:attrName>style.visibility</p:attrName>
                                        </p:attrNameLst>
                                      </p:cBhvr>
                                      <p:to>
                                        <p:strVal val="visible"/>
                                      </p:to>
                                    </p:set>
                                    <p:animEffect transition="in" filter="fade">
                                      <p:cBhvr>
                                        <p:cTn id="44" dur="500"/>
                                        <p:tgtEl>
                                          <p:spTgt spid="121"/>
                                        </p:tgtEl>
                                      </p:cBhvr>
                                    </p:animEffect>
                                  </p:childTnLst>
                                </p:cTn>
                              </p:par>
                              <p:par>
                                <p:cTn id="45" presetID="42" presetClass="path" presetSubtype="0" decel="100000" fill="hold" nodeType="withEffect">
                                  <p:stCondLst>
                                    <p:cond delay="0"/>
                                  </p:stCondLst>
                                  <p:childTnLst>
                                    <p:animMotion origin="layout" path="M -2.70833E-6 -1.48148E-6 L -2.70833E-6 0.03542 " pathEditMode="relative" rAng="0" ptsTypes="AA">
                                      <p:cBhvr>
                                        <p:cTn id="46" dur="700" spd="-100000" fill="hold"/>
                                        <p:tgtEl>
                                          <p:spTgt spid="121"/>
                                        </p:tgtEl>
                                        <p:attrNameLst>
                                          <p:attrName>ppt_x</p:attrName>
                                          <p:attrName>ppt_y</p:attrName>
                                        </p:attrNameLst>
                                      </p:cBhvr>
                                      <p:rCtr x="0" y="1759"/>
                                    </p:animMotion>
                                  </p:childTnLst>
                                </p:cTn>
                              </p:par>
                            </p:childTnLst>
                          </p:cTn>
                        </p:par>
                        <p:par>
                          <p:cTn id="47" fill="hold">
                            <p:stCondLst>
                              <p:cond delay="4700"/>
                            </p:stCondLst>
                            <p:childTnLst>
                              <p:par>
                                <p:cTn id="48" presetID="10" presetClass="entr" presetSubtype="0" fill="hold" nodeType="afterEffect">
                                  <p:stCondLst>
                                    <p:cond delay="0"/>
                                  </p:stCondLst>
                                  <p:childTnLst>
                                    <p:set>
                                      <p:cBhvr>
                                        <p:cTn id="49" dur="1" fill="hold">
                                          <p:stCondLst>
                                            <p:cond delay="0"/>
                                          </p:stCondLst>
                                        </p:cTn>
                                        <p:tgtEl>
                                          <p:spTgt spid="122"/>
                                        </p:tgtEl>
                                        <p:attrNameLst>
                                          <p:attrName>style.visibility</p:attrName>
                                        </p:attrNameLst>
                                      </p:cBhvr>
                                      <p:to>
                                        <p:strVal val="visible"/>
                                      </p:to>
                                    </p:set>
                                    <p:animEffect transition="in" filter="fade">
                                      <p:cBhvr>
                                        <p:cTn id="50" dur="500"/>
                                        <p:tgtEl>
                                          <p:spTgt spid="122"/>
                                        </p:tgtEl>
                                      </p:cBhvr>
                                    </p:animEffect>
                                  </p:childTnLst>
                                </p:cTn>
                              </p:par>
                              <p:par>
                                <p:cTn id="51" presetID="42" presetClass="path" presetSubtype="0" decel="100000" fill="hold" nodeType="withEffect">
                                  <p:stCondLst>
                                    <p:cond delay="0"/>
                                  </p:stCondLst>
                                  <p:childTnLst>
                                    <p:animMotion origin="layout" path="M -2.70833E-6 -1.48148E-6 L -2.70833E-6 0.03542 " pathEditMode="relative" rAng="0" ptsTypes="AA">
                                      <p:cBhvr>
                                        <p:cTn id="52" dur="700" spd="-100000" fill="hold"/>
                                        <p:tgtEl>
                                          <p:spTgt spid="122"/>
                                        </p:tgtEl>
                                        <p:attrNameLst>
                                          <p:attrName>ppt_x</p:attrName>
                                          <p:attrName>ppt_y</p:attrName>
                                        </p:attrNameLst>
                                      </p:cBhvr>
                                      <p:rCtr x="0" y="1759"/>
                                    </p:animMotion>
                                  </p:childTnLst>
                                </p:cTn>
                              </p:par>
                            </p:childTnLst>
                          </p:cTn>
                        </p:par>
                        <p:par>
                          <p:cTn id="53" fill="hold">
                            <p:stCondLst>
                              <p:cond delay="5400"/>
                            </p:stCondLst>
                            <p:childTnLst>
                              <p:par>
                                <p:cTn id="54" presetID="10" presetClass="entr" presetSubtype="0" fill="hold" nodeType="afterEffect">
                                  <p:stCondLst>
                                    <p:cond delay="0"/>
                                  </p:stCondLst>
                                  <p:childTnLst>
                                    <p:set>
                                      <p:cBhvr>
                                        <p:cTn id="55" dur="1" fill="hold">
                                          <p:stCondLst>
                                            <p:cond delay="0"/>
                                          </p:stCondLst>
                                        </p:cTn>
                                        <p:tgtEl>
                                          <p:spTgt spid="123"/>
                                        </p:tgtEl>
                                        <p:attrNameLst>
                                          <p:attrName>style.visibility</p:attrName>
                                        </p:attrNameLst>
                                      </p:cBhvr>
                                      <p:to>
                                        <p:strVal val="visible"/>
                                      </p:to>
                                    </p:set>
                                    <p:animEffect transition="in" filter="fade">
                                      <p:cBhvr>
                                        <p:cTn id="56" dur="500"/>
                                        <p:tgtEl>
                                          <p:spTgt spid="123"/>
                                        </p:tgtEl>
                                      </p:cBhvr>
                                    </p:animEffect>
                                  </p:childTnLst>
                                </p:cTn>
                              </p:par>
                              <p:par>
                                <p:cTn id="57" presetID="42" presetClass="path" presetSubtype="0" decel="100000" fill="hold" nodeType="withEffect">
                                  <p:stCondLst>
                                    <p:cond delay="0"/>
                                  </p:stCondLst>
                                  <p:childTnLst>
                                    <p:animMotion origin="layout" path="M -2.70833E-6 -1.48148E-6 L -2.70833E-6 0.03542 " pathEditMode="relative" rAng="0" ptsTypes="AA">
                                      <p:cBhvr>
                                        <p:cTn id="58" dur="700" spd="-100000" fill="hold"/>
                                        <p:tgtEl>
                                          <p:spTgt spid="123"/>
                                        </p:tgtEl>
                                        <p:attrNameLst>
                                          <p:attrName>ppt_x</p:attrName>
                                          <p:attrName>ppt_y</p:attrName>
                                        </p:attrNameLst>
                                      </p:cBhvr>
                                      <p:rCtr x="0" y="17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124" grpId="0" animBg="1"/>
      <p:bldP spid="124" grpId="1" animBg="1"/>
      <p:bldP spid="125" grpId="0" animBg="1"/>
      <p:bldP spid="125"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DEMO 2 · VENDOR SUBMISSION</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Illinois Vendor Submission Assistant</a:t>
            </a:r>
            <a:endParaRPr lang="en-US" sz="2400" dirty="0"/>
          </a:p>
        </p:txBody>
      </p:sp>
      <p:sp>
        <p:nvSpPr>
          <p:cNvPr id="4" name="Text 2"/>
          <p:cNvSpPr/>
          <p:nvPr/>
        </p:nvSpPr>
        <p:spPr>
          <a:xfrm>
            <a:off x="777240" y="155448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A conversational agent reads vendor documents, validates them against business rules, and files a structured submission automatically.</a:t>
            </a:r>
            <a:endParaRPr lang="en-US" sz="1320" dirty="0"/>
          </a:p>
        </p:txBody>
      </p:sp>
      <p:pic>
        <p:nvPicPr>
          <p:cNvPr id="5" name="Image 0" descr="preencoded.png"/>
          <p:cNvPicPr>
            <a:picLocks noChangeAspect="1"/>
          </p:cNvPicPr>
          <p:nvPr/>
        </p:nvPicPr>
        <p:blipFill>
          <a:blip r:embed="rId3"/>
          <a:stretch>
            <a:fillRect/>
          </a:stretch>
        </p:blipFill>
        <p:spPr>
          <a:xfrm>
            <a:off x="9802368" y="438912"/>
            <a:ext cx="384048" cy="384048"/>
          </a:xfrm>
          <a:prstGeom prst="rect">
            <a:avLst/>
          </a:prstGeom>
        </p:spPr>
      </p:pic>
      <p:sp>
        <p:nvSpPr>
          <p:cNvPr id="6" name="Shape 3"/>
          <p:cNvSpPr/>
          <p:nvPr/>
        </p:nvSpPr>
        <p:spPr>
          <a:xfrm>
            <a:off x="10405872" y="484632"/>
            <a:ext cx="960120" cy="310896"/>
          </a:xfrm>
          <a:prstGeom prst="roundRect">
            <a:avLst>
              <a:gd name="adj" fmla="val 50000"/>
            </a:avLst>
          </a:prstGeom>
          <a:solidFill>
            <a:srgbClr val="8661C5"/>
          </a:solidFill>
          <a:ln w="12700">
            <a:solidFill>
              <a:srgbClr val="8661C5"/>
            </a:solidFill>
            <a:prstDash val="solid"/>
          </a:ln>
        </p:spPr>
        <p:txBody>
          <a:bodyPr/>
          <a:lstStyle/>
          <a:p>
            <a:endParaRPr lang="en-US"/>
          </a:p>
        </p:txBody>
      </p:sp>
      <p:sp>
        <p:nvSpPr>
          <p:cNvPr id="7" name="Text 4"/>
          <p:cNvSpPr/>
          <p:nvPr/>
        </p:nvSpPr>
        <p:spPr>
          <a:xfrm>
            <a:off x="10405872" y="493776"/>
            <a:ext cx="960120" cy="274320"/>
          </a:xfrm>
          <a:prstGeom prst="rect">
            <a:avLst/>
          </a:prstGeom>
          <a:noFill/>
          <a:ln/>
        </p:spPr>
        <p:txBody>
          <a:bodyPr wrap="square" lIns="0" tIns="0" rIns="0" bIns="0" rtlCol="0" anchor="ctr">
            <a:normAutofit/>
          </a:bodyPr>
          <a:lstStyle/>
          <a:p>
            <a:pPr marL="0" indent="0" algn="ctr">
              <a:buNone/>
            </a:pPr>
            <a:r>
              <a:rPr lang="en-US" sz="980" b="1" dirty="0">
                <a:solidFill>
                  <a:srgbClr val="FFFFFF"/>
                </a:solidFill>
                <a:latin typeface="Segoe UI Semibold" pitchFamily="34" charset="0"/>
                <a:ea typeface="Segoe UI Semibold" pitchFamily="34" charset="-122"/>
                <a:cs typeface="Segoe UI Semibold" pitchFamily="34" charset="-120"/>
              </a:rPr>
              <a:t>RECORDED</a:t>
            </a:r>
            <a:endParaRPr lang="en-US" sz="980" dirty="0"/>
          </a:p>
        </p:txBody>
      </p:sp>
      <p:sp>
        <p:nvSpPr>
          <p:cNvPr id="31" name="Text 23"/>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2" name="Text 24"/>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6</a:t>
            </a:r>
            <a:endParaRPr lang="en-US" sz="900" dirty="0"/>
          </a:p>
        </p:txBody>
      </p:sp>
      <p:sp>
        <p:nvSpPr>
          <p:cNvPr id="8" name="cardbg0"/>
          <p:cNvSpPr/>
          <p:nvPr/>
        </p:nvSpPr>
        <p:spPr>
          <a:xfrm>
            <a:off x="627659"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cardnum0"/>
          <p:cNvSpPr/>
          <p:nvPr/>
        </p:nvSpPr>
        <p:spPr>
          <a:xfrm>
            <a:off x="947699"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1</a:t>
            </a:r>
            <a:endParaRPr lang="en-US" sz="3000" dirty="0"/>
          </a:p>
        </p:txBody>
      </p:sp>
      <p:sp>
        <p:nvSpPr>
          <p:cNvPr id="11" name="cardhead0"/>
          <p:cNvSpPr/>
          <p:nvPr/>
        </p:nvSpPr>
        <p:spPr>
          <a:xfrm>
            <a:off x="947699"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Submit</a:t>
            </a:r>
            <a:endParaRPr lang="en-US" sz="1450" dirty="0"/>
          </a:p>
        </p:txBody>
      </p:sp>
      <p:sp>
        <p:nvSpPr>
          <p:cNvPr id="12" name="cardbody0"/>
          <p:cNvSpPr/>
          <p:nvPr/>
        </p:nvSpPr>
        <p:spPr>
          <a:xfrm>
            <a:off x="947699"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Upload the proposal packet</a:t>
            </a:r>
            <a:endParaRPr lang="en-US" sz="1100" dirty="0"/>
          </a:p>
          <a:p>
            <a:r>
              <a:rPr lang="en-US" sz="900" b="0" dirty="0">
                <a:solidFill>
                  <a:srgbClr val="5B6672"/>
                </a:solidFill>
                <a:latin typeface="Segoe UI" pitchFamily="34" charset="0"/>
                <a:ea typeface="Segoe UI" pitchFamily="34" charset="-122"/>
                <a:cs typeface="Segoe UI" pitchFamily="34" charset="-120"/>
              </a:rPr>
              <a:t>•  Agent opens the Network Modernization opportunity</a:t>
            </a:r>
          </a:p>
          <a:p>
            <a:r>
              <a:rPr lang="en-US" sz="900" b="0" dirty="0">
                <a:solidFill>
                  <a:srgbClr val="5B6672"/>
                </a:solidFill>
                <a:latin typeface="Segoe UI" pitchFamily="34" charset="0"/>
                <a:ea typeface="Segoe UI" pitchFamily="34" charset="-122"/>
                <a:cs typeface="Segoe UI" pitchFamily="34" charset="-120"/>
              </a:rPr>
              <a:t>•  Requests proposal, pricing, W-9, and insurance</a:t>
            </a:r>
          </a:p>
          <a:p>
            <a:r>
              <a:rPr lang="en-US" sz="900" b="0" dirty="0">
                <a:solidFill>
                  <a:srgbClr val="5B6672"/>
                </a:solidFill>
                <a:latin typeface="Segoe UI" pitchFamily="34" charset="0"/>
                <a:ea typeface="Segoe UI" pitchFamily="34" charset="-122"/>
                <a:cs typeface="Segoe UI" pitchFamily="34" charset="-120"/>
              </a:rPr>
              <a:t>•  Vendor uploads the PDFs</a:t>
            </a:r>
          </a:p>
        </p:txBody>
      </p:sp>
      <p:pic>
        <p:nvPicPr>
          <p:cNvPr id="33" name="Picture 32" descr="image.png"/>
          <p:cNvPicPr>
            <a:picLocks noChangeAspect="1"/>
          </p:cNvPicPr>
          <p:nvPr/>
        </p:nvPicPr>
        <p:blipFill>
          <a:blip r:embed="rId9"/>
          <a:stretch>
            <a:fillRect/>
          </a:stretch>
        </p:blipFill>
        <p:spPr>
          <a:xfrm>
            <a:off x="3145536" y="2715768"/>
            <a:ext cx="502920" cy="502920"/>
          </a:xfrm>
          <a:prstGeom prst="rect">
            <a:avLst/>
          </a:prstGeom>
        </p:spPr>
      </p:pic>
      <p:sp>
        <p:nvSpPr>
          <p:cNvPr id="8" name="cardbg1"/>
          <p:cNvSpPr/>
          <p:nvPr/>
        </p:nvSpPr>
        <p:spPr>
          <a:xfrm>
            <a:off x="4321835"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cardnum1"/>
          <p:cNvSpPr/>
          <p:nvPr/>
        </p:nvSpPr>
        <p:spPr>
          <a:xfrm>
            <a:off x="4641875"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2</a:t>
            </a:r>
            <a:endParaRPr lang="en-US" sz="3000" dirty="0"/>
          </a:p>
        </p:txBody>
      </p:sp>
      <p:sp>
        <p:nvSpPr>
          <p:cNvPr id="11" name="cardhead1"/>
          <p:cNvSpPr/>
          <p:nvPr/>
        </p:nvSpPr>
        <p:spPr>
          <a:xfrm>
            <a:off x="4641875"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Validate</a:t>
            </a:r>
            <a:endParaRPr lang="en-US" sz="1450" dirty="0"/>
          </a:p>
        </p:txBody>
      </p:sp>
      <p:sp>
        <p:nvSpPr>
          <p:cNvPr id="12" name="cardbody1"/>
          <p:cNvSpPr/>
          <p:nvPr/>
        </p:nvSpPr>
        <p:spPr>
          <a:xfrm>
            <a:off x="4641875"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Extract, summarize, and check</a:t>
            </a:r>
            <a:endParaRPr lang="en-US" sz="1100" dirty="0"/>
          </a:p>
          <a:p>
            <a:r>
              <a:rPr lang="en-US" sz="900" b="0" dirty="0">
                <a:solidFill>
                  <a:srgbClr val="5B6672"/>
                </a:solidFill>
                <a:latin typeface="Segoe UI" pitchFamily="34" charset="0"/>
                <a:ea typeface="Segoe UI" pitchFamily="34" charset="-122"/>
                <a:cs typeface="Segoe UI" pitchFamily="34" charset="-120"/>
              </a:rPr>
              <a:t>•  Reads key fields — vendor, contact, $425,000 value</a:t>
            </a:r>
          </a:p>
          <a:p>
            <a:r>
              <a:rPr lang="en-US" sz="900" b="0" dirty="0">
                <a:solidFill>
                  <a:srgbClr val="5B6672"/>
                </a:solidFill>
                <a:latin typeface="Segoe UI" pitchFamily="34" charset="0"/>
                <a:ea typeface="Segoe UI" pitchFamily="34" charset="-122"/>
                <a:cs typeface="Segoe UI" pitchFamily="34" charset="-120"/>
              </a:rPr>
              <a:t>•  Summarizes the details back to the vendor</a:t>
            </a:r>
          </a:p>
          <a:p>
            <a:r>
              <a:rPr lang="en-US" sz="900" b="0" dirty="0">
                <a:solidFill>
                  <a:srgbClr val="5B6672"/>
                </a:solidFill>
                <a:latin typeface="Segoe UI" pitchFamily="34" charset="0"/>
                <a:ea typeface="Segoe UI" pitchFamily="34" charset="-122"/>
                <a:cs typeface="Segoe UI" pitchFamily="34" charset="-120"/>
              </a:rPr>
              <a:t>•  Flags a soon-to-expire insurance certificate</a:t>
            </a:r>
          </a:p>
        </p:txBody>
      </p:sp>
      <p:sp>
        <p:nvSpPr>
          <p:cNvPr id="8" name="cardbg2"/>
          <p:cNvSpPr/>
          <p:nvPr/>
        </p:nvSpPr>
        <p:spPr>
          <a:xfrm>
            <a:off x="8016011" y="2460788"/>
            <a:ext cx="3337560" cy="2514600"/>
          </a:xfrm>
          <a:prstGeom prst="roundRect">
            <a:avLst>
              <a:gd name="adj" fmla="val 3273"/>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sp>
        <p:nvSpPr>
          <p:cNvPr id="9" name="cardnum2"/>
          <p:cNvSpPr/>
          <p:nvPr/>
        </p:nvSpPr>
        <p:spPr>
          <a:xfrm>
            <a:off x="8336051" y="2762540"/>
            <a:ext cx="548640" cy="502920"/>
          </a:xfrm>
          <a:prstGeom prst="rect">
            <a:avLst/>
          </a:prstGeom>
          <a:noFill/>
          <a:ln/>
        </p:spPr>
        <p:txBody>
          <a:bodyPr wrap="square" lIns="0" tIns="0" rIns="0" bIns="0" rtlCol="0" anchor="ctr">
            <a:normAutofit/>
          </a:bodyPr>
          <a:lstStyle/>
          <a:p>
            <a:pPr marL="0" indent="0">
              <a:buNone/>
            </a:pPr>
            <a:r>
              <a:rPr lang="en-US" sz="3000" b="1" dirty="0">
                <a:solidFill>
                  <a:srgbClr val="0078D4"/>
                </a:solidFill>
                <a:latin typeface="Segoe UI Semibold" pitchFamily="34" charset="0"/>
                <a:ea typeface="Segoe UI Semibold" pitchFamily="34" charset="-122"/>
                <a:cs typeface="Segoe UI Semibold" pitchFamily="34" charset="-120"/>
              </a:rPr>
              <a:t>3</a:t>
            </a:r>
            <a:endParaRPr lang="en-US" sz="3000" dirty="0"/>
          </a:p>
        </p:txBody>
      </p:sp>
      <p:sp>
        <p:nvSpPr>
          <p:cNvPr id="11" name="cardhead2"/>
          <p:cNvSpPr/>
          <p:nvPr/>
        </p:nvSpPr>
        <p:spPr>
          <a:xfrm>
            <a:off x="8336051" y="3283748"/>
            <a:ext cx="2697480" cy="274320"/>
          </a:xfrm>
          <a:prstGeom prst="rect">
            <a:avLst/>
          </a:prstGeom>
          <a:noFill/>
          <a:ln/>
        </p:spPr>
        <p:txBody>
          <a:bodyPr wrap="square" lIns="0" tIns="0" rIns="0" bIns="0" rtlCol="0" anchor="ctr">
            <a:normAutofit/>
          </a:bodyPr>
          <a:lstStyle/>
          <a:p>
            <a:pPr marL="0" indent="0">
              <a:buNone/>
            </a:pPr>
            <a:r>
              <a:rPr lang="en-US" sz="1450" b="1" dirty="0">
                <a:solidFill>
                  <a:srgbClr val="091F2C"/>
                </a:solidFill>
                <a:latin typeface="Segoe UI Semibold" pitchFamily="34" charset="0"/>
                <a:ea typeface="Segoe UI Semibold" pitchFamily="34" charset="-122"/>
                <a:cs typeface="Segoe UI Semibold" pitchFamily="34" charset="-120"/>
              </a:rPr>
              <a:t>Track</a:t>
            </a:r>
            <a:endParaRPr lang="en-US" sz="1450" dirty="0"/>
          </a:p>
        </p:txBody>
      </p:sp>
      <p:sp>
        <p:nvSpPr>
          <p:cNvPr id="12" name="cardbody2"/>
          <p:cNvSpPr/>
          <p:nvPr/>
        </p:nvSpPr>
        <p:spPr>
          <a:xfrm>
            <a:off x="8336051" y="3649508"/>
            <a:ext cx="2697480" cy="1188720"/>
          </a:xfrm>
          <a:prstGeom prst="rect">
            <a:avLst/>
          </a:prstGeom>
          <a:noFill/>
          <a:ln/>
        </p:spPr>
        <p:txBody>
          <a:bodyPr wrap="square" lIns="0" tIns="0" rIns="0" bIns="0" rtlCol="0" anchor="ctr">
            <a:noAutofit/>
          </a:bodyPr>
          <a:lstStyle/>
          <a:p>
            <a:pPr marL="0" indent="0">
              <a:buNone/>
            </a:pPr>
            <a:r>
              <a:rPr lang="en-US" sz="1050" b="1" dirty="0">
                <a:solidFill>
                  <a:srgbClr val="5B6672"/>
                </a:solidFill>
                <a:latin typeface="Segoe UI" pitchFamily="34" charset="0"/>
                <a:ea typeface="Segoe UI" pitchFamily="34" charset="-122"/>
                <a:cs typeface="Segoe UI" pitchFamily="34" charset="-120"/>
              </a:rPr>
              <a:t>File a tracked submission</a:t>
            </a:r>
            <a:endParaRPr lang="en-US" sz="1100" dirty="0"/>
          </a:p>
          <a:p>
            <a:r>
              <a:rPr lang="en-US" sz="900" b="0" dirty="0">
                <a:solidFill>
                  <a:srgbClr val="5B6672"/>
                </a:solidFill>
                <a:latin typeface="Segoe UI" pitchFamily="34" charset="0"/>
                <a:ea typeface="Segoe UI" pitchFamily="34" charset="-122"/>
                <a:cs typeface="Segoe UI" pitchFamily="34" charset="-120"/>
              </a:rPr>
              <a:t>•  Vendor uploads an updated certificate</a:t>
            </a:r>
          </a:p>
          <a:p>
            <a:r>
              <a:rPr lang="en-US" sz="900" b="0" dirty="0">
                <a:solidFill>
                  <a:srgbClr val="5B6672"/>
                </a:solidFill>
                <a:latin typeface="Segoe UI" pitchFamily="34" charset="0"/>
                <a:ea typeface="Segoe UI" pitchFamily="34" charset="-122"/>
                <a:cs typeface="Segoe UI" pitchFamily="34" charset="-120"/>
              </a:rPr>
              <a:t>•  Corrected date written to the record</a:t>
            </a:r>
          </a:p>
          <a:p>
            <a:r>
              <a:rPr lang="en-US" sz="900" b="0" dirty="0">
                <a:solidFill>
                  <a:srgbClr val="5B6672"/>
                </a:solidFill>
                <a:latin typeface="Segoe UI" pitchFamily="34" charset="0"/>
                <a:ea typeface="Segoe UI" pitchFamily="34" charset="-122"/>
                <a:cs typeface="Segoe UI" pitchFamily="34" charset="-120"/>
              </a:rPr>
              <a:t>•  Confirms Submission ID VND-2026-##### and status</a:t>
            </a:r>
          </a:p>
        </p:txBody>
      </p:sp>
      <p:sp>
        <p:nvSpPr>
          <p:cNvPr id="23" name="calloutbg"/>
          <p:cNvSpPr/>
          <p:nvPr/>
        </p:nvSpPr>
        <p:spPr>
          <a:xfrm>
            <a:off x="685800" y="5696712"/>
            <a:ext cx="10725912" cy="457200"/>
          </a:xfrm>
          <a:prstGeom prst="roundRect">
            <a:avLst>
              <a:gd name="adj" fmla="val 18000"/>
            </a:avLst>
          </a:prstGeom>
          <a:solidFill>
            <a:srgbClr val="EAF4FB"/>
          </a:solidFill>
          <a:ln w="12700">
            <a:solidFill>
              <a:srgbClr val="EAF4FB"/>
            </a:solidFill>
            <a:prstDash val="solid"/>
          </a:ln>
        </p:spPr>
        <p:txBody>
          <a:bodyPr/>
          <a:lstStyle/>
          <a:p>
            <a:endParaRPr lang="en-US"/>
          </a:p>
        </p:txBody>
      </p:sp>
      <p:sp>
        <p:nvSpPr>
          <p:cNvPr id="24" name="callouttx"/>
          <p:cNvSpPr/>
          <p:nvPr/>
        </p:nvSpPr>
        <p:spPr>
          <a:xfrm>
            <a:off x="914400" y="5769864"/>
            <a:ext cx="10241280" cy="274320"/>
          </a:xfrm>
          <a:prstGeom prst="rect">
            <a:avLst/>
          </a:prstGeom>
          <a:noFill/>
          <a:ln/>
        </p:spPr>
        <p:txBody>
          <a:bodyPr wrap="square" lIns="0" tIns="0" rIns="0" bIns="0" rtlCol="0" anchor="ctr">
            <a:normAutofit/>
          </a:bodyPr>
          <a:lstStyle/>
          <a:p>
            <a:pPr marL="0" indent="0" algn="ctr">
              <a:buNone/>
            </a:pPr>
            <a:r>
              <a:rPr lang="en-US" sz="1120" b="1" dirty="0">
                <a:solidFill>
                  <a:srgbClr val="174E7E"/>
                </a:solidFill>
                <a:latin typeface="Segoe UI Semibold" pitchFamily="34" charset="0"/>
                <a:ea typeface="Segoe UI Semibold" pitchFamily="34" charset="-122"/>
                <a:cs typeface="Segoe UI Semibold" pitchFamily="34" charset="-120"/>
              </a:rPr>
              <a:t>document extraction   •   business-rule validation   •   automated filing   •   tracked submission ID</a:t>
            </a:r>
            <a:endParaRPr lang="en-US" sz="11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2F1F7"/>
        </a:solidFill>
        <a:effectLst/>
      </p:bgPr>
    </p:bg>
    <p:spTree>
      <p:nvGrpSpPr>
        <p:cNvPr id="1" name=""/>
        <p:cNvGrpSpPr/>
        <p:nvPr/>
      </p:nvGrpSpPr>
      <p:grpSpPr>
        <a:xfrm>
          <a:off x="0" y="0"/>
          <a:ext cx="0" cy="0"/>
          <a:chOff x="0" y="0"/>
          <a:chExt cx="0" cy="0"/>
        </a:xfrm>
      </p:grpSpPr>
      <p:sp>
        <p:nvSpPr>
          <p:cNvPr id="2" name="Text 0"/>
          <p:cNvSpPr/>
          <p:nvPr/>
        </p:nvSpPr>
        <p:spPr>
          <a:xfrm>
            <a:off x="777240" y="566928"/>
            <a:ext cx="6858000" cy="237744"/>
          </a:xfrm>
          <a:prstGeom prst="rect">
            <a:avLst/>
          </a:prstGeom>
          <a:noFill/>
          <a:ln/>
        </p:spPr>
        <p:txBody>
          <a:bodyPr wrap="square" lIns="0" tIns="0" rIns="0" bIns="0" rtlCol="0" anchor="ctr">
            <a:normAutofit/>
          </a:bodyPr>
          <a:lstStyle/>
          <a:p>
            <a:pPr marL="0" indent="0">
              <a:buNone/>
            </a:pPr>
            <a:r>
              <a:rPr lang="en-US" sz="1100" b="1" kern="0" spc="180" dirty="0">
                <a:solidFill>
                  <a:srgbClr val="0078D4"/>
                </a:solidFill>
                <a:latin typeface="Segoe UI Semibold" pitchFamily="34" charset="0"/>
                <a:ea typeface="Segoe UI Semibold" pitchFamily="34" charset="-122"/>
                <a:cs typeface="Segoe UI Semibold" pitchFamily="34" charset="-120"/>
              </a:rPr>
              <a:t>CHOOSE THE CENTER OF GRAVITY</a:t>
            </a:r>
            <a:endParaRPr lang="en-US" sz="1100" dirty="0"/>
          </a:p>
        </p:txBody>
      </p:sp>
      <p:sp>
        <p:nvSpPr>
          <p:cNvPr id="3" name="Text 1"/>
          <p:cNvSpPr/>
          <p:nvPr/>
        </p:nvSpPr>
        <p:spPr>
          <a:xfrm>
            <a:off x="777240" y="932688"/>
            <a:ext cx="10744200" cy="822960"/>
          </a:xfrm>
          <a:prstGeom prst="rect">
            <a:avLst/>
          </a:prstGeom>
          <a:noFill/>
          <a:ln/>
        </p:spPr>
        <p:txBody>
          <a:bodyPr wrap="square" lIns="0" tIns="0" rIns="0" bIns="0" rtlCol="0" anchor="ctr">
            <a:normAutofit/>
          </a:bodyPr>
          <a:lstStyle/>
          <a:p>
            <a:pPr marL="0" indent="0">
              <a:buNone/>
            </a:pPr>
            <a:r>
              <a:rPr lang="en-US" sz="2500" b="1" dirty="0">
                <a:solidFill>
                  <a:srgbClr val="091F2C"/>
                </a:solidFill>
                <a:latin typeface="Segoe UI Semibold" pitchFamily="34" charset="0"/>
                <a:ea typeface="Segoe UI Semibold" pitchFamily="34" charset="-122"/>
                <a:cs typeface="Segoe UI Semibold" pitchFamily="34" charset="-120"/>
              </a:rPr>
              <a:t>Start where the solution belongs; connect where the value is clear.</a:t>
            </a:r>
            <a:endParaRPr lang="en-US" sz="2500" dirty="0"/>
          </a:p>
        </p:txBody>
      </p:sp>
      <p:sp>
        <p:nvSpPr>
          <p:cNvPr id="4" name="Text 2"/>
          <p:cNvSpPr/>
          <p:nvPr/>
        </p:nvSpPr>
        <p:spPr>
          <a:xfrm>
            <a:off x="777240" y="1828800"/>
            <a:ext cx="10698480" cy="411480"/>
          </a:xfrm>
          <a:prstGeom prst="rect">
            <a:avLst/>
          </a:prstGeom>
          <a:noFill/>
          <a:ln/>
        </p:spPr>
        <p:txBody>
          <a:bodyPr wrap="square" lIns="0" tIns="0" rIns="0" bIns="0" rtlCol="0" anchor="ctr">
            <a:normAutofit/>
          </a:bodyPr>
          <a:lstStyle/>
          <a:p>
            <a:pPr marL="0" indent="0">
              <a:buNone/>
            </a:pPr>
            <a:r>
              <a:rPr lang="en-US" sz="1320" dirty="0">
                <a:solidFill>
                  <a:srgbClr val="5B6672"/>
                </a:solidFill>
                <a:latin typeface="Segoe UI" pitchFamily="34" charset="0"/>
                <a:ea typeface="Segoe UI" pitchFamily="34" charset="-122"/>
                <a:cs typeface="Segoe UI" pitchFamily="34" charset="-120"/>
              </a:rPr>
              <a:t>Center of gravity picks the starting point — integration always stays open.</a:t>
            </a:r>
            <a:endParaRPr lang="en-US" sz="1320" dirty="0"/>
          </a:p>
        </p:txBody>
      </p:sp>
      <p:sp>
        <p:nvSpPr>
          <p:cNvPr id="5" name="Shape 3"/>
          <p:cNvSpPr/>
          <p:nvPr/>
        </p:nvSpPr>
        <p:spPr>
          <a:xfrm>
            <a:off x="457200"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7" name="Image 1" descr="preencoded.png"/>
          <p:cNvPicPr>
            <a:picLocks noChangeAspect="1"/>
          </p:cNvPicPr>
          <p:nvPr/>
        </p:nvPicPr>
        <p:blipFill>
          <a:blip r:embed="rId3"/>
          <a:stretch>
            <a:fillRect/>
          </a:stretch>
        </p:blipFill>
        <p:spPr>
          <a:xfrm>
            <a:off x="1764792" y="3154680"/>
            <a:ext cx="731520" cy="731520"/>
          </a:xfrm>
          <a:prstGeom prst="rect">
            <a:avLst/>
          </a:prstGeom>
        </p:spPr>
      </p:pic>
      <p:sp>
        <p:nvSpPr>
          <p:cNvPr id="8" name="Text 4"/>
          <p:cNvSpPr/>
          <p:nvPr/>
        </p:nvSpPr>
        <p:spPr>
          <a:xfrm>
            <a:off x="640080"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0078D4"/>
                </a:solidFill>
                <a:latin typeface="Segoe UI Semibold" pitchFamily="34" charset="0"/>
                <a:ea typeface="Segoe UI Semibold" pitchFamily="34" charset="-122"/>
                <a:cs typeface="Segoe UI Semibold" pitchFamily="34" charset="-120"/>
              </a:rPr>
              <a:t>EMPLOYEE EXPERIENCE</a:t>
            </a:r>
            <a:endParaRPr lang="en-US" sz="1080" dirty="0"/>
          </a:p>
        </p:txBody>
      </p:sp>
      <p:sp>
        <p:nvSpPr>
          <p:cNvPr id="9" name="Text 5"/>
          <p:cNvSpPr/>
          <p:nvPr/>
        </p:nvSpPr>
        <p:spPr>
          <a:xfrm>
            <a:off x="640080"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M365 Copilot</a:t>
            </a:r>
            <a:endParaRPr lang="en-US" sz="1700" dirty="0"/>
          </a:p>
        </p:txBody>
      </p:sp>
      <p:sp>
        <p:nvSpPr>
          <p:cNvPr id="10" name="Text 6"/>
          <p:cNvSpPr/>
          <p:nvPr/>
        </p:nvSpPr>
        <p:spPr>
          <a:xfrm>
            <a:off x="804672"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Productivity grounded in your Microsoft 365 work</a:t>
            </a:r>
            <a:endParaRPr lang="en-US" sz="1130" dirty="0"/>
          </a:p>
        </p:txBody>
      </p:sp>
      <p:grpSp>
        <p:nvGrpSpPr>
          <p:cNvPr id="32" name="Group 31">
            <a:extLst>
              <a:ext uri="{FF2B5EF4-FFF2-40B4-BE49-F238E27FC236}">
                <a16:creationId xmlns:a16="http://schemas.microsoft.com/office/drawing/2014/main" id="{06C1A239-C8E9-A76B-77CF-3198603860CE}"/>
              </a:ext>
            </a:extLst>
          </p:cNvPr>
          <p:cNvGrpSpPr/>
          <p:nvPr/>
        </p:nvGrpSpPr>
        <p:grpSpPr>
          <a:xfrm>
            <a:off x="4425696" y="2907792"/>
            <a:ext cx="3337560" cy="2606040"/>
            <a:chOff x="4425696" y="2907792"/>
            <a:chExt cx="3337560" cy="2606040"/>
          </a:xfrm>
        </p:grpSpPr>
        <p:sp>
          <p:nvSpPr>
            <p:cNvPr id="11" name="Shape 7"/>
            <p:cNvSpPr/>
            <p:nvPr/>
          </p:nvSpPr>
          <p:spPr>
            <a:xfrm>
              <a:off x="4425696" y="2907792"/>
              <a:ext cx="3337560" cy="2606040"/>
            </a:xfrm>
            <a:prstGeom prst="roundRect">
              <a:avLst>
                <a:gd name="adj" fmla="val 3158"/>
              </a:avLst>
            </a:prstGeom>
            <a:solidFill>
              <a:srgbClr val="091F2C"/>
            </a:solidFill>
            <a:ln w="12700">
              <a:solidFill>
                <a:srgbClr val="0078D4"/>
              </a:solidFill>
              <a:prstDash val="solid"/>
            </a:ln>
            <a:effectLst>
              <a:outerShdw blurRad="88900" dist="50800" dir="5400000" algn="bl" rotWithShape="0">
                <a:srgbClr val="5C5776">
                  <a:alpha val="22000"/>
                </a:srgbClr>
              </a:outerShdw>
            </a:effectLst>
          </p:spPr>
          <p:txBody>
            <a:bodyPr/>
            <a:lstStyle/>
            <a:p>
              <a:endParaRPr lang="en-US"/>
            </a:p>
          </p:txBody>
        </p:sp>
        <p:pic>
          <p:nvPicPr>
            <p:cNvPr id="13" name="Image 3" descr="preencoded.png"/>
            <p:cNvPicPr>
              <a:picLocks noChangeAspect="1"/>
            </p:cNvPicPr>
            <p:nvPr/>
          </p:nvPicPr>
          <p:blipFill>
            <a:blip r:embed="rId4"/>
            <a:stretch>
              <a:fillRect/>
            </a:stretch>
          </p:blipFill>
          <p:spPr>
            <a:xfrm>
              <a:off x="5733288" y="3154680"/>
              <a:ext cx="731520" cy="731520"/>
            </a:xfrm>
            <a:prstGeom prst="rect">
              <a:avLst/>
            </a:prstGeom>
          </p:spPr>
        </p:pic>
        <p:sp>
          <p:nvSpPr>
            <p:cNvPr id="14" name="Text 8"/>
            <p:cNvSpPr/>
            <p:nvPr/>
          </p:nvSpPr>
          <p:spPr>
            <a:xfrm>
              <a:off x="4608576"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8DC8E8"/>
                  </a:solidFill>
                  <a:latin typeface="Segoe UI Semibold" pitchFamily="34" charset="0"/>
                  <a:ea typeface="Segoe UI Semibold" pitchFamily="34" charset="-122"/>
                  <a:cs typeface="Segoe UI Semibold" pitchFamily="34" charset="-120"/>
                </a:rPr>
                <a:t>BUSINESS AGENT</a:t>
              </a:r>
              <a:endParaRPr lang="en-US" sz="1080" dirty="0"/>
            </a:p>
          </p:txBody>
        </p:sp>
        <p:sp>
          <p:nvSpPr>
            <p:cNvPr id="15" name="Text 9"/>
            <p:cNvSpPr/>
            <p:nvPr/>
          </p:nvSpPr>
          <p:spPr>
            <a:xfrm>
              <a:off x="4608576"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latin typeface="Segoe UI Semibold" pitchFamily="34" charset="0"/>
                  <a:ea typeface="Segoe UI Semibold" pitchFamily="34" charset="-122"/>
                  <a:cs typeface="Segoe UI Semibold" pitchFamily="34" charset="-120"/>
                </a:rPr>
                <a:t>Copilot Studio</a:t>
              </a:r>
              <a:endParaRPr lang="en-US" sz="1700" dirty="0"/>
            </a:p>
          </p:txBody>
        </p:sp>
        <p:sp>
          <p:nvSpPr>
            <p:cNvPr id="16" name="Text 10"/>
            <p:cNvSpPr/>
            <p:nvPr/>
          </p:nvSpPr>
          <p:spPr>
            <a:xfrm>
              <a:off x="4773168"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C8D8E5"/>
                  </a:solidFill>
                  <a:latin typeface="Segoe UI" pitchFamily="34" charset="0"/>
                  <a:ea typeface="Segoe UI" pitchFamily="34" charset="-122"/>
                  <a:cs typeface="Segoe UI" pitchFamily="34" charset="-120"/>
                </a:rPr>
                <a:t>Governed knowledge, actions, channels, and lifecycle</a:t>
              </a:r>
              <a:endParaRPr lang="en-US" sz="1130" dirty="0"/>
            </a:p>
          </p:txBody>
        </p:sp>
      </p:grpSp>
      <p:grpSp>
        <p:nvGrpSpPr>
          <p:cNvPr id="33" name="Group 32">
            <a:extLst>
              <a:ext uri="{FF2B5EF4-FFF2-40B4-BE49-F238E27FC236}">
                <a16:creationId xmlns:a16="http://schemas.microsoft.com/office/drawing/2014/main" id="{8125F5D9-2221-F018-0357-1C79BB1F8D6F}"/>
              </a:ext>
            </a:extLst>
          </p:cNvPr>
          <p:cNvGrpSpPr/>
          <p:nvPr/>
        </p:nvGrpSpPr>
        <p:grpSpPr>
          <a:xfrm>
            <a:off x="8394192" y="2907792"/>
            <a:ext cx="3337560" cy="2606040"/>
            <a:chOff x="8394192" y="2907792"/>
            <a:chExt cx="3337560" cy="2606040"/>
          </a:xfrm>
        </p:grpSpPr>
        <p:sp>
          <p:nvSpPr>
            <p:cNvPr id="17" name="Shape 11"/>
            <p:cNvSpPr/>
            <p:nvPr/>
          </p:nvSpPr>
          <p:spPr>
            <a:xfrm>
              <a:off x="8394192" y="2907792"/>
              <a:ext cx="3337560" cy="2606040"/>
            </a:xfrm>
            <a:prstGeom prst="roundRect">
              <a:avLst>
                <a:gd name="adj" fmla="val 3158"/>
              </a:avLst>
            </a:prstGeom>
            <a:solidFill>
              <a:srgbClr val="FFFFFF"/>
            </a:solidFill>
            <a:ln w="12700">
              <a:solidFill>
                <a:srgbClr val="E7E5F0"/>
              </a:solidFill>
              <a:prstDash val="solid"/>
            </a:ln>
            <a:effectLst>
              <a:outerShdw blurRad="63500" dist="50800" dir="5400000" algn="bl" rotWithShape="0">
                <a:srgbClr val="8A83B0">
                  <a:alpha val="18000"/>
                </a:srgbClr>
              </a:outerShdw>
            </a:effectLst>
          </p:spPr>
          <p:txBody>
            <a:bodyPr/>
            <a:lstStyle/>
            <a:p>
              <a:endParaRPr lang="en-US"/>
            </a:p>
          </p:txBody>
        </p:sp>
        <p:pic>
          <p:nvPicPr>
            <p:cNvPr id="19" name="Image 5" descr="preencoded.png"/>
            <p:cNvPicPr>
              <a:picLocks noChangeAspect="1"/>
            </p:cNvPicPr>
            <p:nvPr/>
          </p:nvPicPr>
          <p:blipFill>
            <a:blip r:embed="rId5"/>
            <a:stretch>
              <a:fillRect/>
            </a:stretch>
          </p:blipFill>
          <p:spPr>
            <a:xfrm>
              <a:off x="9701784" y="3154680"/>
              <a:ext cx="731520" cy="731520"/>
            </a:xfrm>
            <a:prstGeom prst="rect">
              <a:avLst/>
            </a:prstGeom>
          </p:spPr>
        </p:pic>
        <p:sp>
          <p:nvSpPr>
            <p:cNvPr id="20" name="Text 12"/>
            <p:cNvSpPr/>
            <p:nvPr/>
          </p:nvSpPr>
          <p:spPr>
            <a:xfrm>
              <a:off x="8577072" y="4059936"/>
              <a:ext cx="2971800" cy="256032"/>
            </a:xfrm>
            <a:prstGeom prst="rect">
              <a:avLst/>
            </a:prstGeom>
            <a:noFill/>
            <a:ln/>
          </p:spPr>
          <p:txBody>
            <a:bodyPr wrap="square" lIns="0" tIns="0" rIns="0" bIns="0" rtlCol="0" anchor="ctr">
              <a:normAutofit/>
            </a:bodyPr>
            <a:lstStyle/>
            <a:p>
              <a:pPr marL="0" indent="0" algn="ctr">
                <a:buNone/>
              </a:pPr>
              <a:r>
                <a:rPr lang="en-US" sz="1080" b="1" dirty="0">
                  <a:solidFill>
                    <a:srgbClr val="C03BC4"/>
                  </a:solidFill>
                  <a:latin typeface="Segoe UI Semibold" pitchFamily="34" charset="0"/>
                  <a:ea typeface="Segoe UI Semibold" pitchFamily="34" charset="-122"/>
                  <a:cs typeface="Segoe UI Semibold" pitchFamily="34" charset="-120"/>
                </a:rPr>
                <a:t>CUSTOM AI ENGINEERING</a:t>
              </a:r>
              <a:endParaRPr lang="en-US" sz="1080" dirty="0"/>
            </a:p>
          </p:txBody>
        </p:sp>
        <p:sp>
          <p:nvSpPr>
            <p:cNvPr id="21" name="Text 13"/>
            <p:cNvSpPr/>
            <p:nvPr/>
          </p:nvSpPr>
          <p:spPr>
            <a:xfrm>
              <a:off x="8577072" y="4416552"/>
              <a:ext cx="2971800" cy="365760"/>
            </a:xfrm>
            <a:prstGeom prst="rect">
              <a:avLst/>
            </a:prstGeom>
            <a:noFill/>
            <a:ln/>
          </p:spPr>
          <p:txBody>
            <a:bodyPr wrap="square" lIns="0" tIns="0" rIns="0" bIns="0" rtlCol="0" anchor="ctr">
              <a:normAutofit/>
            </a:bodyPr>
            <a:lstStyle/>
            <a:p>
              <a:pPr marL="0" indent="0" algn="ctr">
                <a:buNone/>
              </a:pPr>
              <a:r>
                <a:rPr lang="en-US" sz="1700" b="1" dirty="0">
                  <a:solidFill>
                    <a:srgbClr val="091F2C"/>
                  </a:solidFill>
                  <a:latin typeface="Segoe UI Semibold" pitchFamily="34" charset="0"/>
                  <a:ea typeface="Segoe UI Semibold" pitchFamily="34" charset="-122"/>
                  <a:cs typeface="Segoe UI Semibold" pitchFamily="34" charset="-120"/>
                </a:rPr>
                <a:t>Microsoft Foundry</a:t>
              </a:r>
              <a:endParaRPr lang="en-US" sz="1700" dirty="0"/>
            </a:p>
          </p:txBody>
        </p:sp>
        <p:sp>
          <p:nvSpPr>
            <p:cNvPr id="22" name="Text 14"/>
            <p:cNvSpPr/>
            <p:nvPr/>
          </p:nvSpPr>
          <p:spPr>
            <a:xfrm>
              <a:off x="8741664" y="4864608"/>
              <a:ext cx="2642616" cy="548640"/>
            </a:xfrm>
            <a:prstGeom prst="rect">
              <a:avLst/>
            </a:prstGeom>
            <a:noFill/>
            <a:ln/>
          </p:spPr>
          <p:txBody>
            <a:bodyPr wrap="square" lIns="0" tIns="0" rIns="0" bIns="0" rtlCol="0" anchor="ctr">
              <a:normAutofit/>
            </a:bodyPr>
            <a:lstStyle/>
            <a:p>
              <a:pPr marL="0" indent="0" algn="ctr">
                <a:buNone/>
              </a:pPr>
              <a:r>
                <a:rPr lang="en-US" sz="1130" dirty="0">
                  <a:solidFill>
                    <a:srgbClr val="5B6672"/>
                  </a:solidFill>
                  <a:latin typeface="Segoe UI" pitchFamily="34" charset="0"/>
                  <a:ea typeface="Segoe UI" pitchFamily="34" charset="-122"/>
                  <a:cs typeface="Segoe UI" pitchFamily="34" charset="-120"/>
                </a:rPr>
                <a:t>Code-first agents, model choice, evaluations, Azure-native</a:t>
              </a:r>
              <a:endParaRPr lang="en-US" sz="1130" dirty="0"/>
            </a:p>
          </p:txBody>
        </p:sp>
      </p:grpSp>
      <p:sp>
        <p:nvSpPr>
          <p:cNvPr id="26" name="Shape 18"/>
          <p:cNvSpPr/>
          <p:nvPr/>
        </p:nvSpPr>
        <p:spPr>
          <a:xfrm>
            <a:off x="3904488" y="4224528"/>
            <a:ext cx="411480" cy="0"/>
          </a:xfrm>
          <a:prstGeom prst="line">
            <a:avLst/>
          </a:prstGeom>
          <a:noFill/>
          <a:ln w="31750">
            <a:solidFill>
              <a:srgbClr val="0078D4"/>
            </a:solidFill>
            <a:prstDash val="solid"/>
            <a:headEnd type="triangle"/>
            <a:tailEnd type="triangle"/>
          </a:ln>
        </p:spPr>
        <p:txBody>
          <a:bodyPr/>
          <a:lstStyle/>
          <a:p>
            <a:endParaRPr lang="en-US"/>
          </a:p>
        </p:txBody>
      </p:sp>
      <p:sp>
        <p:nvSpPr>
          <p:cNvPr id="28" name="Shape 20"/>
          <p:cNvSpPr/>
          <p:nvPr/>
        </p:nvSpPr>
        <p:spPr>
          <a:xfrm>
            <a:off x="7872984" y="4224528"/>
            <a:ext cx="411480" cy="0"/>
          </a:xfrm>
          <a:prstGeom prst="line">
            <a:avLst/>
          </a:prstGeom>
          <a:noFill/>
          <a:ln w="31750">
            <a:solidFill>
              <a:srgbClr val="C03BC4"/>
            </a:solidFill>
            <a:prstDash val="solid"/>
            <a:headEnd type="triangle"/>
            <a:tailEnd type="triangle"/>
          </a:ln>
        </p:spPr>
        <p:txBody>
          <a:bodyPr/>
          <a:lstStyle/>
          <a:p>
            <a:endParaRPr lang="en-US"/>
          </a:p>
        </p:txBody>
      </p:sp>
      <p:sp>
        <p:nvSpPr>
          <p:cNvPr id="30" name="Text 22"/>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9AA3AD"/>
                </a:solidFill>
                <a:latin typeface="Segoe UI" pitchFamily="34" charset="0"/>
                <a:ea typeface="Segoe UI" pitchFamily="34" charset="-122"/>
                <a:cs typeface="Segoe UI" pitchFamily="34" charset="-120"/>
              </a:rPr>
              <a:t>Copilot Studio</a:t>
            </a:r>
            <a:endParaRPr lang="en-US" sz="850" dirty="0"/>
          </a:p>
        </p:txBody>
      </p:sp>
      <p:sp>
        <p:nvSpPr>
          <p:cNvPr id="31" name="Text 23"/>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9AA3AD"/>
                </a:solidFill>
                <a:latin typeface="Segoe UI" pitchFamily="34" charset="0"/>
                <a:ea typeface="Segoe UI" pitchFamily="34" charset="-122"/>
                <a:cs typeface="Segoe UI" pitchFamily="34" charset="-120"/>
              </a:rPr>
              <a:t>7</a:t>
            </a:r>
            <a:endParaRPr lang="en-US" sz="9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1F7"/>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B0FF60-D42A-7949-644A-89630B40E7A6}"/>
              </a:ext>
            </a:extLst>
          </p:cNvPr>
          <p:cNvSpPr txBox="1"/>
          <p:nvPr/>
        </p:nvSpPr>
        <p:spPr>
          <a:xfrm>
            <a:off x="658368" y="411480"/>
            <a:ext cx="5029200" cy="276999"/>
          </a:xfrm>
          <a:prstGeom prst="rect">
            <a:avLst/>
          </a:prstGeom>
          <a:noFill/>
        </p:spPr>
        <p:txBody>
          <a:bodyPr vert="horz" wrap="square" lIns="0" tIns="0" rIns="0" bIns="0" rtlCol="0" anchor="t">
            <a:normAutofit/>
          </a:bodyPr>
          <a:lstStyle/>
          <a:p>
            <a:r>
              <a:rPr lang="en-US" sz="1080" b="1">
                <a:solidFill>
                  <a:srgbClr val="0078D4"/>
                </a:solidFill>
                <a:latin typeface="Segoe UI Semibold" panose="020B0702040204020203" pitchFamily="34" charset="0"/>
              </a:rPr>
              <a:t>BETTER TOGETHER</a:t>
            </a:r>
          </a:p>
        </p:txBody>
      </p:sp>
      <p:sp>
        <p:nvSpPr>
          <p:cNvPr id="3" name="TextBox 2">
            <a:extLst>
              <a:ext uri="{FF2B5EF4-FFF2-40B4-BE49-F238E27FC236}">
                <a16:creationId xmlns:a16="http://schemas.microsoft.com/office/drawing/2014/main" id="{B64DC9FA-0D58-260F-6207-0E506BFF75E3}"/>
              </a:ext>
            </a:extLst>
          </p:cNvPr>
          <p:cNvSpPr txBox="1"/>
          <p:nvPr/>
        </p:nvSpPr>
        <p:spPr>
          <a:xfrm>
            <a:off x="612648" y="680062"/>
            <a:ext cx="9052560" cy="276999"/>
          </a:xfrm>
          <a:prstGeom prst="rect">
            <a:avLst/>
          </a:prstGeom>
          <a:noFill/>
        </p:spPr>
        <p:txBody>
          <a:bodyPr vert="horz" wrap="square" lIns="0" tIns="0" rIns="0" bIns="0" rtlCol="0" anchor="t">
            <a:noAutofit/>
          </a:bodyPr>
          <a:lstStyle/>
          <a:p>
            <a:r>
              <a:rPr lang="en-US" sz="2650" b="1" dirty="0">
                <a:solidFill>
                  <a:srgbClr val="091F2C"/>
                </a:solidFill>
                <a:latin typeface="Segoe UI Semibold" panose="020B0702040204020203" pitchFamily="34" charset="0"/>
              </a:rPr>
              <a:t>The Microsoft Agent Stack</a:t>
            </a:r>
          </a:p>
        </p:txBody>
      </p:sp>
      <p:sp>
        <p:nvSpPr>
          <p:cNvPr id="4" name="TextBox 3">
            <a:extLst>
              <a:ext uri="{FF2B5EF4-FFF2-40B4-BE49-F238E27FC236}">
                <a16:creationId xmlns:a16="http://schemas.microsoft.com/office/drawing/2014/main" id="{C96265E9-2C08-A248-A05B-2CE6A6987D53}"/>
              </a:ext>
            </a:extLst>
          </p:cNvPr>
          <p:cNvSpPr txBox="1"/>
          <p:nvPr/>
        </p:nvSpPr>
        <p:spPr>
          <a:xfrm>
            <a:off x="640080" y="1115568"/>
            <a:ext cx="9784080" cy="276999"/>
          </a:xfrm>
          <a:prstGeom prst="rect">
            <a:avLst/>
          </a:prstGeom>
          <a:noFill/>
        </p:spPr>
        <p:txBody>
          <a:bodyPr vert="horz" wrap="square" lIns="0" tIns="0" rIns="0" bIns="0" rtlCol="0" anchor="t">
            <a:normAutofit/>
          </a:bodyPr>
          <a:lstStyle/>
          <a:p>
            <a:r>
              <a:rPr lang="en-US" sz="1270" dirty="0">
                <a:solidFill>
                  <a:srgbClr val="5B6672"/>
                </a:solidFill>
                <a:latin typeface="Segoe UI" panose="020B0502040204020203" pitchFamily="34" charset="0"/>
              </a:rPr>
              <a:t>Each technology serves a different purpose, audience, and level of engineering control.</a:t>
            </a:r>
          </a:p>
        </p:txBody>
      </p:sp>
      <p:grpSp>
        <p:nvGrpSpPr>
          <p:cNvPr id="50" name="Group 49">
            <a:extLst>
              <a:ext uri="{FF2B5EF4-FFF2-40B4-BE49-F238E27FC236}">
                <a16:creationId xmlns:a16="http://schemas.microsoft.com/office/drawing/2014/main" id="{C5DB9DD4-CB43-1293-14DC-2F4A61AA2477}"/>
              </a:ext>
            </a:extLst>
          </p:cNvPr>
          <p:cNvGrpSpPr/>
          <p:nvPr/>
        </p:nvGrpSpPr>
        <p:grpSpPr>
          <a:xfrm>
            <a:off x="658368" y="1605300"/>
            <a:ext cx="3438144" cy="4679307"/>
            <a:chOff x="475488" y="1755648"/>
            <a:chExt cx="3438144" cy="4679307"/>
          </a:xfrm>
        </p:grpSpPr>
        <p:sp>
          <p:nvSpPr>
            <p:cNvPr id="7" name="Rectangle: Rounded Corners 6">
              <a:extLst>
                <a:ext uri="{FF2B5EF4-FFF2-40B4-BE49-F238E27FC236}">
                  <a16:creationId xmlns:a16="http://schemas.microsoft.com/office/drawing/2014/main" id="{A2B45856-E0E6-3A2B-175B-EC0ABF578E23}"/>
                </a:ext>
              </a:extLst>
            </p:cNvPr>
            <p:cNvSpPr/>
            <p:nvPr/>
          </p:nvSpPr>
          <p:spPr>
            <a:xfrm>
              <a:off x="475488" y="1938527"/>
              <a:ext cx="3438144" cy="4496428"/>
            </a:xfrm>
            <a:prstGeom prst="roundRect">
              <a:avLst>
                <a:gd name="adj" fmla="val 2940"/>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D7D85DB3-3C4C-1D54-517B-63A47DAE3315}"/>
                </a:ext>
              </a:extLst>
            </p:cNvPr>
            <p:cNvSpPr/>
            <p:nvPr/>
          </p:nvSpPr>
          <p:spPr>
            <a:xfrm>
              <a:off x="640080" y="1755648"/>
              <a:ext cx="3108960" cy="621792"/>
            </a:xfrm>
            <a:prstGeom prst="roundRect">
              <a:avLst/>
            </a:prstGeom>
            <a:gradFill flip="none" rotWithShape="1">
              <a:gsLst>
                <a:gs pos="56000">
                  <a:srgbClr val="0078D4"/>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33A8593-DCF2-AAE7-F701-2B6F2F0FB9D6}"/>
                </a:ext>
              </a:extLst>
            </p:cNvPr>
            <p:cNvSpPr/>
            <p:nvPr/>
          </p:nvSpPr>
          <p:spPr>
            <a:xfrm>
              <a:off x="7955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EB21295-2ACF-5CB4-A1A3-B412F0A25CF2}"/>
                </a:ext>
              </a:extLst>
            </p:cNvPr>
            <p:cNvPicPr>
              <a:picLocks/>
            </p:cNvPicPr>
            <p:nvPr/>
          </p:nvPicPr>
          <p:blipFill>
            <a:blip r:embed="rId3"/>
            <a:stretch>
              <a:fillRect/>
            </a:stretch>
          </p:blipFill>
          <p:spPr>
            <a:xfrm>
              <a:off x="850392" y="1901952"/>
              <a:ext cx="329184" cy="329184"/>
            </a:xfrm>
            <a:prstGeom prst="rect">
              <a:avLst/>
            </a:prstGeom>
          </p:spPr>
        </p:pic>
        <p:sp>
          <p:nvSpPr>
            <p:cNvPr id="12" name="TextBox 11">
              <a:extLst>
                <a:ext uri="{FF2B5EF4-FFF2-40B4-BE49-F238E27FC236}">
                  <a16:creationId xmlns:a16="http://schemas.microsoft.com/office/drawing/2014/main" id="{39C537C0-B8F7-97F0-5A07-537AAEB06DFE}"/>
                </a:ext>
              </a:extLst>
            </p:cNvPr>
            <p:cNvSpPr txBox="1"/>
            <p:nvPr/>
          </p:nvSpPr>
          <p:spPr>
            <a:xfrm>
              <a:off x="1371600" y="1874520"/>
              <a:ext cx="2084832" cy="276999"/>
            </a:xfrm>
            <a:prstGeom prst="rect">
              <a:avLst/>
            </a:prstGeom>
            <a:noFill/>
          </p:spPr>
          <p:txBody>
            <a:bodyPr vert="horz" wrap="square" lIns="0" tIns="0" rIns="0" bIns="0" rtlCol="0" anchor="ctr">
              <a:normAutofit/>
            </a:bodyPr>
            <a:lstStyle/>
            <a:p>
              <a:r>
                <a:rPr lang="en-US" sz="1300" b="1">
                  <a:solidFill>
                    <a:srgbClr val="FFFFFF"/>
                  </a:solidFill>
                  <a:latin typeface="Segoe UI Semibold" panose="020B0702040204020203" pitchFamily="34" charset="0"/>
                </a:rPr>
                <a:t>M365 Copilot</a:t>
              </a:r>
            </a:p>
          </p:txBody>
        </p:sp>
        <p:sp>
          <p:nvSpPr>
            <p:cNvPr id="13" name="TextBox 12">
              <a:extLst>
                <a:ext uri="{FF2B5EF4-FFF2-40B4-BE49-F238E27FC236}">
                  <a16:creationId xmlns:a16="http://schemas.microsoft.com/office/drawing/2014/main" id="{2E435CC0-ACCD-A10F-F1DC-E987E77240C6}"/>
                </a:ext>
              </a:extLst>
            </p:cNvPr>
            <p:cNvSpPr txBox="1"/>
            <p:nvPr/>
          </p:nvSpPr>
          <p:spPr>
            <a:xfrm>
              <a:off x="731520" y="2542032"/>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BEST FOR</a:t>
              </a:r>
            </a:p>
          </p:txBody>
        </p:sp>
        <p:sp>
          <p:nvSpPr>
            <p:cNvPr id="14" name="TextBox 13">
              <a:extLst>
                <a:ext uri="{FF2B5EF4-FFF2-40B4-BE49-F238E27FC236}">
                  <a16:creationId xmlns:a16="http://schemas.microsoft.com/office/drawing/2014/main" id="{8A118575-1503-F990-F00C-DB9623247836}"/>
                </a:ext>
              </a:extLst>
            </p:cNvPr>
            <p:cNvSpPr txBox="1"/>
            <p:nvPr/>
          </p:nvSpPr>
          <p:spPr>
            <a:xfrm>
              <a:off x="731520" y="2734056"/>
              <a:ext cx="2926080" cy="276999"/>
            </a:xfrm>
            <a:prstGeom prst="rect">
              <a:avLst/>
            </a:prstGeom>
            <a:noFill/>
          </p:spPr>
          <p:txBody>
            <a:bodyPr vert="horz" wrap="square" lIns="0" tIns="0" rIns="0" bIns="0" rtlCol="0" anchor="t">
              <a:noAutofit/>
            </a:bodyPr>
            <a:lstStyle/>
            <a:p>
              <a:r>
                <a:rPr lang="en-US" sz="1170" b="1">
                  <a:solidFill>
                    <a:srgbClr val="091F2C"/>
                  </a:solidFill>
                  <a:latin typeface="Segoe UI Semibold" panose="020B0702040204020203" pitchFamily="34" charset="0"/>
                </a:rPr>
                <a:t>AI-powered productivity in the flow of work</a:t>
              </a:r>
            </a:p>
          </p:txBody>
        </p:sp>
        <p:cxnSp>
          <p:nvCxnSpPr>
            <p:cNvPr id="15" name="Straight Connector 14">
              <a:extLst>
                <a:ext uri="{FF2B5EF4-FFF2-40B4-BE49-F238E27FC236}">
                  <a16:creationId xmlns:a16="http://schemas.microsoft.com/office/drawing/2014/main" id="{15FC09B1-D7DE-B6B3-21D6-59000E1CF3DE}"/>
                </a:ext>
              </a:extLst>
            </p:cNvPr>
            <p:cNvCxnSpPr/>
            <p:nvPr/>
          </p:nvCxnSpPr>
          <p:spPr>
            <a:xfrm>
              <a:off x="7315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84EB67D-15B0-6887-D8AD-77FD0D483768}"/>
                </a:ext>
              </a:extLst>
            </p:cNvPr>
            <p:cNvSpPr txBox="1"/>
            <p:nvPr/>
          </p:nvSpPr>
          <p:spPr>
            <a:xfrm>
              <a:off x="731520" y="3291840"/>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KEY AUDIENCE</a:t>
              </a:r>
            </a:p>
          </p:txBody>
        </p:sp>
        <p:sp>
          <p:nvSpPr>
            <p:cNvPr id="17" name="TextBox 16">
              <a:extLst>
                <a:ext uri="{FF2B5EF4-FFF2-40B4-BE49-F238E27FC236}">
                  <a16:creationId xmlns:a16="http://schemas.microsoft.com/office/drawing/2014/main" id="{4CC7143A-3F6C-DDD3-0812-6076234637E8}"/>
                </a:ext>
              </a:extLst>
            </p:cNvPr>
            <p:cNvSpPr txBox="1"/>
            <p:nvPr/>
          </p:nvSpPr>
          <p:spPr>
            <a:xfrm>
              <a:off x="731520" y="3483864"/>
              <a:ext cx="2926080" cy="276999"/>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Knowledge workers across the organization</a:t>
              </a:r>
            </a:p>
          </p:txBody>
        </p:sp>
        <p:cxnSp>
          <p:nvCxnSpPr>
            <p:cNvPr id="18" name="Straight Connector 17">
              <a:extLst>
                <a:ext uri="{FF2B5EF4-FFF2-40B4-BE49-F238E27FC236}">
                  <a16:creationId xmlns:a16="http://schemas.microsoft.com/office/drawing/2014/main" id="{9BE23E2A-284F-E124-60D7-DF56687FFF59}"/>
                </a:ext>
              </a:extLst>
            </p:cNvPr>
            <p:cNvCxnSpPr/>
            <p:nvPr/>
          </p:nvCxnSpPr>
          <p:spPr>
            <a:xfrm>
              <a:off x="7315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94828FFE-4054-188A-5E9D-B4FC25C4BF29}"/>
                </a:ext>
              </a:extLst>
            </p:cNvPr>
            <p:cNvSpPr txBox="1"/>
            <p:nvPr/>
          </p:nvSpPr>
          <p:spPr>
            <a:xfrm>
              <a:off x="731520" y="3977640"/>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USE WHEN</a:t>
              </a:r>
            </a:p>
          </p:txBody>
        </p:sp>
        <p:sp>
          <p:nvSpPr>
            <p:cNvPr id="20" name="TextBox 19">
              <a:extLst>
                <a:ext uri="{FF2B5EF4-FFF2-40B4-BE49-F238E27FC236}">
                  <a16:creationId xmlns:a16="http://schemas.microsoft.com/office/drawing/2014/main" id="{D6217633-10FE-AE48-3050-A97A96F7E476}"/>
                </a:ext>
              </a:extLst>
            </p:cNvPr>
            <p:cNvSpPr txBox="1"/>
            <p:nvPr/>
          </p:nvSpPr>
          <p:spPr>
            <a:xfrm>
              <a:off x="731520" y="4169664"/>
              <a:ext cx="2926080" cy="600826"/>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Employees need AI in Microsoft 365 · M365 data is the primary source · Fastest path to productivity</a:t>
              </a:r>
            </a:p>
          </p:txBody>
        </p:sp>
        <p:cxnSp>
          <p:nvCxnSpPr>
            <p:cNvPr id="21" name="Straight Connector 20">
              <a:extLst>
                <a:ext uri="{FF2B5EF4-FFF2-40B4-BE49-F238E27FC236}">
                  <a16:creationId xmlns:a16="http://schemas.microsoft.com/office/drawing/2014/main" id="{6D51BE9D-75D0-30D7-36EC-5A1E0294E5A2}"/>
                </a:ext>
              </a:extLst>
            </p:cNvPr>
            <p:cNvCxnSpPr/>
            <p:nvPr/>
          </p:nvCxnSpPr>
          <p:spPr>
            <a:xfrm>
              <a:off x="731520" y="4861929"/>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3878C15E-E937-5446-66A5-B5686EB45739}"/>
                </a:ext>
              </a:extLst>
            </p:cNvPr>
            <p:cNvSpPr txBox="1"/>
            <p:nvPr/>
          </p:nvSpPr>
          <p:spPr>
            <a:xfrm>
              <a:off x="731520" y="4953369"/>
              <a:ext cx="2926080" cy="276999"/>
            </a:xfrm>
            <a:prstGeom prst="rect">
              <a:avLst/>
            </a:prstGeom>
            <a:noFill/>
          </p:spPr>
          <p:txBody>
            <a:bodyPr vert="horz" wrap="square" lIns="0" tIns="0" rIns="0" bIns="0" rtlCol="0" anchor="t">
              <a:normAutofit/>
            </a:bodyPr>
            <a:lstStyle/>
            <a:p>
              <a:r>
                <a:rPr lang="en-US" sz="840" b="1">
                  <a:solidFill>
                    <a:srgbClr val="0078D4"/>
                  </a:solidFill>
                  <a:latin typeface="Segoe UI Semibold" panose="020B0702040204020203" pitchFamily="34" charset="0"/>
                </a:rPr>
                <a:t>BUILT BY</a:t>
              </a:r>
            </a:p>
          </p:txBody>
        </p:sp>
        <p:sp>
          <p:nvSpPr>
            <p:cNvPr id="23" name="TextBox 22">
              <a:extLst>
                <a:ext uri="{FF2B5EF4-FFF2-40B4-BE49-F238E27FC236}">
                  <a16:creationId xmlns:a16="http://schemas.microsoft.com/office/drawing/2014/main" id="{9D47CCCE-43D9-8EA9-6E74-F2AD2C2EB7FD}"/>
                </a:ext>
              </a:extLst>
            </p:cNvPr>
            <p:cNvSpPr txBox="1"/>
            <p:nvPr/>
          </p:nvSpPr>
          <p:spPr>
            <a:xfrm>
              <a:off x="731520" y="5145393"/>
              <a:ext cx="2926080" cy="276999"/>
            </a:xfrm>
            <a:prstGeom prst="rect">
              <a:avLst/>
            </a:prstGeom>
            <a:noFill/>
          </p:spPr>
          <p:txBody>
            <a:bodyPr vert="horz" wrap="square" lIns="0" tIns="0" rIns="0" bIns="0" rtlCol="0" anchor="t">
              <a:noAutofit/>
            </a:bodyPr>
            <a:lstStyle/>
            <a:p>
              <a:r>
                <a:rPr lang="en-US" sz="1050">
                  <a:solidFill>
                    <a:srgbClr val="091F2C"/>
                  </a:solidFill>
                  <a:latin typeface="Segoe UI" panose="020B0502040204020203" pitchFamily="34" charset="0"/>
                </a:rPr>
                <a:t>Business users and small teams with Agent Builder</a:t>
              </a:r>
            </a:p>
          </p:txBody>
        </p:sp>
        <p:cxnSp>
          <p:nvCxnSpPr>
            <p:cNvPr id="24" name="Straight Connector 23">
              <a:extLst>
                <a:ext uri="{FF2B5EF4-FFF2-40B4-BE49-F238E27FC236}">
                  <a16:creationId xmlns:a16="http://schemas.microsoft.com/office/drawing/2014/main" id="{900FDF35-ECC0-FC94-DA93-3FE9B59C5CA1}"/>
                </a:ext>
              </a:extLst>
            </p:cNvPr>
            <p:cNvCxnSpPr/>
            <p:nvPr/>
          </p:nvCxnSpPr>
          <p:spPr>
            <a:xfrm>
              <a:off x="731520" y="5520297"/>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95A655F9-A136-19B9-2D3A-B5C999D4E78E}"/>
                </a:ext>
              </a:extLst>
            </p:cNvPr>
            <p:cNvSpPr txBox="1"/>
            <p:nvPr/>
          </p:nvSpPr>
          <p:spPr>
            <a:xfrm>
              <a:off x="731520" y="5628331"/>
              <a:ext cx="2926080" cy="276999"/>
            </a:xfrm>
            <a:prstGeom prst="rect">
              <a:avLst/>
            </a:prstGeom>
            <a:noFill/>
          </p:spPr>
          <p:txBody>
            <a:bodyPr vert="horz" wrap="square" lIns="0" tIns="0" rIns="0" bIns="0" rtlCol="0" anchor="t">
              <a:normAutofit/>
            </a:bodyPr>
            <a:lstStyle/>
            <a:p>
              <a:r>
                <a:rPr lang="en-US" sz="900" b="1">
                  <a:solidFill>
                    <a:srgbClr val="0078D4"/>
                  </a:solidFill>
                  <a:latin typeface="Segoe UI Semibold" panose="020B0702040204020203" pitchFamily="34" charset="0"/>
                </a:rPr>
                <a:t>GOVERNANCE FOCUS</a:t>
              </a:r>
            </a:p>
          </p:txBody>
        </p:sp>
        <p:sp>
          <p:nvSpPr>
            <p:cNvPr id="26" name="TextBox 25">
              <a:extLst>
                <a:ext uri="{FF2B5EF4-FFF2-40B4-BE49-F238E27FC236}">
                  <a16:creationId xmlns:a16="http://schemas.microsoft.com/office/drawing/2014/main" id="{71C77B0A-463E-2D98-018A-08B1D521B656}"/>
                </a:ext>
              </a:extLst>
            </p:cNvPr>
            <p:cNvSpPr txBox="1"/>
            <p:nvPr/>
          </p:nvSpPr>
          <p:spPr>
            <a:xfrm>
              <a:off x="731520" y="5829498"/>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Permissions and information readiness</a:t>
              </a:r>
            </a:p>
          </p:txBody>
        </p:sp>
      </p:grpSp>
      <p:grpSp>
        <p:nvGrpSpPr>
          <p:cNvPr id="10" name="Group 9">
            <a:extLst>
              <a:ext uri="{FF2B5EF4-FFF2-40B4-BE49-F238E27FC236}">
                <a16:creationId xmlns:a16="http://schemas.microsoft.com/office/drawing/2014/main" id="{2EB34701-CB1A-8A8D-FCC8-60A6B5E69EA8}"/>
              </a:ext>
            </a:extLst>
          </p:cNvPr>
          <p:cNvGrpSpPr/>
          <p:nvPr/>
        </p:nvGrpSpPr>
        <p:grpSpPr>
          <a:xfrm>
            <a:off x="4379976" y="1608009"/>
            <a:ext cx="3438144" cy="4676598"/>
            <a:chOff x="4133088" y="1755648"/>
            <a:chExt cx="3438144" cy="4676598"/>
          </a:xfrm>
        </p:grpSpPr>
        <p:sp>
          <p:nvSpPr>
            <p:cNvPr id="27" name="Rectangle: Rounded Corners 26">
              <a:extLst>
                <a:ext uri="{FF2B5EF4-FFF2-40B4-BE49-F238E27FC236}">
                  <a16:creationId xmlns:a16="http://schemas.microsoft.com/office/drawing/2014/main" id="{E49FE254-1DD7-A0EC-6608-1D5C9BE8927C}"/>
                </a:ext>
              </a:extLst>
            </p:cNvPr>
            <p:cNvSpPr/>
            <p:nvPr/>
          </p:nvSpPr>
          <p:spPr>
            <a:xfrm>
              <a:off x="4133088" y="1938527"/>
              <a:ext cx="3438144" cy="4493719"/>
            </a:xfrm>
            <a:prstGeom prst="roundRect">
              <a:avLst>
                <a:gd name="adj" fmla="val 2654"/>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Rounded Corners 27">
              <a:extLst>
                <a:ext uri="{FF2B5EF4-FFF2-40B4-BE49-F238E27FC236}">
                  <a16:creationId xmlns:a16="http://schemas.microsoft.com/office/drawing/2014/main" id="{1DEAAEEE-DBEB-E5B3-251F-82C53517BA2C}"/>
                </a:ext>
              </a:extLst>
            </p:cNvPr>
            <p:cNvSpPr/>
            <p:nvPr/>
          </p:nvSpPr>
          <p:spPr>
            <a:xfrm>
              <a:off x="4297680" y="1755648"/>
              <a:ext cx="3108960" cy="621792"/>
            </a:xfrm>
            <a:prstGeom prst="roundRect">
              <a:avLst/>
            </a:prstGeom>
            <a:gradFill flip="none" rotWithShape="1">
              <a:gsLst>
                <a:gs pos="48000">
                  <a:srgbClr val="0078D4"/>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6917393A-1779-F3D3-34B6-295DA3FCF0AF}"/>
                </a:ext>
              </a:extLst>
            </p:cNvPr>
            <p:cNvSpPr/>
            <p:nvPr/>
          </p:nvSpPr>
          <p:spPr>
            <a:xfrm>
              <a:off x="44531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D0363EC0-D3E2-B307-67A1-DE615FA7BC7B}"/>
                </a:ext>
              </a:extLst>
            </p:cNvPr>
            <p:cNvPicPr>
              <a:picLocks/>
            </p:cNvPicPr>
            <p:nvPr/>
          </p:nvPicPr>
          <p:blipFill>
            <a:blip r:embed="rId4"/>
            <a:stretch>
              <a:fillRect/>
            </a:stretch>
          </p:blipFill>
          <p:spPr>
            <a:xfrm>
              <a:off x="4507992" y="1901952"/>
              <a:ext cx="329184" cy="329184"/>
            </a:xfrm>
            <a:prstGeom prst="rect">
              <a:avLst/>
            </a:prstGeom>
          </p:spPr>
        </p:pic>
        <p:sp>
          <p:nvSpPr>
            <p:cNvPr id="32" name="TextBox 31">
              <a:extLst>
                <a:ext uri="{FF2B5EF4-FFF2-40B4-BE49-F238E27FC236}">
                  <a16:creationId xmlns:a16="http://schemas.microsoft.com/office/drawing/2014/main" id="{2B1FADA4-0295-F276-8DE4-FC83FDF30CA4}"/>
                </a:ext>
              </a:extLst>
            </p:cNvPr>
            <p:cNvSpPr txBox="1"/>
            <p:nvPr/>
          </p:nvSpPr>
          <p:spPr>
            <a:xfrm>
              <a:off x="5029200" y="1874520"/>
              <a:ext cx="2084832" cy="276999"/>
            </a:xfrm>
            <a:prstGeom prst="rect">
              <a:avLst/>
            </a:prstGeom>
            <a:noFill/>
          </p:spPr>
          <p:txBody>
            <a:bodyPr vert="horz" wrap="square" lIns="0" tIns="0" rIns="0" bIns="0" rtlCol="0" anchor="ctr">
              <a:normAutofit/>
            </a:bodyPr>
            <a:lstStyle/>
            <a:p>
              <a:r>
                <a:rPr lang="en-US" sz="1300" b="1" dirty="0">
                  <a:solidFill>
                    <a:srgbClr val="FFFFFF"/>
                  </a:solidFill>
                  <a:latin typeface="Segoe UI Semibold" panose="020B0702040204020203" pitchFamily="34" charset="0"/>
                </a:rPr>
                <a:t>Copilot Studio</a:t>
              </a:r>
            </a:p>
          </p:txBody>
        </p:sp>
        <p:sp>
          <p:nvSpPr>
            <p:cNvPr id="33" name="TextBox 32">
              <a:extLst>
                <a:ext uri="{FF2B5EF4-FFF2-40B4-BE49-F238E27FC236}">
                  <a16:creationId xmlns:a16="http://schemas.microsoft.com/office/drawing/2014/main" id="{2E1BECA4-1D41-46A0-10B7-AF3E8F8B737B}"/>
                </a:ext>
              </a:extLst>
            </p:cNvPr>
            <p:cNvSpPr txBox="1"/>
            <p:nvPr/>
          </p:nvSpPr>
          <p:spPr>
            <a:xfrm>
              <a:off x="4389120" y="2542032"/>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BEST FOR</a:t>
              </a:r>
            </a:p>
          </p:txBody>
        </p:sp>
        <p:sp>
          <p:nvSpPr>
            <p:cNvPr id="34" name="TextBox 33">
              <a:extLst>
                <a:ext uri="{FF2B5EF4-FFF2-40B4-BE49-F238E27FC236}">
                  <a16:creationId xmlns:a16="http://schemas.microsoft.com/office/drawing/2014/main" id="{DD5B677E-0284-242D-C4C9-57D01F802D2F}"/>
                </a:ext>
              </a:extLst>
            </p:cNvPr>
            <p:cNvSpPr txBox="1"/>
            <p:nvPr/>
          </p:nvSpPr>
          <p:spPr>
            <a:xfrm>
              <a:off x="4389120" y="2734056"/>
              <a:ext cx="2926080" cy="276999"/>
            </a:xfrm>
            <a:prstGeom prst="rect">
              <a:avLst/>
            </a:prstGeom>
            <a:noFill/>
          </p:spPr>
          <p:txBody>
            <a:bodyPr vert="horz" wrap="square" lIns="0" tIns="0" rIns="0" bIns="0" rtlCol="0" anchor="t">
              <a:noAutofit/>
            </a:bodyPr>
            <a:lstStyle/>
            <a:p>
              <a:r>
                <a:rPr lang="en-US" sz="1170" b="1">
                  <a:solidFill>
                    <a:srgbClr val="091F2C"/>
                  </a:solidFill>
                  <a:latin typeface="Segoe UI Semibold" panose="020B0702040204020203" pitchFamily="34" charset="0"/>
                </a:rPr>
                <a:t>Purpose-built agents for business processes</a:t>
              </a:r>
            </a:p>
          </p:txBody>
        </p:sp>
        <p:cxnSp>
          <p:nvCxnSpPr>
            <p:cNvPr id="35" name="Straight Connector 34">
              <a:extLst>
                <a:ext uri="{FF2B5EF4-FFF2-40B4-BE49-F238E27FC236}">
                  <a16:creationId xmlns:a16="http://schemas.microsoft.com/office/drawing/2014/main" id="{F6678CEE-4C25-E2B3-5A52-BB57E698093A}"/>
                </a:ext>
              </a:extLst>
            </p:cNvPr>
            <p:cNvCxnSpPr/>
            <p:nvPr/>
          </p:nvCxnSpPr>
          <p:spPr>
            <a:xfrm>
              <a:off x="43891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4432A3A-52E8-1398-90F2-4DAB37EDA086}"/>
                </a:ext>
              </a:extLst>
            </p:cNvPr>
            <p:cNvSpPr txBox="1"/>
            <p:nvPr/>
          </p:nvSpPr>
          <p:spPr>
            <a:xfrm>
              <a:off x="4389120" y="3291840"/>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KEY AUDIENCE</a:t>
              </a:r>
            </a:p>
          </p:txBody>
        </p:sp>
        <p:sp>
          <p:nvSpPr>
            <p:cNvPr id="37" name="TextBox 36">
              <a:extLst>
                <a:ext uri="{FF2B5EF4-FFF2-40B4-BE49-F238E27FC236}">
                  <a16:creationId xmlns:a16="http://schemas.microsoft.com/office/drawing/2014/main" id="{6ABE8591-3A43-2F91-0F8D-C49FF3B093A3}"/>
                </a:ext>
              </a:extLst>
            </p:cNvPr>
            <p:cNvSpPr txBox="1"/>
            <p:nvPr/>
          </p:nvSpPr>
          <p:spPr>
            <a:xfrm>
              <a:off x="4389120" y="3483864"/>
              <a:ext cx="2926080" cy="276999"/>
            </a:xfrm>
            <a:prstGeom prst="rect">
              <a:avLst/>
            </a:prstGeom>
            <a:noFill/>
          </p:spPr>
          <p:txBody>
            <a:bodyPr vert="horz" wrap="square" lIns="0" tIns="0" rIns="0" bIns="0" rtlCol="0" anchor="t">
              <a:normAutofit/>
            </a:bodyPr>
            <a:lstStyle/>
            <a:p>
              <a:r>
                <a:rPr lang="en-US" sz="1050" dirty="0">
                  <a:solidFill>
                    <a:srgbClr val="091F2C"/>
                  </a:solidFill>
                  <a:latin typeface="Segoe UI" panose="020B0502040204020203" pitchFamily="34" charset="0"/>
                </a:rPr>
                <a:t>Employees, customers, citizens, and partners</a:t>
              </a:r>
            </a:p>
          </p:txBody>
        </p:sp>
        <p:cxnSp>
          <p:nvCxnSpPr>
            <p:cNvPr id="38" name="Straight Connector 37">
              <a:extLst>
                <a:ext uri="{FF2B5EF4-FFF2-40B4-BE49-F238E27FC236}">
                  <a16:creationId xmlns:a16="http://schemas.microsoft.com/office/drawing/2014/main" id="{3FBFE456-31B3-1579-5DEA-F88802433EBC}"/>
                </a:ext>
              </a:extLst>
            </p:cNvPr>
            <p:cNvCxnSpPr/>
            <p:nvPr/>
          </p:nvCxnSpPr>
          <p:spPr>
            <a:xfrm>
              <a:off x="43891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A159933C-8345-E712-5D33-55D1DACF9212}"/>
                </a:ext>
              </a:extLst>
            </p:cNvPr>
            <p:cNvSpPr txBox="1"/>
            <p:nvPr/>
          </p:nvSpPr>
          <p:spPr>
            <a:xfrm>
              <a:off x="4389120" y="3977640"/>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USE WHEN</a:t>
              </a:r>
            </a:p>
          </p:txBody>
        </p:sp>
        <p:sp>
          <p:nvSpPr>
            <p:cNvPr id="40" name="TextBox 39">
              <a:extLst>
                <a:ext uri="{FF2B5EF4-FFF2-40B4-BE49-F238E27FC236}">
                  <a16:creationId xmlns:a16="http://schemas.microsoft.com/office/drawing/2014/main" id="{A36D6758-63C9-CDB3-A60A-6976E1645D04}"/>
                </a:ext>
              </a:extLst>
            </p:cNvPr>
            <p:cNvSpPr txBox="1"/>
            <p:nvPr/>
          </p:nvSpPr>
          <p:spPr>
            <a:xfrm>
              <a:off x="4389120" y="4169664"/>
              <a:ext cx="2926080" cy="597757"/>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Automate business processes with actions, tools, and Agent Flows that connect to other systems · Orchestrate connected agents across a workflow</a:t>
              </a:r>
            </a:p>
          </p:txBody>
        </p:sp>
        <p:cxnSp>
          <p:nvCxnSpPr>
            <p:cNvPr id="41" name="Straight Connector 40">
              <a:extLst>
                <a:ext uri="{FF2B5EF4-FFF2-40B4-BE49-F238E27FC236}">
                  <a16:creationId xmlns:a16="http://schemas.microsoft.com/office/drawing/2014/main" id="{1345FC14-3BCF-2D20-7D48-2001D22DC3A5}"/>
                </a:ext>
              </a:extLst>
            </p:cNvPr>
            <p:cNvCxnSpPr/>
            <p:nvPr/>
          </p:nvCxnSpPr>
          <p:spPr>
            <a:xfrm>
              <a:off x="4389120" y="4868005"/>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1D87DD04-F476-947C-9884-0FA75E1B1072}"/>
                </a:ext>
              </a:extLst>
            </p:cNvPr>
            <p:cNvSpPr txBox="1"/>
            <p:nvPr/>
          </p:nvSpPr>
          <p:spPr>
            <a:xfrm>
              <a:off x="4389120" y="4959445"/>
              <a:ext cx="2926080" cy="276999"/>
            </a:xfrm>
            <a:prstGeom prst="rect">
              <a:avLst/>
            </a:prstGeom>
            <a:noFill/>
          </p:spPr>
          <p:txBody>
            <a:bodyPr vert="horz" wrap="square" lIns="0" tIns="0" rIns="0" bIns="0" rtlCol="0" anchor="t">
              <a:normAutofit/>
            </a:bodyPr>
            <a:lstStyle/>
            <a:p>
              <a:r>
                <a:rPr lang="en-US" sz="840" b="1">
                  <a:solidFill>
                    <a:srgbClr val="8661C5"/>
                  </a:solidFill>
                  <a:latin typeface="Segoe UI Semibold" panose="020B0702040204020203" pitchFamily="34" charset="0"/>
                </a:rPr>
                <a:t>BUILT BY</a:t>
              </a:r>
            </a:p>
          </p:txBody>
        </p:sp>
        <p:sp>
          <p:nvSpPr>
            <p:cNvPr id="43" name="TextBox 42">
              <a:extLst>
                <a:ext uri="{FF2B5EF4-FFF2-40B4-BE49-F238E27FC236}">
                  <a16:creationId xmlns:a16="http://schemas.microsoft.com/office/drawing/2014/main" id="{F37C8E51-387B-26F5-5352-0288EF990FF8}"/>
                </a:ext>
              </a:extLst>
            </p:cNvPr>
            <p:cNvSpPr txBox="1"/>
            <p:nvPr/>
          </p:nvSpPr>
          <p:spPr>
            <a:xfrm>
              <a:off x="4389120" y="5151469"/>
              <a:ext cx="2926080" cy="276999"/>
            </a:xfrm>
            <a:prstGeom prst="rect">
              <a:avLst/>
            </a:prstGeom>
            <a:noFill/>
          </p:spPr>
          <p:txBody>
            <a:bodyPr vert="horz" wrap="square" lIns="0" tIns="0" rIns="0" bIns="0" rtlCol="0" anchor="t">
              <a:normAutofit/>
            </a:bodyPr>
            <a:lstStyle/>
            <a:p>
              <a:r>
                <a:rPr lang="en-US" sz="1050">
                  <a:solidFill>
                    <a:srgbClr val="091F2C"/>
                  </a:solidFill>
                  <a:latin typeface="Segoe UI" panose="020B0502040204020203" pitchFamily="34" charset="0"/>
                </a:rPr>
                <a:t>Makers + IT + pro developers (fusion teams)</a:t>
              </a:r>
            </a:p>
          </p:txBody>
        </p:sp>
        <p:cxnSp>
          <p:nvCxnSpPr>
            <p:cNvPr id="44" name="Straight Connector 43">
              <a:extLst>
                <a:ext uri="{FF2B5EF4-FFF2-40B4-BE49-F238E27FC236}">
                  <a16:creationId xmlns:a16="http://schemas.microsoft.com/office/drawing/2014/main" id="{8666D4DE-E5C2-38B1-CEA9-F9D2E40F7A0D}"/>
                </a:ext>
              </a:extLst>
            </p:cNvPr>
            <p:cNvCxnSpPr/>
            <p:nvPr/>
          </p:nvCxnSpPr>
          <p:spPr>
            <a:xfrm>
              <a:off x="4389120" y="5526373"/>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B3F110B-18A3-1FCA-FED2-438CD1E8E2A7}"/>
                </a:ext>
              </a:extLst>
            </p:cNvPr>
            <p:cNvSpPr txBox="1"/>
            <p:nvPr/>
          </p:nvSpPr>
          <p:spPr>
            <a:xfrm>
              <a:off x="4389120" y="5625622"/>
              <a:ext cx="2926080" cy="276999"/>
            </a:xfrm>
            <a:prstGeom prst="rect">
              <a:avLst/>
            </a:prstGeom>
            <a:noFill/>
          </p:spPr>
          <p:txBody>
            <a:bodyPr vert="horz" wrap="square" lIns="0" tIns="0" rIns="0" bIns="0" rtlCol="0" anchor="t">
              <a:normAutofit/>
            </a:bodyPr>
            <a:lstStyle/>
            <a:p>
              <a:r>
                <a:rPr lang="en-US" sz="900" b="1">
                  <a:solidFill>
                    <a:srgbClr val="8661C5"/>
                  </a:solidFill>
                  <a:latin typeface="Segoe UI Semibold" panose="020B0702040204020203" pitchFamily="34" charset="0"/>
                </a:rPr>
                <a:t>GOVERNANCE FOCUS</a:t>
              </a:r>
            </a:p>
          </p:txBody>
        </p:sp>
        <p:sp>
          <p:nvSpPr>
            <p:cNvPr id="46" name="TextBox 45">
              <a:extLst>
                <a:ext uri="{FF2B5EF4-FFF2-40B4-BE49-F238E27FC236}">
                  <a16:creationId xmlns:a16="http://schemas.microsoft.com/office/drawing/2014/main" id="{34A075E0-B8C9-15DA-BDD3-3A1BE325210F}"/>
                </a:ext>
              </a:extLst>
            </p:cNvPr>
            <p:cNvSpPr txBox="1"/>
            <p:nvPr/>
          </p:nvSpPr>
          <p:spPr>
            <a:xfrm>
              <a:off x="4389120" y="5826789"/>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ALM, environments, DLP, authentication</a:t>
              </a:r>
            </a:p>
          </p:txBody>
        </p:sp>
      </p:grpSp>
      <p:grpSp>
        <p:nvGrpSpPr>
          <p:cNvPr id="30" name="Group 29">
            <a:extLst>
              <a:ext uri="{FF2B5EF4-FFF2-40B4-BE49-F238E27FC236}">
                <a16:creationId xmlns:a16="http://schemas.microsoft.com/office/drawing/2014/main" id="{04F5131E-3A7C-81C7-F75F-8EACDA469CEA}"/>
              </a:ext>
            </a:extLst>
          </p:cNvPr>
          <p:cNvGrpSpPr/>
          <p:nvPr/>
        </p:nvGrpSpPr>
        <p:grpSpPr>
          <a:xfrm>
            <a:off x="8101584" y="1608009"/>
            <a:ext cx="3438144" cy="4676598"/>
            <a:chOff x="7790688" y="1755648"/>
            <a:chExt cx="3438144" cy="4676598"/>
          </a:xfrm>
        </p:grpSpPr>
        <p:sp>
          <p:nvSpPr>
            <p:cNvPr id="47" name="Rectangle: Rounded Corners 46">
              <a:extLst>
                <a:ext uri="{FF2B5EF4-FFF2-40B4-BE49-F238E27FC236}">
                  <a16:creationId xmlns:a16="http://schemas.microsoft.com/office/drawing/2014/main" id="{A858E077-26EF-777A-775A-ACE22C465087}"/>
                </a:ext>
              </a:extLst>
            </p:cNvPr>
            <p:cNvSpPr/>
            <p:nvPr/>
          </p:nvSpPr>
          <p:spPr>
            <a:xfrm>
              <a:off x="7790688" y="1938528"/>
              <a:ext cx="3438144" cy="4493718"/>
            </a:xfrm>
            <a:prstGeom prst="roundRect">
              <a:avLst>
                <a:gd name="adj" fmla="val 2654"/>
              </a:avLst>
            </a:prstGeom>
            <a:solidFill>
              <a:srgbClr val="FFFFFF"/>
            </a:solidFill>
            <a:ln w="12700">
              <a:solidFill>
                <a:srgbClr val="E7E5F0"/>
              </a:solidFill>
            </a:ln>
            <a:effectLst>
              <a:outerShdw blurRad="63500" dist="25400" dir="5400000" rotWithShape="0">
                <a:srgbClr val="8A83B0">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792C1F2D-E63F-3FBB-FEC8-08EA5CF5DF28}"/>
                </a:ext>
              </a:extLst>
            </p:cNvPr>
            <p:cNvSpPr/>
            <p:nvPr/>
          </p:nvSpPr>
          <p:spPr>
            <a:xfrm>
              <a:off x="7955280" y="1755648"/>
              <a:ext cx="3108960" cy="621792"/>
            </a:xfrm>
            <a:prstGeom prst="roundRect">
              <a:avLst/>
            </a:prstGeom>
            <a:gradFill flip="none" rotWithShape="1">
              <a:gsLst>
                <a:gs pos="58000">
                  <a:srgbClr val="8661C5"/>
                </a:gs>
                <a:gs pos="100000">
                  <a:srgbClr val="FFFFFF"/>
                </a:gs>
              </a:gsLst>
              <a:lin ang="5400000" scaled="1"/>
              <a:tileRect/>
            </a:gra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6BB77A77-652E-F768-1713-669FE0F8BDC8}"/>
                </a:ext>
              </a:extLst>
            </p:cNvPr>
            <p:cNvSpPr/>
            <p:nvPr/>
          </p:nvSpPr>
          <p:spPr>
            <a:xfrm>
              <a:off x="8110728" y="1847088"/>
              <a:ext cx="438912" cy="438912"/>
            </a:xfrm>
            <a:prstGeom prst="roundRect">
              <a:avLst/>
            </a:prstGeom>
            <a:solidFill>
              <a:srgbClr val="FFFFF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 name="Picture 50">
              <a:extLst>
                <a:ext uri="{FF2B5EF4-FFF2-40B4-BE49-F238E27FC236}">
                  <a16:creationId xmlns:a16="http://schemas.microsoft.com/office/drawing/2014/main" id="{E2350F34-BBC5-A02A-FF8F-0F5E003A0F47}"/>
                </a:ext>
              </a:extLst>
            </p:cNvPr>
            <p:cNvPicPr>
              <a:picLocks/>
            </p:cNvPicPr>
            <p:nvPr/>
          </p:nvPicPr>
          <p:blipFill>
            <a:blip r:embed="rId5"/>
            <a:stretch>
              <a:fillRect/>
            </a:stretch>
          </p:blipFill>
          <p:spPr>
            <a:xfrm>
              <a:off x="8165592" y="1901952"/>
              <a:ext cx="329184" cy="329184"/>
            </a:xfrm>
            <a:prstGeom prst="rect">
              <a:avLst/>
            </a:prstGeom>
          </p:spPr>
        </p:pic>
        <p:sp>
          <p:nvSpPr>
            <p:cNvPr id="52" name="TextBox 51">
              <a:extLst>
                <a:ext uri="{FF2B5EF4-FFF2-40B4-BE49-F238E27FC236}">
                  <a16:creationId xmlns:a16="http://schemas.microsoft.com/office/drawing/2014/main" id="{EB4EF231-E68C-5C31-8A45-17EE96DC94D0}"/>
                </a:ext>
              </a:extLst>
            </p:cNvPr>
            <p:cNvSpPr txBox="1"/>
            <p:nvPr/>
          </p:nvSpPr>
          <p:spPr>
            <a:xfrm>
              <a:off x="8686800" y="1874520"/>
              <a:ext cx="2084832" cy="276999"/>
            </a:xfrm>
            <a:prstGeom prst="rect">
              <a:avLst/>
            </a:prstGeom>
            <a:noFill/>
          </p:spPr>
          <p:txBody>
            <a:bodyPr vert="horz" wrap="square" lIns="0" tIns="0" rIns="0" bIns="0" rtlCol="0" anchor="ctr">
              <a:normAutofit/>
            </a:bodyPr>
            <a:lstStyle/>
            <a:p>
              <a:r>
                <a:rPr lang="en-US" sz="1300" b="1" dirty="0">
                  <a:solidFill>
                    <a:srgbClr val="FFFFFF"/>
                  </a:solidFill>
                  <a:latin typeface="Segoe UI Semibold" panose="020B0702040204020203" pitchFamily="34" charset="0"/>
                </a:rPr>
                <a:t>Microsoft Foundry</a:t>
              </a:r>
            </a:p>
          </p:txBody>
        </p:sp>
        <p:sp>
          <p:nvSpPr>
            <p:cNvPr id="53" name="TextBox 52">
              <a:extLst>
                <a:ext uri="{FF2B5EF4-FFF2-40B4-BE49-F238E27FC236}">
                  <a16:creationId xmlns:a16="http://schemas.microsoft.com/office/drawing/2014/main" id="{E26653F0-2A90-59B2-47F2-F3D5841AD4B9}"/>
                </a:ext>
              </a:extLst>
            </p:cNvPr>
            <p:cNvSpPr txBox="1"/>
            <p:nvPr/>
          </p:nvSpPr>
          <p:spPr>
            <a:xfrm>
              <a:off x="8046720" y="2542032"/>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BEST FOR</a:t>
              </a:r>
            </a:p>
          </p:txBody>
        </p:sp>
        <p:sp>
          <p:nvSpPr>
            <p:cNvPr id="54" name="TextBox 53">
              <a:extLst>
                <a:ext uri="{FF2B5EF4-FFF2-40B4-BE49-F238E27FC236}">
                  <a16:creationId xmlns:a16="http://schemas.microsoft.com/office/drawing/2014/main" id="{42FB2126-6FF8-A269-6367-2736B883EE69}"/>
                </a:ext>
              </a:extLst>
            </p:cNvPr>
            <p:cNvSpPr txBox="1"/>
            <p:nvPr/>
          </p:nvSpPr>
          <p:spPr>
            <a:xfrm>
              <a:off x="8046720" y="2734056"/>
              <a:ext cx="2926080" cy="276999"/>
            </a:xfrm>
            <a:prstGeom prst="rect">
              <a:avLst/>
            </a:prstGeom>
            <a:noFill/>
          </p:spPr>
          <p:txBody>
            <a:bodyPr vert="horz" wrap="square" lIns="0" tIns="0" rIns="0" bIns="0" rtlCol="0" anchor="t">
              <a:normAutofit/>
            </a:bodyPr>
            <a:lstStyle/>
            <a:p>
              <a:r>
                <a:rPr lang="en-US" sz="1170" b="1">
                  <a:solidFill>
                    <a:srgbClr val="091F2C"/>
                  </a:solidFill>
                  <a:latin typeface="Segoe UI Semibold" panose="020B0702040204020203" pitchFamily="34" charset="0"/>
                </a:rPr>
                <a:t>Custom, code-first AI apps and agents</a:t>
              </a:r>
            </a:p>
          </p:txBody>
        </p:sp>
        <p:cxnSp>
          <p:nvCxnSpPr>
            <p:cNvPr id="55" name="Straight Connector 54">
              <a:extLst>
                <a:ext uri="{FF2B5EF4-FFF2-40B4-BE49-F238E27FC236}">
                  <a16:creationId xmlns:a16="http://schemas.microsoft.com/office/drawing/2014/main" id="{5B5BB370-E1F2-2407-CB0C-22FE74D70D59}"/>
                </a:ext>
              </a:extLst>
            </p:cNvPr>
            <p:cNvCxnSpPr/>
            <p:nvPr/>
          </p:nvCxnSpPr>
          <p:spPr>
            <a:xfrm>
              <a:off x="8046720" y="32004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8D15CDF2-946E-88AF-DF4B-5976F8C54E7E}"/>
                </a:ext>
              </a:extLst>
            </p:cNvPr>
            <p:cNvSpPr txBox="1"/>
            <p:nvPr/>
          </p:nvSpPr>
          <p:spPr>
            <a:xfrm>
              <a:off x="8046720" y="3291840"/>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KEY AUDIENCE</a:t>
              </a:r>
            </a:p>
          </p:txBody>
        </p:sp>
        <p:sp>
          <p:nvSpPr>
            <p:cNvPr id="57" name="TextBox 56">
              <a:extLst>
                <a:ext uri="{FF2B5EF4-FFF2-40B4-BE49-F238E27FC236}">
                  <a16:creationId xmlns:a16="http://schemas.microsoft.com/office/drawing/2014/main" id="{84F16E5D-F920-B16C-EE53-0B3CA12FE374}"/>
                </a:ext>
              </a:extLst>
            </p:cNvPr>
            <p:cNvSpPr txBox="1"/>
            <p:nvPr/>
          </p:nvSpPr>
          <p:spPr>
            <a:xfrm>
              <a:off x="8046720" y="3483864"/>
              <a:ext cx="2926080" cy="276999"/>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Users of custom apps, services, and domain solutions</a:t>
              </a:r>
            </a:p>
          </p:txBody>
        </p:sp>
        <p:cxnSp>
          <p:nvCxnSpPr>
            <p:cNvPr id="58" name="Straight Connector 57">
              <a:extLst>
                <a:ext uri="{FF2B5EF4-FFF2-40B4-BE49-F238E27FC236}">
                  <a16:creationId xmlns:a16="http://schemas.microsoft.com/office/drawing/2014/main" id="{7E9B2A69-B909-F8A1-82C8-8B5769E8C904}"/>
                </a:ext>
              </a:extLst>
            </p:cNvPr>
            <p:cNvCxnSpPr/>
            <p:nvPr/>
          </p:nvCxnSpPr>
          <p:spPr>
            <a:xfrm>
              <a:off x="8046720" y="3886200"/>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5C925A3C-DF88-8FF9-3895-D783573045DD}"/>
                </a:ext>
              </a:extLst>
            </p:cNvPr>
            <p:cNvSpPr txBox="1"/>
            <p:nvPr/>
          </p:nvSpPr>
          <p:spPr>
            <a:xfrm>
              <a:off x="8046720" y="3977640"/>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USE WHEN</a:t>
              </a:r>
            </a:p>
          </p:txBody>
        </p:sp>
        <p:sp>
          <p:nvSpPr>
            <p:cNvPr id="60" name="TextBox 59">
              <a:extLst>
                <a:ext uri="{FF2B5EF4-FFF2-40B4-BE49-F238E27FC236}">
                  <a16:creationId xmlns:a16="http://schemas.microsoft.com/office/drawing/2014/main" id="{3A84BD4A-17F4-E5C5-F6FF-45927BF91248}"/>
                </a:ext>
              </a:extLst>
            </p:cNvPr>
            <p:cNvSpPr txBox="1"/>
            <p:nvPr/>
          </p:nvSpPr>
          <p:spPr>
            <a:xfrm>
              <a:off x="8046720" y="4169664"/>
              <a:ext cx="2926080" cy="604180"/>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Custom AI applications and services are required · Advanced control over models, orchestration, and data is needed · Professional engineering teams own and operate the solution</a:t>
              </a:r>
            </a:p>
          </p:txBody>
        </p:sp>
        <p:cxnSp>
          <p:nvCxnSpPr>
            <p:cNvPr id="61" name="Straight Connector 60">
              <a:extLst>
                <a:ext uri="{FF2B5EF4-FFF2-40B4-BE49-F238E27FC236}">
                  <a16:creationId xmlns:a16="http://schemas.microsoft.com/office/drawing/2014/main" id="{52EA46A7-4336-E09C-9B96-F6F928DF03E8}"/>
                </a:ext>
              </a:extLst>
            </p:cNvPr>
            <p:cNvCxnSpPr/>
            <p:nvPr/>
          </p:nvCxnSpPr>
          <p:spPr>
            <a:xfrm>
              <a:off x="8040624" y="4868005"/>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62" name="TextBox 61">
              <a:extLst>
                <a:ext uri="{FF2B5EF4-FFF2-40B4-BE49-F238E27FC236}">
                  <a16:creationId xmlns:a16="http://schemas.microsoft.com/office/drawing/2014/main" id="{BE07DA8A-6CA9-4E90-F56E-821BF07415EF}"/>
                </a:ext>
              </a:extLst>
            </p:cNvPr>
            <p:cNvSpPr txBox="1"/>
            <p:nvPr/>
          </p:nvSpPr>
          <p:spPr>
            <a:xfrm>
              <a:off x="8040624" y="4959445"/>
              <a:ext cx="2926080" cy="276999"/>
            </a:xfrm>
            <a:prstGeom prst="rect">
              <a:avLst/>
            </a:prstGeom>
            <a:noFill/>
          </p:spPr>
          <p:txBody>
            <a:bodyPr vert="horz" wrap="square" lIns="0" tIns="0" rIns="0" bIns="0" rtlCol="0" anchor="t">
              <a:normAutofit/>
            </a:bodyPr>
            <a:lstStyle/>
            <a:p>
              <a:r>
                <a:rPr lang="en-US" sz="840" b="1">
                  <a:solidFill>
                    <a:srgbClr val="C03BC4"/>
                  </a:solidFill>
                  <a:latin typeface="Segoe UI Semibold" panose="020B0702040204020203" pitchFamily="34" charset="0"/>
                </a:rPr>
                <a:t>BUILT BY</a:t>
              </a:r>
            </a:p>
          </p:txBody>
        </p:sp>
        <p:sp>
          <p:nvSpPr>
            <p:cNvPr id="63" name="TextBox 62">
              <a:extLst>
                <a:ext uri="{FF2B5EF4-FFF2-40B4-BE49-F238E27FC236}">
                  <a16:creationId xmlns:a16="http://schemas.microsoft.com/office/drawing/2014/main" id="{B7E4A7B8-8DE6-3732-B640-35C023B1084B}"/>
                </a:ext>
              </a:extLst>
            </p:cNvPr>
            <p:cNvSpPr txBox="1"/>
            <p:nvPr/>
          </p:nvSpPr>
          <p:spPr>
            <a:xfrm>
              <a:off x="8040624" y="5151469"/>
              <a:ext cx="2926080" cy="276999"/>
            </a:xfrm>
            <a:prstGeom prst="rect">
              <a:avLst/>
            </a:prstGeom>
            <a:noFill/>
          </p:spPr>
          <p:txBody>
            <a:bodyPr vert="horz" wrap="square" lIns="0" tIns="0" rIns="0" bIns="0" rtlCol="0" anchor="t">
              <a:normAutofit/>
            </a:bodyPr>
            <a:lstStyle/>
            <a:p>
              <a:r>
                <a:rPr lang="en-US" sz="1050">
                  <a:solidFill>
                    <a:srgbClr val="091F2C"/>
                  </a:solidFill>
                  <a:latin typeface="Segoe UI" panose="020B0502040204020203" pitchFamily="34" charset="0"/>
                </a:rPr>
                <a:t>Software engineers · AI engineers · data scientists</a:t>
              </a:r>
            </a:p>
          </p:txBody>
        </p:sp>
        <p:cxnSp>
          <p:nvCxnSpPr>
            <p:cNvPr id="64" name="Straight Connector 63">
              <a:extLst>
                <a:ext uri="{FF2B5EF4-FFF2-40B4-BE49-F238E27FC236}">
                  <a16:creationId xmlns:a16="http://schemas.microsoft.com/office/drawing/2014/main" id="{A927A2EB-5A19-DBA4-8394-B5F862AE6CEE}"/>
                </a:ext>
              </a:extLst>
            </p:cNvPr>
            <p:cNvCxnSpPr/>
            <p:nvPr/>
          </p:nvCxnSpPr>
          <p:spPr>
            <a:xfrm>
              <a:off x="8040624" y="5526373"/>
              <a:ext cx="2926080" cy="0"/>
            </a:xfrm>
            <a:prstGeom prst="line">
              <a:avLst/>
            </a:prstGeom>
            <a:ln w="10160">
              <a:solidFill>
                <a:srgbClr val="E7E5F0"/>
              </a:solidFill>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803E94E8-3745-6EF6-9B60-BB81C8AA51AF}"/>
                </a:ext>
              </a:extLst>
            </p:cNvPr>
            <p:cNvSpPr txBox="1"/>
            <p:nvPr/>
          </p:nvSpPr>
          <p:spPr>
            <a:xfrm>
              <a:off x="8048413" y="5633381"/>
              <a:ext cx="2926080" cy="276999"/>
            </a:xfrm>
            <a:prstGeom prst="rect">
              <a:avLst/>
            </a:prstGeom>
            <a:noFill/>
          </p:spPr>
          <p:txBody>
            <a:bodyPr vert="horz" wrap="square" lIns="0" tIns="0" rIns="0" bIns="0" rtlCol="0" anchor="t">
              <a:normAutofit/>
            </a:bodyPr>
            <a:lstStyle/>
            <a:p>
              <a:r>
                <a:rPr lang="en-US" sz="900" b="1">
                  <a:solidFill>
                    <a:srgbClr val="C03BC4"/>
                  </a:solidFill>
                  <a:latin typeface="Segoe UI Semibold" panose="020B0702040204020203" pitchFamily="34" charset="0"/>
                </a:rPr>
                <a:t>GOVERNANCE FOCUS</a:t>
              </a:r>
            </a:p>
          </p:txBody>
        </p:sp>
        <p:sp>
          <p:nvSpPr>
            <p:cNvPr id="66" name="TextBox 65">
              <a:extLst>
                <a:ext uri="{FF2B5EF4-FFF2-40B4-BE49-F238E27FC236}">
                  <a16:creationId xmlns:a16="http://schemas.microsoft.com/office/drawing/2014/main" id="{44031DD0-315C-A7E6-3A14-D353988C760A}"/>
                </a:ext>
              </a:extLst>
            </p:cNvPr>
            <p:cNvSpPr txBox="1"/>
            <p:nvPr/>
          </p:nvSpPr>
          <p:spPr>
            <a:xfrm>
              <a:off x="8048413" y="5834548"/>
              <a:ext cx="2926080" cy="374904"/>
            </a:xfrm>
            <a:prstGeom prst="rect">
              <a:avLst/>
            </a:prstGeom>
            <a:noFill/>
          </p:spPr>
          <p:txBody>
            <a:bodyPr vert="horz" wrap="square" lIns="0" tIns="0" rIns="0" bIns="0" rtlCol="0" anchor="t">
              <a:noAutofit/>
            </a:bodyPr>
            <a:lstStyle/>
            <a:p>
              <a:r>
                <a:rPr lang="en-US" sz="1050" dirty="0">
                  <a:solidFill>
                    <a:srgbClr val="091F2C"/>
                  </a:solidFill>
                  <a:latin typeface="Segoe UI" panose="020B0502040204020203" pitchFamily="34" charset="0"/>
                </a:rPr>
                <a:t>Azure architecture, security, operations</a:t>
              </a:r>
            </a:p>
          </p:txBody>
        </p:sp>
      </p:grpSp>
      <p:sp>
        <p:nvSpPr>
          <p:cNvPr id="70" name="TextBox 69">
            <a:extLst>
              <a:ext uri="{FF2B5EF4-FFF2-40B4-BE49-F238E27FC236}">
                <a16:creationId xmlns:a16="http://schemas.microsoft.com/office/drawing/2014/main" id="{ACED5186-6C64-FA97-3EB8-C0C13478A508}"/>
              </a:ext>
            </a:extLst>
          </p:cNvPr>
          <p:cNvSpPr txBox="1"/>
          <p:nvPr/>
        </p:nvSpPr>
        <p:spPr>
          <a:xfrm>
            <a:off x="658368" y="6510528"/>
            <a:ext cx="1828800" cy="276999"/>
          </a:xfrm>
          <a:prstGeom prst="rect">
            <a:avLst/>
          </a:prstGeom>
          <a:noFill/>
        </p:spPr>
        <p:txBody>
          <a:bodyPr vert="horz" wrap="square" lIns="0" tIns="0" rIns="0" bIns="0" rtlCol="0" anchor="t">
            <a:normAutofit/>
          </a:bodyPr>
          <a:lstStyle/>
          <a:p>
            <a:r>
              <a:rPr lang="en-US" sz="850">
                <a:solidFill>
                  <a:srgbClr val="9AA3AD"/>
                </a:solidFill>
                <a:latin typeface="Segoe UI" panose="020B0502040204020203" pitchFamily="34" charset="0"/>
              </a:rPr>
              <a:t>Copilot Studio</a:t>
            </a:r>
          </a:p>
        </p:txBody>
      </p:sp>
      <p:sp>
        <p:nvSpPr>
          <p:cNvPr id="71" name="TextBox 70">
            <a:extLst>
              <a:ext uri="{FF2B5EF4-FFF2-40B4-BE49-F238E27FC236}">
                <a16:creationId xmlns:a16="http://schemas.microsoft.com/office/drawing/2014/main" id="{894D3D6E-AC89-50A8-EBCC-43B28361B64E}"/>
              </a:ext>
            </a:extLst>
          </p:cNvPr>
          <p:cNvSpPr txBox="1"/>
          <p:nvPr/>
        </p:nvSpPr>
        <p:spPr>
          <a:xfrm>
            <a:off x="11201400" y="6473952"/>
            <a:ext cx="320040" cy="276999"/>
          </a:xfrm>
          <a:prstGeom prst="rect">
            <a:avLst/>
          </a:prstGeom>
          <a:noFill/>
        </p:spPr>
        <p:txBody>
          <a:bodyPr vert="horz" wrap="square" lIns="0" tIns="0" rIns="0" bIns="0" rtlCol="0" anchor="t">
            <a:normAutofit/>
          </a:bodyPr>
          <a:lstStyle/>
          <a:p>
            <a:pPr algn="r"/>
            <a:r>
              <a:rPr lang="en-US" sz="900">
                <a:solidFill>
                  <a:srgbClr val="9AA3AD"/>
                </a:solidFill>
                <a:latin typeface="Segoe UI" panose="020B0502040204020203" pitchFamily="34" charset="0"/>
              </a:rPr>
              <a:t>8</a:t>
            </a:r>
          </a:p>
        </p:txBody>
      </p:sp>
    </p:spTree>
    <p:extLst>
      <p:ext uri="{BB962C8B-B14F-4D97-AF65-F5344CB8AC3E}">
        <p14:creationId xmlns:p14="http://schemas.microsoft.com/office/powerpoint/2010/main" val="3079873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91F2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40880" y="2194560"/>
            <a:ext cx="6400800" cy="6400800"/>
          </a:xfrm>
          <a:prstGeom prst="rect">
            <a:avLst/>
          </a:prstGeom>
        </p:spPr>
      </p:pic>
      <p:pic>
        <p:nvPicPr>
          <p:cNvPr id="3" name="Image 1" descr="preencoded.png"/>
          <p:cNvPicPr>
            <a:picLocks noChangeAspect="1"/>
          </p:cNvPicPr>
          <p:nvPr/>
        </p:nvPicPr>
        <p:blipFill>
          <a:blip r:embed="rId4"/>
          <a:stretch>
            <a:fillRect/>
          </a:stretch>
        </p:blipFill>
        <p:spPr>
          <a:xfrm>
            <a:off x="8961120" y="3657600"/>
            <a:ext cx="5029200" cy="5029200"/>
          </a:xfrm>
          <a:prstGeom prst="rect">
            <a:avLst/>
          </a:prstGeom>
        </p:spPr>
      </p:pic>
      <p:pic>
        <p:nvPicPr>
          <p:cNvPr id="4" name="Image 2" descr="preencoded.png"/>
          <p:cNvPicPr>
            <a:picLocks noChangeAspect="1"/>
          </p:cNvPicPr>
          <p:nvPr/>
        </p:nvPicPr>
        <p:blipFill>
          <a:blip r:embed="rId5"/>
          <a:stretch>
            <a:fillRect/>
          </a:stretch>
        </p:blipFill>
        <p:spPr>
          <a:xfrm>
            <a:off x="786384" y="685800"/>
            <a:ext cx="438912" cy="438912"/>
          </a:xfrm>
          <a:prstGeom prst="rect">
            <a:avLst/>
          </a:prstGeom>
        </p:spPr>
      </p:pic>
      <p:sp>
        <p:nvSpPr>
          <p:cNvPr id="5" name="Text 0"/>
          <p:cNvSpPr/>
          <p:nvPr/>
        </p:nvSpPr>
        <p:spPr>
          <a:xfrm>
            <a:off x="1389888" y="758952"/>
            <a:ext cx="3657600" cy="256032"/>
          </a:xfrm>
          <a:prstGeom prst="rect">
            <a:avLst/>
          </a:prstGeom>
          <a:noFill/>
          <a:ln/>
        </p:spPr>
        <p:txBody>
          <a:bodyPr wrap="square" lIns="0" tIns="0" rIns="0" bIns="0" rtlCol="0" anchor="ctr">
            <a:normAutofit/>
          </a:bodyPr>
          <a:lstStyle/>
          <a:p>
            <a:pPr marL="0" indent="0">
              <a:buNone/>
            </a:pPr>
            <a:r>
              <a:rPr lang="en-US" sz="1200" b="1" kern="0" spc="100" dirty="0">
                <a:solidFill>
                  <a:srgbClr val="8DC8E8"/>
                </a:solidFill>
                <a:latin typeface="Segoe UI Semibold" pitchFamily="34" charset="0"/>
                <a:ea typeface="Segoe UI Semibold" pitchFamily="34" charset="-122"/>
                <a:cs typeface="Segoe UI Semibold" pitchFamily="34" charset="-120"/>
              </a:rPr>
              <a:t>DISCUSSION  ·  18:00–25:00</a:t>
            </a:r>
            <a:endParaRPr lang="en-US" sz="1200" dirty="0"/>
          </a:p>
        </p:txBody>
      </p:sp>
      <p:sp>
        <p:nvSpPr>
          <p:cNvPr id="6" name="Text 1"/>
          <p:cNvSpPr/>
          <p:nvPr/>
        </p:nvSpPr>
        <p:spPr>
          <a:xfrm>
            <a:off x="777240" y="1389888"/>
            <a:ext cx="9692640" cy="621792"/>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Segoe UI Semibold" pitchFamily="34" charset="0"/>
                <a:ea typeface="Segoe UI Semibold" pitchFamily="34" charset="-122"/>
                <a:cs typeface="Segoe UI Semibold" pitchFamily="34" charset="-120"/>
              </a:rPr>
              <a:t>Discussion, product handoffs &amp; Q&amp;A</a:t>
            </a:r>
            <a:endParaRPr lang="en-US" sz="3100" dirty="0"/>
          </a:p>
        </p:txBody>
      </p:sp>
      <p:sp>
        <p:nvSpPr>
          <p:cNvPr id="7" name="Shape 2"/>
          <p:cNvSpPr/>
          <p:nvPr/>
        </p:nvSpPr>
        <p:spPr>
          <a:xfrm>
            <a:off x="822960" y="2679192"/>
            <a:ext cx="109728" cy="109728"/>
          </a:xfrm>
          <a:prstGeom prst="ellipse">
            <a:avLst/>
          </a:prstGeom>
          <a:solidFill>
            <a:srgbClr val="0078D4"/>
          </a:solidFill>
          <a:ln w="12700">
            <a:solidFill>
              <a:srgbClr val="0078D4"/>
            </a:solidFill>
            <a:prstDash val="solid"/>
          </a:ln>
        </p:spPr>
        <p:txBody>
          <a:bodyPr/>
          <a:lstStyle/>
          <a:p>
            <a:endParaRPr lang="en-US"/>
          </a:p>
        </p:txBody>
      </p:sp>
      <p:sp>
        <p:nvSpPr>
          <p:cNvPr id="8" name="Text 3"/>
          <p:cNvSpPr/>
          <p:nvPr/>
        </p:nvSpPr>
        <p:spPr>
          <a:xfrm>
            <a:off x="1051560" y="2587752"/>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Where is your center of gravity today — and where should it be?</a:t>
            </a:r>
            <a:endParaRPr lang="en-US" sz="1500" dirty="0"/>
          </a:p>
        </p:txBody>
      </p:sp>
      <p:sp>
        <p:nvSpPr>
          <p:cNvPr id="9" name="Shape 4"/>
          <p:cNvSpPr/>
          <p:nvPr/>
        </p:nvSpPr>
        <p:spPr>
          <a:xfrm>
            <a:off x="822960" y="3209544"/>
            <a:ext cx="109728" cy="109728"/>
          </a:xfrm>
          <a:prstGeom prst="ellipse">
            <a:avLst/>
          </a:prstGeom>
          <a:solidFill>
            <a:srgbClr val="8661C5"/>
          </a:solidFill>
          <a:ln w="12700">
            <a:solidFill>
              <a:srgbClr val="8661C5"/>
            </a:solidFill>
            <a:prstDash val="solid"/>
          </a:ln>
        </p:spPr>
        <p:txBody>
          <a:bodyPr/>
          <a:lstStyle/>
          <a:p>
            <a:endParaRPr lang="en-US"/>
          </a:p>
        </p:txBody>
      </p:sp>
      <p:sp>
        <p:nvSpPr>
          <p:cNvPr id="10" name="Text 5"/>
          <p:cNvSpPr/>
          <p:nvPr/>
        </p:nvSpPr>
        <p:spPr>
          <a:xfrm>
            <a:off x="1051560" y="3118104"/>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Which process deserves your first agent?</a:t>
            </a:r>
            <a:endParaRPr lang="en-US" sz="1500" dirty="0"/>
          </a:p>
        </p:txBody>
      </p:sp>
      <p:sp>
        <p:nvSpPr>
          <p:cNvPr id="11" name="Shape 6"/>
          <p:cNvSpPr/>
          <p:nvPr/>
        </p:nvSpPr>
        <p:spPr>
          <a:xfrm>
            <a:off x="822960" y="3739896"/>
            <a:ext cx="109728" cy="109728"/>
          </a:xfrm>
          <a:prstGeom prst="ellipse">
            <a:avLst/>
          </a:prstGeom>
          <a:solidFill>
            <a:srgbClr val="C03BC4"/>
          </a:solidFill>
          <a:ln w="12700">
            <a:solidFill>
              <a:srgbClr val="C03BC4"/>
            </a:solidFill>
            <a:prstDash val="solid"/>
          </a:ln>
        </p:spPr>
        <p:txBody>
          <a:bodyPr/>
          <a:lstStyle/>
          <a:p>
            <a:endParaRPr lang="en-US"/>
          </a:p>
        </p:txBody>
      </p:sp>
      <p:sp>
        <p:nvSpPr>
          <p:cNvPr id="12" name="Text 7"/>
          <p:cNvSpPr/>
          <p:nvPr/>
        </p:nvSpPr>
        <p:spPr>
          <a:xfrm>
            <a:off x="1051560" y="3648456"/>
            <a:ext cx="8229600" cy="320040"/>
          </a:xfrm>
          <a:prstGeom prst="rect">
            <a:avLst/>
          </a:prstGeom>
          <a:noFill/>
          <a:ln/>
        </p:spPr>
        <p:txBody>
          <a:bodyPr wrap="square" lIns="0" tIns="0" rIns="0" bIns="0" rtlCol="0" anchor="ctr">
            <a:normAutofit/>
          </a:bodyPr>
          <a:lstStyle/>
          <a:p>
            <a:pPr marL="0" indent="0">
              <a:buNone/>
            </a:pPr>
            <a:r>
              <a:rPr lang="en-US" sz="1500" dirty="0">
                <a:solidFill>
                  <a:srgbClr val="C8D8E5"/>
                </a:solidFill>
                <a:latin typeface="Segoe UI" pitchFamily="34" charset="0"/>
                <a:ea typeface="Segoe UI" pitchFamily="34" charset="-122"/>
                <a:cs typeface="Segoe UI" pitchFamily="34" charset="-120"/>
              </a:rPr>
              <a:t>What must “governed” mean for your audience?</a:t>
            </a:r>
            <a:endParaRPr lang="en-US" sz="1500" dirty="0"/>
          </a:p>
        </p:txBody>
      </p:sp>
      <p:sp>
        <p:nvSpPr>
          <p:cNvPr id="13" name="Text 8"/>
          <p:cNvSpPr/>
          <p:nvPr/>
        </p:nvSpPr>
        <p:spPr>
          <a:xfrm>
            <a:off x="786384" y="4754880"/>
            <a:ext cx="8778240" cy="713232"/>
          </a:xfrm>
          <a:prstGeom prst="rect">
            <a:avLst/>
          </a:prstGeom>
          <a:noFill/>
          <a:ln/>
        </p:spPr>
        <p:txBody>
          <a:bodyPr wrap="square" lIns="0" tIns="0" rIns="0" bIns="0" rtlCol="0" anchor="ctr">
            <a:normAutofit/>
          </a:bodyPr>
          <a:lstStyle/>
          <a:p>
            <a:pPr marL="0" indent="0">
              <a:buNone/>
            </a:pPr>
            <a:r>
              <a:rPr lang="en-US" sz="1150" dirty="0">
                <a:solidFill>
                  <a:srgbClr val="C8D8E5"/>
                </a:solidFill>
                <a:latin typeface="Segoe UI" pitchFamily="34" charset="0"/>
                <a:ea typeface="Segoe UI" pitchFamily="34" charset="-122"/>
                <a:cs typeface="Segoe UI" pitchFamily="34" charset="-120"/>
              </a:rPr>
              <a:t>Handoff: when the need shifts to custom models or code-first orchestration, Microsoft Foundry becomes the starting point — or the specialized service behind your Studio agent.</a:t>
            </a:r>
            <a:endParaRPr lang="en-US" sz="1150" dirty="0"/>
          </a:p>
        </p:txBody>
      </p:sp>
      <p:sp>
        <p:nvSpPr>
          <p:cNvPr id="14" name="Text 9"/>
          <p:cNvSpPr/>
          <p:nvPr/>
        </p:nvSpPr>
        <p:spPr>
          <a:xfrm>
            <a:off x="786384" y="5961888"/>
            <a:ext cx="8595360" cy="320040"/>
          </a:xfrm>
          <a:prstGeom prst="rect">
            <a:avLst/>
          </a:prstGeom>
          <a:noFill/>
          <a:ln/>
        </p:spPr>
        <p:txBody>
          <a:bodyPr wrap="square" lIns="0" tIns="0" rIns="0" bIns="0" rtlCol="0" anchor="ctr">
            <a:normAutofit/>
          </a:bodyPr>
          <a:lstStyle/>
          <a:p>
            <a:pPr marL="0" indent="0">
              <a:buNone/>
            </a:pPr>
            <a:r>
              <a:rPr lang="en-US" sz="1350" b="1" i="1" dirty="0">
                <a:solidFill>
                  <a:srgbClr val="8DC8E8"/>
                </a:solidFill>
                <a:latin typeface="Segoe UI Semibold" pitchFamily="34" charset="0"/>
                <a:ea typeface="Segoe UI Semibold" pitchFamily="34" charset="-122"/>
                <a:cs typeface="Segoe UI Semibold" pitchFamily="34" charset="-120"/>
              </a:rPr>
              <a:t>Better together — from AI-powered productivity to AI-powered processes.</a:t>
            </a:r>
            <a:endParaRPr lang="en-US" sz="1350" dirty="0"/>
          </a:p>
        </p:txBody>
      </p:sp>
      <p:pic>
        <p:nvPicPr>
          <p:cNvPr id="15" name="Image 3" descr="preencoded.png"/>
          <p:cNvPicPr>
            <a:picLocks noChangeAspect="1"/>
          </p:cNvPicPr>
          <p:nvPr/>
        </p:nvPicPr>
        <p:blipFill>
          <a:blip r:embed="rId6"/>
          <a:stretch>
            <a:fillRect/>
          </a:stretch>
        </p:blipFill>
        <p:spPr>
          <a:xfrm>
            <a:off x="10076688" y="5257800"/>
            <a:ext cx="1024128" cy="1024128"/>
          </a:xfrm>
          <a:prstGeom prst="rect">
            <a:avLst/>
          </a:prstGeom>
        </p:spPr>
      </p:pic>
      <p:sp>
        <p:nvSpPr>
          <p:cNvPr id="16" name="Text 10"/>
          <p:cNvSpPr/>
          <p:nvPr/>
        </p:nvSpPr>
        <p:spPr>
          <a:xfrm>
            <a:off x="777240" y="6510528"/>
            <a:ext cx="1828800" cy="155448"/>
          </a:xfrm>
          <a:prstGeom prst="rect">
            <a:avLst/>
          </a:prstGeom>
          <a:noFill/>
          <a:ln/>
        </p:spPr>
        <p:txBody>
          <a:bodyPr wrap="square" lIns="0" tIns="0" rIns="0" bIns="0" rtlCol="0" anchor="ctr">
            <a:normAutofit/>
          </a:bodyPr>
          <a:lstStyle/>
          <a:p>
            <a:pPr marL="0" indent="0">
              <a:buNone/>
            </a:pPr>
            <a:r>
              <a:rPr lang="en-US" sz="850" dirty="0">
                <a:solidFill>
                  <a:srgbClr val="C8D8E5"/>
                </a:solidFill>
                <a:latin typeface="Segoe UI" pitchFamily="34" charset="0"/>
                <a:ea typeface="Segoe UI" pitchFamily="34" charset="-122"/>
                <a:cs typeface="Segoe UI" pitchFamily="34" charset="-120"/>
              </a:rPr>
              <a:t>Copilot Studio</a:t>
            </a:r>
            <a:endParaRPr lang="en-US" sz="850" dirty="0"/>
          </a:p>
        </p:txBody>
      </p:sp>
      <p:sp>
        <p:nvSpPr>
          <p:cNvPr id="17" name="Text 11"/>
          <p:cNvSpPr/>
          <p:nvPr/>
        </p:nvSpPr>
        <p:spPr>
          <a:xfrm>
            <a:off x="11228832" y="6473952"/>
            <a:ext cx="320040" cy="164592"/>
          </a:xfrm>
          <a:prstGeom prst="rect">
            <a:avLst/>
          </a:prstGeom>
          <a:noFill/>
          <a:ln/>
        </p:spPr>
        <p:txBody>
          <a:bodyPr wrap="square" lIns="0" tIns="0" rIns="0" bIns="0" rtlCol="0" anchor="ctr">
            <a:normAutofit/>
          </a:bodyPr>
          <a:lstStyle/>
          <a:p>
            <a:pPr marL="0" indent="0" algn="r">
              <a:buNone/>
            </a:pPr>
            <a:r>
              <a:rPr lang="en-US" sz="900">
                <a:solidFill>
                  <a:srgbClr val="C8D8E5"/>
                </a:solidFill>
                <a:latin typeface="Segoe UI" pitchFamily="34" charset="0"/>
                <a:ea typeface="Segoe UI" pitchFamily="34" charset="-122"/>
                <a:cs typeface="Segoe U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3775</TotalTime>
  <Words>1554</Words>
  <Application>Microsoft Office PowerPoint</Application>
  <PresentationFormat>Widescreen</PresentationFormat>
  <Paragraphs>196</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Segoe Sans Display</vt:lpstr>
      <vt:lpstr>Segoe UI</vt:lpstr>
      <vt:lpstr>Segoe UI Semibold</vt:lpstr>
      <vt:lpstr>Segoe UI Variable Display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Copilot Studio - From Productivity to Processes - Themed v2</dc:title>
  <dc:subject>Copilot Studio: From AI-Powered Productivity to AI-Powered Processes</dc:subject>
  <dc:creator>Kelly Cason</dc:creator>
  <cp:lastModifiedBy>Kelly Cason</cp:lastModifiedBy>
  <cp:revision>23</cp:revision>
  <dcterms:created xsi:type="dcterms:W3CDTF">2026-07-29T22:18:20Z</dcterms:created>
  <dcterms:modified xsi:type="dcterms:W3CDTF">2026-08-03T02:38:43Z</dcterms:modified>
</cp:coreProperties>
</file>