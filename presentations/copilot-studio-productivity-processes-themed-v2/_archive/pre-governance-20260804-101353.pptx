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9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81" d="100"/>
          <a:sy n="81" d="100"/>
        </p:scale>
        <p:origin x="80" y="15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svg"/><Relationship Id="rId15" Type="http://schemas.openxmlformats.org/officeDocument/2006/relationships/image" Target="../media/image23.pn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hyperlink" Target="https://learn.microsoft.com/microsoft-copilot-studio/guidance/plan-overview" TargetMode="External"/><Relationship Id="rId3" Type="http://schemas.openxmlformats.org/officeDocument/2006/relationships/hyperlink" Target="https://learn.microsoft.com/microsoft-copilot-studio/" TargetMode="External"/><Relationship Id="rId7" Type="http://schemas.openxmlformats.org/officeDocument/2006/relationships/hyperlink" Target="https://adoption.microsoft.com/en-us/ai-agents/copilot-studio/" TargetMode="External"/><Relationship Id="rId12" Type="http://schemas.openxmlformats.org/officeDocument/2006/relationships/image" Target="../media/image36.png"/><Relationship Id="rId2" Type="http://schemas.openxmlformats.org/officeDocument/2006/relationships/hyperlink" Target="https://microsoft.github.io/agent-academy/" TargetMode="External"/><Relationship Id="rId1" Type="http://schemas.openxmlformats.org/officeDocument/2006/relationships/slideLayout" Target="../slideLayouts/slideLayout1.xml"/><Relationship Id="rId6" Type="http://schemas.openxmlformats.org/officeDocument/2006/relationships/hyperlink" Target="https://learn.microsoft.com/training/paths/create-extend-custom-copilots-microsoft-copilot-studio/" TargetMode="External"/><Relationship Id="rId11" Type="http://schemas.openxmlformats.org/officeDocument/2006/relationships/image" Target="../media/image35.svg"/><Relationship Id="rId5" Type="http://schemas.openxmlformats.org/officeDocument/2006/relationships/hyperlink" Target="https://learn.microsoft.com/training/modules/power-virtual-agents-create-online-workshop/" TargetMode="External"/><Relationship Id="rId10" Type="http://schemas.openxmlformats.org/officeDocument/2006/relationships/image" Target="../media/image34.png"/><Relationship Id="rId4" Type="http://schemas.openxmlformats.org/officeDocument/2006/relationships/hyperlink" Target="https://github.com/microsoft/mcs-labs"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VENDOR SUBMISSION</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Illinois Vendor Submission Assistant</a:t>
            </a:r>
            <a:endParaRPr lang="en-US" sz="2400" dirty="0"/>
          </a:p>
        </p:txBody>
      </p:sp>
      <p:sp>
        <p:nvSpPr>
          <p:cNvPr id="4" name="Text 2"/>
          <p:cNvSpPr/>
          <p:nvPr/>
        </p:nvSpPr>
        <p:spPr>
          <a:xfrm>
            <a:off x="777240" y="155448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conversational agent reads vendor documents, validates them against business rules, and files a structured submission automatically.</a:t>
            </a:r>
            <a:endParaRPr lang="en-US" sz="13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
        <p:nvSpPr>
          <p:cNvPr id="8" name="cardbg0"/>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0"/>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cardhead0"/>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Submit</a:t>
            </a:r>
            <a:endParaRPr lang="en-US" sz="1450" dirty="0"/>
          </a:p>
        </p:txBody>
      </p:sp>
      <p:sp>
        <p:nvSpPr>
          <p:cNvPr id="12" name="cardbody0"/>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Upload the proposal packet</a:t>
            </a:r>
            <a:endParaRPr lang="en-US" sz="1100" dirty="0"/>
          </a:p>
          <a:p>
            <a:r>
              <a:rPr lang="en-US" sz="900" b="0" dirty="0">
                <a:solidFill>
                  <a:srgbClr val="5B6672"/>
                </a:solidFill>
                <a:latin typeface="Segoe UI" pitchFamily="34" charset="0"/>
                <a:ea typeface="Segoe UI" pitchFamily="34" charset="-122"/>
                <a:cs typeface="Segoe UI" pitchFamily="34" charset="-120"/>
              </a:rPr>
              <a:t>•  Agent greets the vendor on the website</a:t>
            </a:r>
          </a:p>
          <a:p>
            <a:r>
              <a:rPr lang="en-US" sz="900" b="0" dirty="0">
                <a:solidFill>
                  <a:srgbClr val="5B6672"/>
                </a:solidFill>
                <a:latin typeface="Segoe UI" pitchFamily="34" charset="0"/>
                <a:ea typeface="Segoe UI" pitchFamily="34" charset="-122"/>
                <a:cs typeface="Segoe UI" pitchFamily="34" charset="-120"/>
              </a:rPr>
              <a:t>•  Vendor asks to submit a new proposal</a:t>
            </a:r>
          </a:p>
          <a:p>
            <a:r>
              <a:rPr lang="en-US" sz="900" b="0" dirty="0">
                <a:solidFill>
                  <a:srgbClr val="5B6672"/>
                </a:solidFill>
                <a:latin typeface="Segoe UI" pitchFamily="34" charset="0"/>
                <a:ea typeface="Segoe UI" pitchFamily="34" charset="-122"/>
                <a:cs typeface="Segoe UI" pitchFamily="34" charset="-120"/>
              </a:rPr>
              <a:t>•  Vendor uploads the PDFs</a:t>
            </a:r>
          </a:p>
        </p:txBody>
      </p:sp>
      <p:pic>
        <p:nvPicPr>
          <p:cNvPr id="33" name="Picture 32" descr="image.png"/>
          <p:cNvPicPr>
            <a:picLocks noChangeAspect="1"/>
          </p:cNvPicPr>
          <p:nvPr/>
        </p:nvPicPr>
        <p:blipFill>
          <a:blip r:embed="rId3"/>
          <a:stretch>
            <a:fillRect/>
          </a:stretch>
        </p:blipFill>
        <p:spPr>
          <a:xfrm>
            <a:off x="3145536" y="2715768"/>
            <a:ext cx="502920" cy="502920"/>
          </a:xfrm>
          <a:prstGeom prst="rect">
            <a:avLst/>
          </a:prstGeom>
        </p:spPr>
      </p:pic>
      <p:sp>
        <p:nvSpPr>
          <p:cNvPr id="10" name="cardbg1"/>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3" name="cardnum1"/>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2</a:t>
            </a:r>
            <a:endParaRPr lang="en-US" sz="3000" dirty="0"/>
          </a:p>
        </p:txBody>
      </p:sp>
      <p:sp>
        <p:nvSpPr>
          <p:cNvPr id="14" name="cardhead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Validate</a:t>
            </a:r>
            <a:endParaRPr lang="en-US" sz="1450" dirty="0"/>
          </a:p>
        </p:txBody>
      </p:sp>
      <p:sp>
        <p:nvSpPr>
          <p:cNvPr id="15" name="cardbody1"/>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Extract, summarize, and check</a:t>
            </a:r>
            <a:endParaRPr lang="en-US" sz="1100" dirty="0"/>
          </a:p>
          <a:p>
            <a:r>
              <a:rPr lang="en-US" sz="900" b="0" dirty="0">
                <a:solidFill>
                  <a:srgbClr val="5B6672"/>
                </a:solidFill>
                <a:latin typeface="Segoe UI" pitchFamily="34" charset="0"/>
                <a:ea typeface="Segoe UI" pitchFamily="34" charset="-122"/>
                <a:cs typeface="Segoe UI" pitchFamily="34" charset="-120"/>
              </a:rPr>
              <a:t>•  Reads key fields — vendor, contact, $$$ value</a:t>
            </a:r>
          </a:p>
          <a:p>
            <a:r>
              <a:rPr lang="en-US" sz="900" b="0" dirty="0">
                <a:solidFill>
                  <a:srgbClr val="5B6672"/>
                </a:solidFill>
                <a:latin typeface="Segoe UI" pitchFamily="34" charset="0"/>
                <a:ea typeface="Segoe UI" pitchFamily="34" charset="-122"/>
                <a:cs typeface="Segoe UI" pitchFamily="34" charset="-120"/>
              </a:rPr>
              <a:t>•  Summarizes the details back to the vendor</a:t>
            </a:r>
          </a:p>
          <a:p>
            <a:r>
              <a:rPr lang="en-US" sz="900" b="0" dirty="0">
                <a:solidFill>
                  <a:srgbClr val="5B6672"/>
                </a:solidFill>
                <a:latin typeface="Segoe UI" pitchFamily="34" charset="0"/>
                <a:ea typeface="Segoe UI" pitchFamily="34" charset="-122"/>
                <a:cs typeface="Segoe UI" pitchFamily="34" charset="-120"/>
              </a:rPr>
              <a:t>•  Flags a soon-to-expire insurance certificate</a:t>
            </a:r>
          </a:p>
        </p:txBody>
      </p:sp>
      <p:pic>
        <p:nvPicPr>
          <p:cNvPr id="34" name="Picture 33" descr="power-automate.png"/>
          <p:cNvPicPr>
            <a:picLocks noChangeAspect="1"/>
          </p:cNvPicPr>
          <p:nvPr/>
        </p:nvPicPr>
        <p:blipFill>
          <a:blip r:embed="rId4"/>
          <a:stretch>
            <a:fillRect/>
          </a:stretch>
        </p:blipFill>
        <p:spPr>
          <a:xfrm>
            <a:off x="6839712" y="2705572"/>
            <a:ext cx="502920" cy="502920"/>
          </a:xfrm>
          <a:prstGeom prst="rect">
            <a:avLst/>
          </a:prstGeom>
        </p:spPr>
      </p:pic>
      <p:sp>
        <p:nvSpPr>
          <p:cNvPr id="16" name="cardbg2"/>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7" name="cardnum2"/>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3</a:t>
            </a:r>
            <a:endParaRPr lang="en-US" sz="3000" dirty="0"/>
          </a:p>
        </p:txBody>
      </p:sp>
      <p:sp>
        <p:nvSpPr>
          <p:cNvPr id="18" name="cardhead2"/>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19" name="cardbody2"/>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File a tracked submission</a:t>
            </a:r>
            <a:endParaRPr lang="en-US" sz="1100" dirty="0"/>
          </a:p>
          <a:p>
            <a:r>
              <a:rPr lang="en-US" sz="900" b="0" dirty="0">
                <a:solidFill>
                  <a:srgbClr val="5B6672"/>
                </a:solidFill>
                <a:latin typeface="Segoe UI" pitchFamily="34" charset="0"/>
                <a:ea typeface="Segoe UI" pitchFamily="34" charset="-122"/>
                <a:cs typeface="Segoe UI" pitchFamily="34" charset="-120"/>
              </a:rPr>
              <a:t>•  Vendor uploads an updated certificate</a:t>
            </a:r>
          </a:p>
          <a:p>
            <a:r>
              <a:rPr lang="en-US" sz="900" b="0" dirty="0">
                <a:solidFill>
                  <a:srgbClr val="5B6672"/>
                </a:solidFill>
                <a:latin typeface="Segoe UI" pitchFamily="34" charset="0"/>
                <a:ea typeface="Segoe UI" pitchFamily="34" charset="-122"/>
                <a:cs typeface="Segoe UI" pitchFamily="34" charset="-120"/>
              </a:rPr>
              <a:t>•  Corrected date written to the record</a:t>
            </a:r>
          </a:p>
          <a:p>
            <a:r>
              <a:rPr lang="en-US" sz="900" b="0" dirty="0">
                <a:solidFill>
                  <a:srgbClr val="5B6672"/>
                </a:solidFill>
                <a:latin typeface="Segoe UI" pitchFamily="34" charset="0"/>
                <a:ea typeface="Segoe UI" pitchFamily="34" charset="-122"/>
                <a:cs typeface="Segoe UI" pitchFamily="34" charset="-120"/>
              </a:rPr>
              <a:t>•  Confirms Submission ID VND-2026-##### and status</a:t>
            </a:r>
          </a:p>
        </p:txBody>
      </p:sp>
      <p:pic>
        <p:nvPicPr>
          <p:cNvPr id="35" name="Picture 34" descr="dataverse.png"/>
          <p:cNvPicPr>
            <a:picLocks noChangeAspect="1"/>
          </p:cNvPicPr>
          <p:nvPr/>
        </p:nvPicPr>
        <p:blipFill>
          <a:blip r:embed="rId5"/>
          <a:stretch>
            <a:fillRect/>
          </a:stretch>
        </p:blipFill>
        <p:spPr>
          <a:xfrm>
            <a:off x="10533888" y="2715768"/>
            <a:ext cx="502920" cy="502920"/>
          </a:xfrm>
          <a:prstGeom prst="rect">
            <a:avLst/>
          </a:prstGeom>
        </p:spPr>
      </p:pic>
      <p:sp>
        <p:nvSpPr>
          <p:cNvPr id="23" name="calloutbg"/>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callouttx"/>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document extraction   •   business-rule validation   •   automated filing   •   tracked submission ID</a:t>
            </a:r>
            <a:endParaRPr lang="en-US" sz="1120" dirty="0"/>
          </a:p>
        </p:txBody>
      </p:sp>
      <p:pic>
        <p:nvPicPr>
          <p:cNvPr id="25" name="Image 0" descr="preencoded.png">
            <a:extLst>
              <a:ext uri="{FF2B5EF4-FFF2-40B4-BE49-F238E27FC236}">
                <a16:creationId xmlns:a16="http://schemas.microsoft.com/office/drawing/2014/main" id="{1B5B4354-1106-14E8-4548-F25B2B2703DC}"/>
              </a:ext>
            </a:extLst>
          </p:cNvPr>
          <p:cNvPicPr>
            <a:picLocks noChangeAspect="1"/>
          </p:cNvPicPr>
          <p:nvPr/>
        </p:nvPicPr>
        <p:blipFill>
          <a:blip r:embed="rId6"/>
          <a:stretch>
            <a:fillRect/>
          </a:stretch>
        </p:blipFill>
        <p:spPr>
          <a:xfrm>
            <a:off x="2672638" y="2762540"/>
            <a:ext cx="429768" cy="429768"/>
          </a:xfrm>
          <a:prstGeom prst="rect">
            <a:avLst/>
          </a:prstGeom>
        </p:spPr>
      </p:pic>
      <p:pic>
        <p:nvPicPr>
          <p:cNvPr id="27" name="Picture 26" descr="image.png">
            <a:extLst>
              <a:ext uri="{FF2B5EF4-FFF2-40B4-BE49-F238E27FC236}">
                <a16:creationId xmlns:a16="http://schemas.microsoft.com/office/drawing/2014/main" id="{0A2B537D-792E-8A61-5AEA-EA5E1F690400}"/>
              </a:ext>
            </a:extLst>
          </p:cNvPr>
          <p:cNvPicPr>
            <a:picLocks noChangeAspect="1"/>
          </p:cNvPicPr>
          <p:nvPr/>
        </p:nvPicPr>
        <p:blipFill>
          <a:blip r:embed="rId3"/>
          <a:stretch>
            <a:fillRect/>
          </a:stretch>
        </p:blipFill>
        <p:spPr>
          <a:xfrm>
            <a:off x="10885932" y="436444"/>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NEXT STEPS</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r>
              <a:rPr lang="en-US" sz="2500" b="1" dirty="0">
                <a:solidFill>
                  <a:srgbClr val="091F2C"/>
                </a:solidFill>
                <a:latin typeface="Segoe UI Semibold" pitchFamily="34" charset="0"/>
                <a:ea typeface="Segoe UI Semibold" pitchFamily="34" charset="-122"/>
                <a:cs typeface="Segoe UI Semibold" pitchFamily="34" charset="-120"/>
              </a:rPr>
              <a:t>Where to Start Learning with </a:t>
            </a:r>
            <a:r>
              <a:rPr lang="en-US" sz="2500" b="1" dirty="0">
                <a:solidFill>
                  <a:srgbClr val="8661C5"/>
                </a:solidFill>
                <a:latin typeface="Segoe UI Semibold" pitchFamily="34" charset="0"/>
                <a:ea typeface="Segoe UI Semibold" pitchFamily="34" charset="-122"/>
                <a:cs typeface="Segoe UI Semibold" pitchFamily="34" charset="-120"/>
              </a:rPr>
              <a:t>Copilot Studio </a:t>
            </a:r>
            <a:endParaRPr lang="en-US" sz="2500" dirty="0"/>
          </a:p>
        </p:txBody>
      </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10</a:t>
            </a:r>
            <a:endParaRPr lang="en-US" sz="900" dirty="0"/>
          </a:p>
        </p:txBody>
      </p:sp>
      <p:sp>
        <p:nvSpPr>
          <p:cNvPr id="8" name="Shape 5"/>
          <p:cNvSpPr/>
          <p:nvPr/>
        </p:nvSpPr>
        <p:spPr>
          <a:xfrm>
            <a:off x="685800"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9" name="TextBox 28"/>
          <p:cNvSpPr txBox="1"/>
          <p:nvPr/>
        </p:nvSpPr>
        <p:spPr>
          <a:xfrm>
            <a:off x="868680" y="3675887"/>
            <a:ext cx="1965960" cy="230832"/>
          </a:xfrm>
          <a:prstGeom prst="rect">
            <a:avLst/>
          </a:prstGeom>
          <a:noFill/>
        </p:spPr>
        <p:txBody>
          <a:bodyPr wrap="square" lIns="0" tIns="0" rIns="0" bIns="0" anchor="t">
            <a:spAutoFit/>
          </a:bodyPr>
          <a:lstStyle/>
          <a:p>
            <a:pPr algn="ctr"/>
            <a:r>
              <a:rPr lang="en-US" sz="1500" b="1" dirty="0">
                <a:solidFill>
                  <a:srgbClr val="201F33"/>
                </a:solidFill>
                <a:latin typeface="Segoe UI Semibold"/>
              </a:rPr>
              <a:t>Agent Academy</a:t>
            </a:r>
            <a:endParaRPr sz="1500" b="1" u="none" dirty="0">
              <a:solidFill>
                <a:srgbClr val="201F33"/>
              </a:solidFill>
              <a:latin typeface="Segoe UI Semibold"/>
            </a:endParaRPr>
          </a:p>
        </p:txBody>
      </p:sp>
      <p:sp>
        <p:nvSpPr>
          <p:cNvPr id="30" name="TextBox 29"/>
          <p:cNvSpPr txBox="1"/>
          <p:nvPr/>
        </p:nvSpPr>
        <p:spPr>
          <a:xfrm>
            <a:off x="886968" y="4041648"/>
            <a:ext cx="1929384" cy="530915"/>
          </a:xfrm>
          <a:prstGeom prst="rect">
            <a:avLst/>
          </a:prstGeom>
          <a:noFill/>
        </p:spPr>
        <p:txBody>
          <a:bodyPr wrap="square" lIns="0" tIns="0" rIns="0" bIns="0" anchor="t">
            <a:spAutoFit/>
          </a:bodyPr>
          <a:lstStyle/>
          <a:p>
            <a:pPr algn="ctr"/>
            <a:r>
              <a:rPr lang="en-US" sz="1150" dirty="0">
                <a:solidFill>
                  <a:srgbClr val="44445A"/>
                </a:solidFill>
                <a:latin typeface="Segoe UI"/>
              </a:rPr>
              <a:t>E</a:t>
            </a:r>
            <a:r>
              <a:rPr lang="en-US" sz="1150" b="0" u="none" dirty="0">
                <a:solidFill>
                  <a:srgbClr val="44445A"/>
                </a:solidFill>
                <a:latin typeface="Segoe UI"/>
              </a:rPr>
              <a:t>nterprise deployment, governance, security, and operational considerations</a:t>
            </a:r>
            <a:endParaRPr sz="1150" b="0" u="none" dirty="0">
              <a:solidFill>
                <a:srgbClr val="44445A"/>
              </a:solidFill>
              <a:latin typeface="Segoe UI"/>
            </a:endParaRPr>
          </a:p>
        </p:txBody>
      </p:sp>
      <p:sp>
        <p:nvSpPr>
          <p:cNvPr id="31" name="TextBox 30"/>
          <p:cNvSpPr txBox="1"/>
          <p:nvPr/>
        </p:nvSpPr>
        <p:spPr>
          <a:xfrm>
            <a:off x="868680" y="4773168"/>
            <a:ext cx="1965960" cy="161583"/>
          </a:xfrm>
          <a:prstGeom prst="rect">
            <a:avLst/>
          </a:prstGeom>
          <a:noFill/>
        </p:spPr>
        <p:txBody>
          <a:bodyPr wrap="square" lIns="0" tIns="0" rIns="0" bIns="0" anchor="t">
            <a:spAutoFit/>
          </a:bodyPr>
          <a:lstStyle/>
          <a:p>
            <a:pPr algn="ctr"/>
            <a:r>
              <a:rPr lang="en-US" sz="1050" b="0" u="sng" dirty="0">
                <a:solidFill>
                  <a:srgbClr val="464FEB"/>
                </a:solidFill>
                <a:latin typeface="Segoe UI Semibold"/>
                <a:hlinkClick r:id="rId2"/>
              </a:rPr>
              <a:t>Agent Academy</a:t>
            </a:r>
            <a:endParaRPr sz="1050" b="0" u="sng" dirty="0">
              <a:solidFill>
                <a:srgbClr val="464FEB"/>
              </a:solidFill>
              <a:latin typeface="Segoe UI Semibold"/>
              <a:hlinkClick r:id="rId3"/>
            </a:endParaRPr>
          </a:p>
        </p:txBody>
      </p:sp>
      <p:sp>
        <p:nvSpPr>
          <p:cNvPr id="5" name="Shape 5"/>
          <p:cNvSpPr/>
          <p:nvPr/>
        </p:nvSpPr>
        <p:spPr>
          <a:xfrm>
            <a:off x="357530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33" name="TextBox 32"/>
          <p:cNvSpPr txBox="1"/>
          <p:nvPr/>
        </p:nvSpPr>
        <p:spPr>
          <a:xfrm>
            <a:off x="3758184"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Labs</a:t>
            </a:r>
            <a:endParaRPr sz="1500" b="1" u="none" dirty="0">
              <a:solidFill>
                <a:srgbClr val="201F33"/>
              </a:solidFill>
              <a:latin typeface="Segoe UI Semibold"/>
            </a:endParaRPr>
          </a:p>
        </p:txBody>
      </p:sp>
      <p:sp>
        <p:nvSpPr>
          <p:cNvPr id="34" name="TextBox 33"/>
          <p:cNvSpPr txBox="1"/>
          <p:nvPr/>
        </p:nvSpPr>
        <p:spPr>
          <a:xfrm>
            <a:off x="3776472" y="4041648"/>
            <a:ext cx="1929384" cy="353943"/>
          </a:xfrm>
          <a:prstGeom prst="rect">
            <a:avLst/>
          </a:prstGeom>
          <a:noFill/>
        </p:spPr>
        <p:txBody>
          <a:bodyPr wrap="square" lIns="0" tIns="0" rIns="0" bIns="0" anchor="t">
            <a:spAutoFit/>
          </a:bodyPr>
          <a:lstStyle/>
          <a:p>
            <a:pPr algn="ctr"/>
            <a:r>
              <a:rPr sz="1150" b="0" u="none" dirty="0">
                <a:solidFill>
                  <a:srgbClr val="44445A"/>
                </a:solidFill>
                <a:latin typeface="Segoe UI"/>
              </a:rPr>
              <a:t>Hands-on workshops to create your first agent</a:t>
            </a:r>
            <a:r>
              <a:rPr lang="en-US" sz="1150" b="0" u="none" dirty="0">
                <a:solidFill>
                  <a:srgbClr val="44445A"/>
                </a:solidFill>
                <a:latin typeface="Segoe UI"/>
              </a:rPr>
              <a:t>s</a:t>
            </a:r>
            <a:endParaRPr sz="1150" b="0" u="none" dirty="0">
              <a:solidFill>
                <a:srgbClr val="44445A"/>
              </a:solidFill>
              <a:latin typeface="Segoe UI"/>
            </a:endParaRPr>
          </a:p>
        </p:txBody>
      </p:sp>
      <p:sp>
        <p:nvSpPr>
          <p:cNvPr id="35" name="TextBox 34"/>
          <p:cNvSpPr txBox="1"/>
          <p:nvPr/>
        </p:nvSpPr>
        <p:spPr>
          <a:xfrm>
            <a:off x="3758184" y="4773168"/>
            <a:ext cx="1965960" cy="161583"/>
          </a:xfrm>
          <a:prstGeom prst="rect">
            <a:avLst/>
          </a:prstGeom>
          <a:noFill/>
        </p:spPr>
        <p:txBody>
          <a:bodyPr wrap="square" lIns="0" tIns="0" rIns="0" bIns="0" anchor="t">
            <a:spAutoFit/>
          </a:bodyPr>
          <a:lstStyle/>
          <a:p>
            <a:pPr algn="ctr"/>
            <a:r>
              <a:rPr lang="en-US" sz="1050" b="0" u="sng" dirty="0">
                <a:solidFill>
                  <a:srgbClr val="464FEB"/>
                </a:solidFill>
                <a:latin typeface="Segoe UI Semibold"/>
                <a:hlinkClick r:id="rId4"/>
              </a:rPr>
              <a:t>Copilot Studio Labs</a:t>
            </a:r>
            <a:endParaRPr sz="1050" b="0" u="sng" dirty="0">
              <a:solidFill>
                <a:srgbClr val="464FEB"/>
              </a:solidFill>
              <a:latin typeface="Segoe UI Semibold"/>
              <a:hlinkClick r:id="rId5"/>
            </a:endParaRPr>
          </a:p>
        </p:txBody>
      </p:sp>
      <p:sp>
        <p:nvSpPr>
          <p:cNvPr id="6" name="Shape 5"/>
          <p:cNvSpPr/>
          <p:nvPr/>
        </p:nvSpPr>
        <p:spPr>
          <a:xfrm>
            <a:off x="6473952"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37" name="TextBox 36"/>
          <p:cNvSpPr txBox="1"/>
          <p:nvPr/>
        </p:nvSpPr>
        <p:spPr>
          <a:xfrm>
            <a:off x="6656832"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Learn</a:t>
            </a:r>
            <a:endParaRPr sz="1500" b="1" u="none" dirty="0">
              <a:solidFill>
                <a:srgbClr val="201F33"/>
              </a:solidFill>
              <a:latin typeface="Segoe UI Semibold"/>
            </a:endParaRPr>
          </a:p>
        </p:txBody>
      </p:sp>
      <p:sp>
        <p:nvSpPr>
          <p:cNvPr id="38" name="TextBox 37"/>
          <p:cNvSpPr txBox="1"/>
          <p:nvPr/>
        </p:nvSpPr>
        <p:spPr>
          <a:xfrm>
            <a:off x="6675120"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Structured training for agent design and development</a:t>
            </a:r>
          </a:p>
        </p:txBody>
      </p:sp>
      <p:sp>
        <p:nvSpPr>
          <p:cNvPr id="39" name="TextBox 38"/>
          <p:cNvSpPr txBox="1"/>
          <p:nvPr/>
        </p:nvSpPr>
        <p:spPr>
          <a:xfrm>
            <a:off x="6656832" y="4773168"/>
            <a:ext cx="1965960" cy="161583"/>
          </a:xfrm>
          <a:prstGeom prst="rect">
            <a:avLst/>
          </a:prstGeom>
          <a:noFill/>
        </p:spPr>
        <p:txBody>
          <a:bodyPr wrap="square" lIns="0" tIns="0" rIns="0" bIns="0" anchor="t">
            <a:spAutoFit/>
          </a:bodyPr>
          <a:lstStyle/>
          <a:p>
            <a:pPr algn="ctr"/>
            <a:r>
              <a:rPr sz="1050" b="0" u="sng" dirty="0">
                <a:solidFill>
                  <a:srgbClr val="464FEB"/>
                </a:solidFill>
                <a:latin typeface="Segoe UI Semibold"/>
                <a:hlinkClick r:id="rId6"/>
              </a:rPr>
              <a:t>Training </a:t>
            </a:r>
            <a:r>
              <a:rPr lang="en-US" sz="1050" b="0" u="sng" dirty="0">
                <a:solidFill>
                  <a:srgbClr val="464FEB"/>
                </a:solidFill>
                <a:latin typeface="Segoe UI Semibold"/>
                <a:hlinkClick r:id="rId6"/>
              </a:rPr>
              <a:t>P</a:t>
            </a:r>
            <a:r>
              <a:rPr sz="1050" b="0" u="sng" dirty="0">
                <a:solidFill>
                  <a:srgbClr val="464FEB"/>
                </a:solidFill>
                <a:latin typeface="Segoe UI Semibold"/>
                <a:hlinkClick r:id="rId6"/>
              </a:rPr>
              <a:t>ath</a:t>
            </a:r>
          </a:p>
        </p:txBody>
      </p:sp>
      <p:sp>
        <p:nvSpPr>
          <p:cNvPr id="7" name="Shape 5"/>
          <p:cNvSpPr/>
          <p:nvPr/>
        </p:nvSpPr>
        <p:spPr>
          <a:xfrm>
            <a:off x="938174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41" name="TextBox 40"/>
          <p:cNvSpPr txBox="1"/>
          <p:nvPr/>
        </p:nvSpPr>
        <p:spPr>
          <a:xfrm>
            <a:off x="9564624"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Adoption</a:t>
            </a:r>
            <a:endParaRPr sz="1500" b="1" u="none" dirty="0">
              <a:solidFill>
                <a:srgbClr val="201F33"/>
              </a:solidFill>
              <a:latin typeface="Segoe UI Semibold"/>
            </a:endParaRPr>
          </a:p>
        </p:txBody>
      </p:sp>
      <p:sp>
        <p:nvSpPr>
          <p:cNvPr id="42" name="TextBox 41"/>
          <p:cNvSpPr txBox="1"/>
          <p:nvPr/>
        </p:nvSpPr>
        <p:spPr>
          <a:xfrm>
            <a:off x="9582912"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Guidance and scenarios for organizational adoption</a:t>
            </a:r>
          </a:p>
        </p:txBody>
      </p:sp>
      <p:sp>
        <p:nvSpPr>
          <p:cNvPr id="43" name="TextBox 42"/>
          <p:cNvSpPr txBox="1"/>
          <p:nvPr/>
        </p:nvSpPr>
        <p:spPr>
          <a:xfrm>
            <a:off x="9564624" y="4773168"/>
            <a:ext cx="1965960" cy="161583"/>
          </a:xfrm>
          <a:prstGeom prst="rect">
            <a:avLst/>
          </a:prstGeom>
          <a:noFill/>
        </p:spPr>
        <p:txBody>
          <a:bodyPr wrap="square" lIns="0" tIns="0" rIns="0" bIns="0" anchor="t">
            <a:spAutoFit/>
          </a:bodyPr>
          <a:lstStyle/>
          <a:p>
            <a:pPr algn="ctr"/>
            <a:r>
              <a:rPr sz="1050" b="0" u="sng" dirty="0">
                <a:solidFill>
                  <a:srgbClr val="464FEB"/>
                </a:solidFill>
                <a:latin typeface="Segoe UI Semibold"/>
                <a:hlinkClick r:id="rId7"/>
              </a:rPr>
              <a:t>Adoption </a:t>
            </a:r>
            <a:r>
              <a:rPr lang="en-US" sz="1050" b="0" u="sng" dirty="0">
                <a:solidFill>
                  <a:srgbClr val="464FEB"/>
                </a:solidFill>
                <a:latin typeface="Segoe UI Semibold"/>
                <a:hlinkClick r:id="rId7"/>
              </a:rPr>
              <a:t>R</a:t>
            </a:r>
            <a:r>
              <a:rPr sz="1050" b="0" u="sng" dirty="0">
                <a:solidFill>
                  <a:srgbClr val="464FEB"/>
                </a:solidFill>
                <a:latin typeface="Segoe UI Semibold"/>
                <a:hlinkClick r:id="rId7"/>
              </a:rPr>
              <a:t>esources</a:t>
            </a:r>
            <a:endParaRPr sz="1050" b="0" u="sng" dirty="0">
              <a:solidFill>
                <a:srgbClr val="464FEB"/>
              </a:solidFill>
              <a:latin typeface="Segoe UI Semibold"/>
              <a:hlinkClick r:id="rId8"/>
            </a:endParaRPr>
          </a:p>
        </p:txBody>
      </p:sp>
      <p:sp>
        <p:nvSpPr>
          <p:cNvPr id="10" name="TextBox 9">
            <a:extLst>
              <a:ext uri="{FF2B5EF4-FFF2-40B4-BE49-F238E27FC236}">
                <a16:creationId xmlns:a16="http://schemas.microsoft.com/office/drawing/2014/main" id="{3C550C75-7216-8543-AA41-4C123DC3CEC1}"/>
              </a:ext>
            </a:extLst>
          </p:cNvPr>
          <p:cNvSpPr txBox="1"/>
          <p:nvPr/>
        </p:nvSpPr>
        <p:spPr>
          <a:xfrm>
            <a:off x="710546" y="1545035"/>
            <a:ext cx="6095276" cy="295466"/>
          </a:xfrm>
          <a:prstGeom prst="rect">
            <a:avLst/>
          </a:prstGeom>
          <a:noFill/>
        </p:spPr>
        <p:txBody>
          <a:bodyPr wrap="square">
            <a:sp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Curated resources to help your organization learn, build, and scale.</a:t>
            </a:r>
          </a:p>
        </p:txBody>
      </p:sp>
      <p:pic>
        <p:nvPicPr>
          <p:cNvPr id="14" name="Picture 13" descr="image.png">
            <a:extLst>
              <a:ext uri="{FF2B5EF4-FFF2-40B4-BE49-F238E27FC236}">
                <a16:creationId xmlns:a16="http://schemas.microsoft.com/office/drawing/2014/main" id="{8AFB681A-9930-7FEA-4158-4D345C894BA9}"/>
              </a:ext>
            </a:extLst>
          </p:cNvPr>
          <p:cNvPicPr>
            <a:picLocks noChangeAspect="1"/>
          </p:cNvPicPr>
          <p:nvPr/>
        </p:nvPicPr>
        <p:blipFill>
          <a:blip r:embed="rId9"/>
          <a:stretch>
            <a:fillRect/>
          </a:stretch>
        </p:blipFill>
        <p:spPr>
          <a:xfrm>
            <a:off x="10885932" y="436444"/>
            <a:ext cx="502920" cy="502920"/>
          </a:xfrm>
          <a:prstGeom prst="rect">
            <a:avLst/>
          </a:prstGeom>
        </p:spPr>
      </p:pic>
      <p:pic>
        <p:nvPicPr>
          <p:cNvPr id="9" name="Picture 8">
            <a:extLst>
              <a:ext uri="{FF2B5EF4-FFF2-40B4-BE49-F238E27FC236}">
                <a16:creationId xmlns:a16="http://schemas.microsoft.com/office/drawing/2014/main" id="{654F90CB-19DF-A2E7-363F-FA9D6DC7737F}"/>
              </a:ext>
            </a:extLst>
          </p:cNvPr>
          <p:cNvPicPr>
            <a:picLocks noChangeAspect="1"/>
          </p:cNvPicPr>
          <p:nvPr/>
        </p:nvPicPr>
        <p:blipFill>
          <a:blip r:embed="rId10"/>
          <a:stretch>
            <a:fillRect/>
          </a:stretch>
        </p:blipFill>
        <p:spPr>
          <a:xfrm>
            <a:off x="1522475" y="2795777"/>
            <a:ext cx="658369" cy="662941"/>
          </a:xfrm>
          <a:prstGeom prst="roundRect">
            <a:avLst>
              <a:gd name="adj" fmla="val 8594"/>
            </a:avLst>
          </a:prstGeom>
          <a:solidFill>
            <a:srgbClr val="FFFFFF">
              <a:shade val="85000"/>
            </a:srgbClr>
          </a:solidFill>
          <a:ln>
            <a:noFill/>
          </a:ln>
          <a:effectLst/>
        </p:spPr>
      </p:pic>
      <p:sp>
        <p:nvSpPr>
          <p:cNvPr id="12" name="TextBox 11">
            <a:extLst>
              <a:ext uri="{FF2B5EF4-FFF2-40B4-BE49-F238E27FC236}">
                <a16:creationId xmlns:a16="http://schemas.microsoft.com/office/drawing/2014/main" id="{21410EE6-E361-3EFE-563B-729A61DEF70A}"/>
              </a:ext>
            </a:extLst>
          </p:cNvPr>
          <p:cNvSpPr txBox="1"/>
          <p:nvPr/>
        </p:nvSpPr>
        <p:spPr>
          <a:xfrm>
            <a:off x="4290590" y="2773305"/>
            <a:ext cx="901147" cy="707886"/>
          </a:xfrm>
          <a:prstGeom prst="rect">
            <a:avLst/>
          </a:prstGeom>
          <a:noFill/>
        </p:spPr>
        <p:txBody>
          <a:bodyPr wrap="square">
            <a:spAutoFit/>
          </a:bodyPr>
          <a:lstStyle/>
          <a:p>
            <a:pPr marL="0" marR="0" indent="0" algn="l">
              <a:spcAft>
                <a:spcPts val="1200"/>
              </a:spcAft>
              <a:buNone/>
            </a:pPr>
            <a:r>
              <a:rPr lang="en-US" sz="4000" b="1" i="0" dirty="0">
                <a:solidFill>
                  <a:srgbClr val="F0F6FC"/>
                </a:solidFill>
                <a:effectLst/>
                <a:latin typeface="Mona Sans VF"/>
              </a:rPr>
              <a:t>🤖</a:t>
            </a:r>
          </a:p>
        </p:txBody>
      </p:sp>
      <p:pic>
        <p:nvPicPr>
          <p:cNvPr id="13" name="Graphic 12">
            <a:extLst>
              <a:ext uri="{FF2B5EF4-FFF2-40B4-BE49-F238E27FC236}">
                <a16:creationId xmlns:a16="http://schemas.microsoft.com/office/drawing/2014/main" id="{0F8D53F1-253A-3B3C-F209-75C1655A3EA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21215" y="2798064"/>
            <a:ext cx="628049" cy="662941"/>
          </a:xfrm>
          <a:prstGeom prst="rect">
            <a:avLst/>
          </a:prstGeom>
        </p:spPr>
      </p:pic>
      <p:pic>
        <p:nvPicPr>
          <p:cNvPr id="18" name="Picture 17">
            <a:extLst>
              <a:ext uri="{FF2B5EF4-FFF2-40B4-BE49-F238E27FC236}">
                <a16:creationId xmlns:a16="http://schemas.microsoft.com/office/drawing/2014/main" id="{A2914EC9-76E5-FF46-9BFF-A3D4F871ECDC}"/>
              </a:ext>
            </a:extLst>
          </p:cNvPr>
          <p:cNvPicPr>
            <a:picLocks noChangeAspect="1"/>
          </p:cNvPicPr>
          <p:nvPr/>
        </p:nvPicPr>
        <p:blipFill>
          <a:blip r:embed="rId12"/>
          <a:stretch>
            <a:fillRect/>
          </a:stretch>
        </p:blipFill>
        <p:spPr>
          <a:xfrm>
            <a:off x="10225197" y="2791860"/>
            <a:ext cx="644813" cy="666858"/>
          </a:xfrm>
          <a:prstGeom prst="roundRect">
            <a:avLst>
              <a:gd name="adj" fmla="val 8594"/>
            </a:avLst>
          </a:prstGeom>
          <a:solidFill>
            <a:srgbClr val="FFFFFF">
              <a:shade val="85000"/>
            </a:srgbClr>
          </a:solidFill>
          <a:ln>
            <a:noFill/>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3799</TotalTime>
  <Words>1528</Words>
  <Application>Microsoft Office PowerPoint</Application>
  <PresentationFormat>Widescreen</PresentationFormat>
  <Paragraphs>208</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Mona Sans VF</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27</cp:revision>
  <dcterms:created xsi:type="dcterms:W3CDTF">2026-07-29T22:18:20Z</dcterms:created>
  <dcterms:modified xsi:type="dcterms:W3CDTF">2026-08-03T15:52:09Z</dcterms:modified>
</cp:coreProperties>
</file>