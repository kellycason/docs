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79" d="100"/>
          <a:sy n="79" d="100"/>
        </p:scale>
        <p:origin x="92" y="4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a:p>
          <a:p>
            <a:r>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sv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sv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EXTEND M365 COPILOT</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From a grounded answer to a governed business action — inside M365 Copilot.</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agent moves past the FAQ: it cites approved knowledge, then takes the next step.</a:t>
            </a:r>
            <a:endParaRPr lang="en-US" sz="1320" dirty="0"/>
          </a:p>
        </p:txBody>
      </p:sp>
      <p:pic>
        <p:nvPicPr>
          <p:cNvPr id="5" name="Image 0" descr="preencoded.png"/>
          <p:cNvPicPr>
            <a:picLocks noChangeAspect="1"/>
          </p:cNvPicPr>
          <p:nvPr/>
        </p:nvPicPr>
        <p:blipFill>
          <a:blip r:embed="rId3"/>
          <a:stretch>
            <a:fillRect/>
          </a:stretch>
        </p:blipFill>
        <p:spPr>
          <a:xfrm>
            <a:off x="11091672" y="393192"/>
            <a:ext cx="384048" cy="384048"/>
          </a:xfrm>
          <a:prstGeom prst="rect">
            <a:avLst/>
          </a:prstGeom>
        </p:spPr>
      </p:pic>
      <p:sp>
        <p:nvSpPr>
          <p:cNvPr id="8" name="Shape 5"/>
          <p:cNvSpPr/>
          <p:nvPr/>
        </p:nvSpPr>
        <p:spPr>
          <a:xfrm>
            <a:off x="685800"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1005840"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pic>
        <p:nvPicPr>
          <p:cNvPr id="10" name="Image 1" descr="preencoded.png"/>
          <p:cNvPicPr>
            <a:picLocks noChangeAspect="1"/>
          </p:cNvPicPr>
          <p:nvPr/>
        </p:nvPicPr>
        <p:blipFill>
          <a:blip r:embed="rId4"/>
          <a:stretch>
            <a:fillRect/>
          </a:stretch>
        </p:blipFill>
        <p:spPr>
          <a:xfrm>
            <a:off x="3172968" y="3136392"/>
            <a:ext cx="530352" cy="530352"/>
          </a:xfrm>
          <a:prstGeom prst="rect">
            <a:avLst/>
          </a:prstGeom>
        </p:spPr>
      </p:pic>
      <p:sp>
        <p:nvSpPr>
          <p:cNvPr id="11" name="Text 7"/>
          <p:cNvSpPr/>
          <p:nvPr/>
        </p:nvSpPr>
        <p:spPr>
          <a:xfrm>
            <a:off x="1005840"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 in the flow of work</a:t>
            </a:r>
            <a:endParaRPr lang="en-US" sz="1450" dirty="0"/>
          </a:p>
        </p:txBody>
      </p:sp>
      <p:sp>
        <p:nvSpPr>
          <p:cNvPr id="12" name="Text 8"/>
          <p:cNvSpPr/>
          <p:nvPr/>
        </p:nvSpPr>
        <p:spPr>
          <a:xfrm>
            <a:off x="1005840"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An employee invokes the agent right inside M365 Copilot</a:t>
            </a:r>
            <a:endParaRPr lang="en-US" sz="1100" dirty="0"/>
          </a:p>
        </p:txBody>
      </p:sp>
      <p:sp>
        <p:nvSpPr>
          <p:cNvPr id="13" name="Shape 9"/>
          <p:cNvSpPr/>
          <p:nvPr/>
        </p:nvSpPr>
        <p:spPr>
          <a:xfrm>
            <a:off x="4379976"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700016"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pic>
        <p:nvPicPr>
          <p:cNvPr id="15" name="Image 2" descr="preencoded.png"/>
          <p:cNvPicPr>
            <a:picLocks noChangeAspect="1"/>
          </p:cNvPicPr>
          <p:nvPr/>
        </p:nvPicPr>
        <p:blipFill>
          <a:blip r:embed="rId5"/>
          <a:stretch>
            <a:fillRect/>
          </a:stretch>
        </p:blipFill>
        <p:spPr>
          <a:xfrm>
            <a:off x="6867144" y="3136392"/>
            <a:ext cx="530352" cy="530352"/>
          </a:xfrm>
          <a:prstGeom prst="rect">
            <a:avLst/>
          </a:prstGeom>
        </p:spPr>
      </p:pic>
      <p:sp>
        <p:nvSpPr>
          <p:cNvPr id="16" name="Text 11"/>
          <p:cNvSpPr/>
          <p:nvPr/>
        </p:nvSpPr>
        <p:spPr>
          <a:xfrm>
            <a:off x="4700016"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Ground the answer</a:t>
            </a:r>
            <a:endParaRPr lang="en-US" sz="1450" dirty="0"/>
          </a:p>
        </p:txBody>
      </p:sp>
      <p:sp>
        <p:nvSpPr>
          <p:cNvPr id="17" name="Text 12"/>
          <p:cNvSpPr/>
          <p:nvPr/>
        </p:nvSpPr>
        <p:spPr>
          <a:xfrm>
            <a:off x="4700016"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Approved knowledge returns a focused, cited response</a:t>
            </a:r>
            <a:endParaRPr lang="en-US" sz="1100" dirty="0"/>
          </a:p>
        </p:txBody>
      </p:sp>
      <p:sp>
        <p:nvSpPr>
          <p:cNvPr id="18" name="Shape 13"/>
          <p:cNvSpPr/>
          <p:nvPr/>
        </p:nvSpPr>
        <p:spPr>
          <a:xfrm>
            <a:off x="8074152"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94192"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pic>
        <p:nvPicPr>
          <p:cNvPr id="20" name="Image 3" descr="preencoded.png"/>
          <p:cNvPicPr>
            <a:picLocks noChangeAspect="1"/>
          </p:cNvPicPr>
          <p:nvPr/>
        </p:nvPicPr>
        <p:blipFill>
          <a:blip r:embed="rId6"/>
          <a:stretch>
            <a:fillRect/>
          </a:stretch>
        </p:blipFill>
        <p:spPr>
          <a:xfrm>
            <a:off x="10561320" y="3136392"/>
            <a:ext cx="530352" cy="530352"/>
          </a:xfrm>
          <a:prstGeom prst="rect">
            <a:avLst/>
          </a:prstGeom>
        </p:spPr>
      </p:pic>
      <p:sp>
        <p:nvSpPr>
          <p:cNvPr id="21" name="Text 15"/>
          <p:cNvSpPr/>
          <p:nvPr/>
        </p:nvSpPr>
        <p:spPr>
          <a:xfrm>
            <a:off x="8394192"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Complete the next step</a:t>
            </a:r>
            <a:endParaRPr lang="en-US" sz="1450" dirty="0"/>
          </a:p>
        </p:txBody>
      </p:sp>
      <p:sp>
        <p:nvSpPr>
          <p:cNvPr id="22" name="Text 16"/>
          <p:cNvSpPr/>
          <p:nvPr/>
        </p:nvSpPr>
        <p:spPr>
          <a:xfrm>
            <a:off x="8394192"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 connector or agent flow acts — and confirms the result</a:t>
            </a:r>
            <a:endParaRPr lang="en-US" sz="1100" dirty="0"/>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buNone/>
            </a:pPr>
            <a:r>
              <a:rPr lang="en-US" sz="1120" b="1" dirty="0">
                <a:solidFill>
                  <a:srgbClr val="174E7E"/>
                </a:solidFill>
                <a:latin typeface="Segoe UI Semibold" pitchFamily="34" charset="0"/>
                <a:ea typeface="Segoe UI Semibold" pitchFamily="34" charset="-122"/>
                <a:cs typeface="Segoe UI Semibold" pitchFamily="34" charset="-120"/>
              </a:rPr>
              <a:t>Watch for:  specialized scope  ·  cited knowledge  ·  a real tool call  ·  confirmation</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CITIZEN SELF-SERVICE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A governed public agent guides a resident from question to a confirmed request.</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Same platform patterns as the employee agent — a different, carefully drawn audience boundary.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1832"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0078D4"/>
                </a:solidFill>
                <a:latin typeface="Segoe UI Semibold" pitchFamily="34" charset="0"/>
                <a:ea typeface="Segoe UI Semibold" pitchFamily="34" charset="-122"/>
                <a:cs typeface="Segoe UI Semibold" pitchFamily="34" charset="-120"/>
              </a:rPr>
              <a:t>1</a:t>
            </a:r>
            <a:endParaRPr lang="en-US" sz="2800" dirty="0"/>
          </a:p>
        </p:txBody>
      </p:sp>
      <p:pic>
        <p:nvPicPr>
          <p:cNvPr id="10" name="Image 1" descr="preencoded.png"/>
          <p:cNvPicPr>
            <a:picLocks noChangeAspect="1"/>
          </p:cNvPicPr>
          <p:nvPr/>
        </p:nvPicPr>
        <p:blipFill>
          <a:blip r:embed="rId4"/>
          <a:stretch>
            <a:fillRect/>
          </a:stretch>
        </p:blipFill>
        <p:spPr>
          <a:xfrm>
            <a:off x="2221992" y="3127248"/>
            <a:ext cx="530352" cy="530352"/>
          </a:xfrm>
          <a:prstGeom prst="rect">
            <a:avLst/>
          </a:prstGeom>
        </p:spPr>
      </p:pic>
      <p:sp>
        <p:nvSpPr>
          <p:cNvPr id="11" name="Text 7"/>
          <p:cNvSpPr/>
          <p:nvPr/>
        </p:nvSpPr>
        <p:spPr>
          <a:xfrm>
            <a:off x="941832"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Describe the need</a:t>
            </a:r>
            <a:endParaRPr lang="en-US" sz="1420" dirty="0"/>
          </a:p>
        </p:txBody>
      </p:sp>
      <p:sp>
        <p:nvSpPr>
          <p:cNvPr id="12" name="Text 8"/>
          <p:cNvSpPr/>
          <p:nvPr/>
        </p:nvSpPr>
        <p:spPr>
          <a:xfrm>
            <a:off x="941832"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explains it in plain language</a:t>
            </a:r>
            <a:endParaRPr lang="en-US" sz="1150" dirty="0"/>
          </a:p>
        </p:txBody>
      </p:sp>
      <p:sp>
        <p:nvSpPr>
          <p:cNvPr id="13" name="Shape 9"/>
          <p:cNvSpPr/>
          <p:nvPr/>
        </p:nvSpPr>
        <p:spPr>
          <a:xfrm>
            <a:off x="3584448"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3840480"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8661C5"/>
                </a:solidFill>
                <a:latin typeface="Segoe UI Semibold" pitchFamily="34" charset="0"/>
                <a:ea typeface="Segoe UI Semibold" pitchFamily="34" charset="-122"/>
                <a:cs typeface="Segoe UI Semibold" pitchFamily="34" charset="-120"/>
              </a:rPr>
              <a:t>2</a:t>
            </a:r>
            <a:endParaRPr lang="en-US" sz="2800" dirty="0"/>
          </a:p>
        </p:txBody>
      </p:sp>
      <p:pic>
        <p:nvPicPr>
          <p:cNvPr id="15" name="Image 2" descr="preencoded.png"/>
          <p:cNvPicPr>
            <a:picLocks noChangeAspect="1"/>
          </p:cNvPicPr>
          <p:nvPr/>
        </p:nvPicPr>
        <p:blipFill>
          <a:blip r:embed="rId5"/>
          <a:stretch>
            <a:fillRect/>
          </a:stretch>
        </p:blipFill>
        <p:spPr>
          <a:xfrm>
            <a:off x="5120640" y="3127248"/>
            <a:ext cx="530352" cy="530352"/>
          </a:xfrm>
          <a:prstGeom prst="rect">
            <a:avLst/>
          </a:prstGeom>
        </p:spPr>
      </p:pic>
      <p:sp>
        <p:nvSpPr>
          <p:cNvPr id="16" name="Text 11"/>
          <p:cNvSpPr/>
          <p:nvPr/>
        </p:nvSpPr>
        <p:spPr>
          <a:xfrm>
            <a:off x="3840480"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Navigate the service</a:t>
            </a:r>
            <a:endParaRPr lang="en-US" sz="1420" dirty="0"/>
          </a:p>
        </p:txBody>
      </p:sp>
      <p:sp>
        <p:nvSpPr>
          <p:cNvPr id="17" name="Text 12"/>
          <p:cNvSpPr/>
          <p:nvPr/>
        </p:nvSpPr>
        <p:spPr>
          <a:xfrm>
            <a:off x="3840480"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Approved public guidance finds the next step</a:t>
            </a:r>
            <a:endParaRPr lang="en-US" sz="1150" dirty="0"/>
          </a:p>
        </p:txBody>
      </p:sp>
      <p:sp>
        <p:nvSpPr>
          <p:cNvPr id="18" name="Shape 13"/>
          <p:cNvSpPr/>
          <p:nvPr/>
        </p:nvSpPr>
        <p:spPr>
          <a:xfrm>
            <a:off x="6483096"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6739128"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C03BC4"/>
                </a:solidFill>
                <a:latin typeface="Segoe UI Semibold" pitchFamily="34" charset="0"/>
                <a:ea typeface="Segoe UI Semibold" pitchFamily="34" charset="-122"/>
                <a:cs typeface="Segoe UI Semibold" pitchFamily="34" charset="-120"/>
              </a:rPr>
              <a:t>3</a:t>
            </a:r>
            <a:endParaRPr lang="en-US" sz="2800" dirty="0"/>
          </a:p>
        </p:txBody>
      </p:sp>
      <p:pic>
        <p:nvPicPr>
          <p:cNvPr id="20" name="Image 3" descr="preencoded.png"/>
          <p:cNvPicPr>
            <a:picLocks noChangeAspect="1"/>
          </p:cNvPicPr>
          <p:nvPr/>
        </p:nvPicPr>
        <p:blipFill>
          <a:blip r:embed="rId6"/>
          <a:stretch>
            <a:fillRect/>
          </a:stretch>
        </p:blipFill>
        <p:spPr>
          <a:xfrm>
            <a:off x="8019288" y="3127248"/>
            <a:ext cx="530352" cy="530352"/>
          </a:xfrm>
          <a:prstGeom prst="rect">
            <a:avLst/>
          </a:prstGeom>
        </p:spPr>
      </p:pic>
      <p:sp>
        <p:nvSpPr>
          <p:cNvPr id="21" name="Text 15"/>
          <p:cNvSpPr/>
          <p:nvPr/>
        </p:nvSpPr>
        <p:spPr>
          <a:xfrm>
            <a:off x="6739128"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Create the request</a:t>
            </a:r>
            <a:endParaRPr lang="en-US" sz="1420" dirty="0"/>
          </a:p>
        </p:txBody>
      </p:sp>
      <p:sp>
        <p:nvSpPr>
          <p:cNvPr id="22" name="Text 16"/>
          <p:cNvSpPr/>
          <p:nvPr/>
        </p:nvSpPr>
        <p:spPr>
          <a:xfrm>
            <a:off x="6739128"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 governed flow writes to the service system</a:t>
            </a:r>
            <a:endParaRPr lang="en-US" sz="1150" dirty="0"/>
          </a:p>
        </p:txBody>
      </p:sp>
      <p:sp>
        <p:nvSpPr>
          <p:cNvPr id="23" name="Shape 17"/>
          <p:cNvSpPr/>
          <p:nvPr/>
        </p:nvSpPr>
        <p:spPr>
          <a:xfrm>
            <a:off x="9381744"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4" name="Text 18"/>
          <p:cNvSpPr/>
          <p:nvPr/>
        </p:nvSpPr>
        <p:spPr>
          <a:xfrm>
            <a:off x="9637776"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FF5C39"/>
                </a:solidFill>
                <a:latin typeface="Segoe UI Semibold" pitchFamily="34" charset="0"/>
                <a:ea typeface="Segoe UI Semibold" pitchFamily="34" charset="-122"/>
                <a:cs typeface="Segoe UI Semibold" pitchFamily="34" charset="-120"/>
              </a:rPr>
              <a:t>4</a:t>
            </a:r>
            <a:endParaRPr lang="en-US" sz="2800" dirty="0"/>
          </a:p>
        </p:txBody>
      </p:sp>
      <p:pic>
        <p:nvPicPr>
          <p:cNvPr id="25" name="Image 4" descr="preencoded.png"/>
          <p:cNvPicPr>
            <a:picLocks noChangeAspect="1"/>
          </p:cNvPicPr>
          <p:nvPr/>
        </p:nvPicPr>
        <p:blipFill>
          <a:blip r:embed="rId7"/>
          <a:stretch>
            <a:fillRect/>
          </a:stretch>
        </p:blipFill>
        <p:spPr>
          <a:xfrm>
            <a:off x="10917936" y="3127248"/>
            <a:ext cx="530352" cy="530352"/>
          </a:xfrm>
          <a:prstGeom prst="rect">
            <a:avLst/>
          </a:prstGeom>
        </p:spPr>
      </p:pic>
      <p:sp>
        <p:nvSpPr>
          <p:cNvPr id="26" name="Text 19"/>
          <p:cNvSpPr/>
          <p:nvPr/>
        </p:nvSpPr>
        <p:spPr>
          <a:xfrm>
            <a:off x="9637776"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Confirm &amp; track</a:t>
            </a:r>
            <a:endParaRPr lang="en-US" sz="1420" dirty="0"/>
          </a:p>
        </p:txBody>
      </p:sp>
      <p:sp>
        <p:nvSpPr>
          <p:cNvPr id="27" name="Text 20"/>
          <p:cNvSpPr/>
          <p:nvPr/>
        </p:nvSpPr>
        <p:spPr>
          <a:xfrm>
            <a:off x="9637776"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gets a reference number</a:t>
            </a:r>
            <a:endParaRPr lang="en-US" sz="1150" dirty="0"/>
          </a:p>
        </p:txBody>
      </p:sp>
      <p:sp>
        <p:nvSpPr>
          <p:cNvPr id="28" name="Shape 21"/>
          <p:cNvSpPr/>
          <p:nvPr/>
        </p:nvSpPr>
        <p:spPr>
          <a:xfrm>
            <a:off x="685800" y="5669280"/>
            <a:ext cx="11027664" cy="475488"/>
          </a:xfrm>
          <a:prstGeom prst="roundRect">
            <a:avLst>
              <a:gd name="adj" fmla="val 17308"/>
            </a:avLst>
          </a:prstGeom>
          <a:solidFill>
            <a:srgbClr val="ECEAF6"/>
          </a:solidFill>
          <a:ln w="12700">
            <a:solidFill>
              <a:srgbClr val="ECEAF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914400" y="5742432"/>
            <a:ext cx="320040" cy="320040"/>
          </a:xfrm>
          <a:prstGeom prst="rect">
            <a:avLst/>
          </a:prstGeom>
        </p:spPr>
      </p:pic>
      <p:sp>
        <p:nvSpPr>
          <p:cNvPr id="30" name="Text 22"/>
          <p:cNvSpPr/>
          <p:nvPr/>
        </p:nvSpPr>
        <p:spPr>
          <a:xfrm>
            <a:off x="1371600" y="5733288"/>
            <a:ext cx="9875520" cy="310896"/>
          </a:xfrm>
          <a:prstGeom prst="rect">
            <a:avLst/>
          </a:prstGeom>
          <a:noFill/>
          <a:ln/>
        </p:spPr>
        <p:txBody>
          <a:bodyPr wrap="square" lIns="0" tIns="0" rIns="0" bIns="0" rtlCol="0" anchor="ctr">
            <a:normAutofit/>
          </a:bodyPr>
          <a:lstStyle/>
          <a:p>
            <a:pPr marL="0" indent="0">
              <a:buNone/>
            </a:pPr>
            <a:r>
              <a:rPr lang="en-US" sz="1120" b="1" dirty="0">
                <a:solidFill>
                  <a:srgbClr val="684189"/>
                </a:solidFill>
                <a:latin typeface="Segoe UI Semibold" pitchFamily="34" charset="0"/>
                <a:ea typeface="Segoe UI Semibold" pitchFamily="34" charset="-122"/>
                <a:cs typeface="Segoe UI Semibold" pitchFamily="34" charset="-120"/>
              </a:rPr>
              <a:t>Optional:  a supported AI Builder model extracts fields after submission — validated before use.</a:t>
            </a:r>
            <a:endParaRPr lang="en-US" sz="11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Choose by audience, ownership model, data boundary, and required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and external audiences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Business processes need automation · Multiple data sources and systems · An agent for employees, citizens, or customers</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are required · Advanced model and orchestration control · Professional development teams own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3732</TotalTime>
  <Words>1531</Words>
  <Application>Microsoft Office PowerPoint</Application>
  <PresentationFormat>Widescreen</PresentationFormat>
  <Paragraphs>187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20</cp:revision>
  <dcterms:created xsi:type="dcterms:W3CDTF">2026-07-29T22:18:20Z</dcterms:created>
  <dcterms:modified xsi:type="dcterms:W3CDTF">2026-08-03T01:38:43Z</dcterms:modified>
</cp:coreProperties>
</file>