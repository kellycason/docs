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94" r:id="rId6"/>
    <p:sldId id="263" r:id="rId7"/>
    <p:sldId id="264" r:id="rId8"/>
    <p:sldId id="295"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79" d="100"/>
          <a:sy n="79" d="100"/>
        </p:scale>
        <p:origin x="92" y="4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dirty="0"/>
          </a:p>
          <a:p>
            <a:r>
              <a:rPr dirty="0"/>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questions to open discussion. Handoff to the Foundry presenter: when the requirement shifts to custom models or code-first orchestration, Microsoft Foundry becomes the starting point or the specialized service behind the Copilot Studio agent. Close on the better-together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sv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svg"/><Relationship Id="rId15" Type="http://schemas.openxmlformats.org/officeDocument/2006/relationships/image" Target="../media/image23.png"/><Relationship Id="rId10" Type="http://schemas.openxmlformats.org/officeDocument/2006/relationships/image" Target="../media/image18.svg"/><Relationship Id="rId19" Type="http://schemas.openxmlformats.org/officeDocument/2006/relationships/image" Target="../media/image27.pn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EMPLOYEE ONBOARDING</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Accelerating Employee Onboarding with M365 Copilot</a:t>
            </a:r>
            <a:endParaRPr lang="en-US" sz="2500" dirty="0"/>
          </a:p>
        </p:txBody>
      </p:sp>
      <p:sp>
        <p:nvSpPr>
          <p:cNvPr id="4" name="Text 2"/>
          <p:cNvSpPr/>
          <p:nvPr/>
        </p:nvSpPr>
        <p:spPr>
          <a:xfrm>
            <a:off x="777240" y="155605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hiring manager moves from onboarding questions to a completed onboarding request without leaving Microsoft 365 Copilot.</a:t>
            </a:r>
            <a:endParaRPr lang="en-US" sz="1320" dirty="0"/>
          </a:p>
        </p:txBody>
      </p:sp>
      <p:sp>
        <p:nvSpPr>
          <p:cNvPr id="8" name="Shape 5"/>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Text 7"/>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a:t>
            </a:r>
            <a:endParaRPr lang="en-US" sz="1450" dirty="0"/>
          </a:p>
        </p:txBody>
      </p:sp>
      <p:sp>
        <p:nvSpPr>
          <p:cNvPr id="12" name="Text 8"/>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Need to onboard a new employee</a:t>
            </a:r>
            <a:endParaRPr lang="en-US" sz="1100" dirty="0"/>
          </a:p>
          <a:p>
            <a:r>
              <a:rPr lang="en-US" sz="900" b="0" dirty="0">
                <a:solidFill>
                  <a:srgbClr val="5B6672"/>
                </a:solidFill>
                <a:latin typeface="Segoe UI" pitchFamily="34" charset="0"/>
                <a:ea typeface="Segoe UI" pitchFamily="34" charset="-122"/>
                <a:cs typeface="Segoe UI" pitchFamily="34" charset="-120"/>
              </a:rPr>
              <a:t>•  Role-specific onboarding guidance</a:t>
            </a:r>
          </a:p>
          <a:p>
            <a:r>
              <a:rPr lang="en-US" sz="900" b="0" dirty="0">
                <a:solidFill>
                  <a:srgbClr val="5B6672"/>
                </a:solidFill>
                <a:latin typeface="Segoe UI" pitchFamily="34" charset="0"/>
                <a:ea typeface="Segoe UI" pitchFamily="34" charset="-122"/>
                <a:cs typeface="Segoe UI" pitchFamily="34" charset="-120"/>
              </a:rPr>
              <a:t>•  Equipment and access requirements</a:t>
            </a:r>
          </a:p>
          <a:p>
            <a:r>
              <a:rPr lang="en-US" sz="900" b="0" dirty="0">
                <a:solidFill>
                  <a:srgbClr val="5B6672"/>
                </a:solidFill>
                <a:latin typeface="Segoe UI" pitchFamily="34" charset="0"/>
                <a:ea typeface="Segoe UI" pitchFamily="34" charset="-122"/>
                <a:cs typeface="Segoe UI" pitchFamily="34" charset="-120"/>
              </a:rPr>
              <a:t>•  Policy questions answered from approved DoIT knowledge</a:t>
            </a:r>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grounded knowledge   •   business action   •   approval workflow   •   status tracking</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pic>
        <p:nvPicPr>
          <p:cNvPr id="27" name="Picture 26" descr="image.png"/>
          <p:cNvPicPr>
            <a:picLocks noChangeAspect="1"/>
          </p:cNvPicPr>
          <p:nvPr/>
        </p:nvPicPr>
        <p:blipFill>
          <a:blip r:embed="rId3"/>
          <a:stretch>
            <a:fillRect/>
          </a:stretch>
        </p:blipFill>
        <p:spPr>
          <a:xfrm>
            <a:off x="3142259" y="2716820"/>
            <a:ext cx="502920" cy="502920"/>
          </a:xfrm>
          <a:prstGeom prst="rect">
            <a:avLst/>
          </a:prstGeom>
        </p:spPr>
      </p:pic>
      <p:grpSp>
        <p:nvGrpSpPr>
          <p:cNvPr id="20" name="Group 19">
            <a:extLst>
              <a:ext uri="{FF2B5EF4-FFF2-40B4-BE49-F238E27FC236}">
                <a16:creationId xmlns:a16="http://schemas.microsoft.com/office/drawing/2014/main" id="{15B7726F-3310-7F4F-EAF8-CFAAA9692C0E}"/>
              </a:ext>
            </a:extLst>
          </p:cNvPr>
          <p:cNvGrpSpPr/>
          <p:nvPr/>
        </p:nvGrpSpPr>
        <p:grpSpPr>
          <a:xfrm>
            <a:off x="4321835" y="2460788"/>
            <a:ext cx="3337560" cy="2514600"/>
            <a:chOff x="4321835" y="2460788"/>
            <a:chExt cx="3337560" cy="2514600"/>
          </a:xfrm>
        </p:grpSpPr>
        <p:sp>
          <p:nvSpPr>
            <p:cNvPr id="13" name="Shape 9"/>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sp>
          <p:nvSpPr>
            <p:cNvPr id="16" name="Text 1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Act</a:t>
              </a:r>
              <a:endParaRPr lang="en-US" sz="1450" dirty="0"/>
            </a:p>
          </p:txBody>
        </p:sp>
        <p:sp>
          <p:nvSpPr>
            <p:cNvPr id="17" name="Text 12"/>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Create and route the onboarding request</a:t>
              </a:r>
              <a:endParaRPr lang="en-US" sz="1100" dirty="0"/>
            </a:p>
            <a:p>
              <a:r>
                <a:rPr lang="en-US" sz="900" b="0" dirty="0">
                  <a:solidFill>
                    <a:srgbClr val="5B6672"/>
                  </a:solidFill>
                  <a:latin typeface="Segoe UI" pitchFamily="34" charset="0"/>
                  <a:ea typeface="Segoe UI" pitchFamily="34" charset="-122"/>
                  <a:cs typeface="Segoe UI" pitchFamily="34" charset="-120"/>
                </a:rPr>
                <a:t>•  Build recommended equipment package</a:t>
              </a:r>
            </a:p>
            <a:p>
              <a:r>
                <a:rPr lang="en-US" sz="900" b="0" dirty="0">
                  <a:solidFill>
                    <a:srgbClr val="5B6672"/>
                  </a:solidFill>
                  <a:latin typeface="Segoe UI" pitchFamily="34" charset="0"/>
                  <a:ea typeface="Segoe UI" pitchFamily="34" charset="-122"/>
                  <a:cs typeface="Segoe UI" pitchFamily="34" charset="-120"/>
                </a:rPr>
                <a:t>•  Calculate costs automatically</a:t>
              </a:r>
            </a:p>
            <a:p>
              <a:r>
                <a:rPr lang="en-US" sz="900" b="0" dirty="0">
                  <a:solidFill>
                    <a:srgbClr val="5B6672"/>
                  </a:solidFill>
                  <a:latin typeface="Segoe UI" pitchFamily="34" charset="0"/>
                  <a:ea typeface="Segoe UI" pitchFamily="34" charset="-122"/>
                  <a:cs typeface="Segoe UI" pitchFamily="34" charset="-120"/>
                </a:rPr>
                <a:t>•  Trigger approval workflows</a:t>
              </a:r>
            </a:p>
          </p:txBody>
        </p:sp>
        <p:pic>
          <p:nvPicPr>
            <p:cNvPr id="28" name="Picture 27" descr="image.png"/>
            <p:cNvPicPr>
              <a:picLocks noChangeAspect="1"/>
            </p:cNvPicPr>
            <p:nvPr/>
          </p:nvPicPr>
          <p:blipFill>
            <a:blip r:embed="rId4"/>
            <a:stretch>
              <a:fillRect/>
            </a:stretch>
          </p:blipFill>
          <p:spPr>
            <a:xfrm>
              <a:off x="6836435" y="2716820"/>
              <a:ext cx="502920" cy="502920"/>
            </a:xfrm>
            <a:prstGeom prst="rect">
              <a:avLst/>
            </a:prstGeom>
          </p:spPr>
        </p:pic>
      </p:grpSp>
      <p:grpSp>
        <p:nvGrpSpPr>
          <p:cNvPr id="30" name="Group 29">
            <a:extLst>
              <a:ext uri="{FF2B5EF4-FFF2-40B4-BE49-F238E27FC236}">
                <a16:creationId xmlns:a16="http://schemas.microsoft.com/office/drawing/2014/main" id="{0ADF81A1-D6AB-47D7-96A4-5C567AFDE0F4}"/>
              </a:ext>
            </a:extLst>
          </p:cNvPr>
          <p:cNvGrpSpPr/>
          <p:nvPr/>
        </p:nvGrpSpPr>
        <p:grpSpPr>
          <a:xfrm>
            <a:off x="8016011" y="2460788"/>
            <a:ext cx="3337560" cy="2514600"/>
            <a:chOff x="8016011" y="2460788"/>
            <a:chExt cx="3337560" cy="2514600"/>
          </a:xfrm>
        </p:grpSpPr>
        <p:sp>
          <p:nvSpPr>
            <p:cNvPr id="18" name="Shape 13"/>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sp>
          <p:nvSpPr>
            <p:cNvPr id="21" name="Text 15"/>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22" name="Text 16"/>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Monitor progress through completion</a:t>
              </a:r>
              <a:endParaRPr lang="en-US" sz="1100" dirty="0"/>
            </a:p>
            <a:p>
              <a:r>
                <a:rPr lang="en-US" sz="900" b="0" dirty="0">
                  <a:solidFill>
                    <a:srgbClr val="5B6672"/>
                  </a:solidFill>
                  <a:latin typeface="Segoe UI" pitchFamily="34" charset="0"/>
                  <a:ea typeface="Segoe UI" pitchFamily="34" charset="-122"/>
                  <a:cs typeface="Segoe UI" pitchFamily="34" charset="-120"/>
                </a:rPr>
                <a:t>•  Approval status</a:t>
              </a:r>
            </a:p>
            <a:p>
              <a:r>
                <a:rPr lang="en-US" sz="900" b="0" dirty="0">
                  <a:solidFill>
                    <a:srgbClr val="5B6672"/>
                  </a:solidFill>
                  <a:latin typeface="Segoe UI" pitchFamily="34" charset="0"/>
                  <a:ea typeface="Segoe UI" pitchFamily="34" charset="-122"/>
                  <a:cs typeface="Segoe UI" pitchFamily="34" charset="-120"/>
                </a:rPr>
                <a:t>•  Fulfillment updates</a:t>
              </a:r>
            </a:p>
            <a:p>
              <a:r>
                <a:rPr lang="en-US" sz="900" b="0" dirty="0">
                  <a:solidFill>
                    <a:srgbClr val="5B6672"/>
                  </a:solidFill>
                  <a:latin typeface="Segoe UI" pitchFamily="34" charset="0"/>
                  <a:ea typeface="Segoe UI" pitchFamily="34" charset="-122"/>
                  <a:cs typeface="Segoe UI" pitchFamily="34" charset="-120"/>
                </a:rPr>
                <a:t>•  Estimated completion dates</a:t>
              </a:r>
            </a:p>
          </p:txBody>
        </p:sp>
        <p:pic>
          <p:nvPicPr>
            <p:cNvPr id="7" name="Picture 6">
              <a:extLst>
                <a:ext uri="{FF2B5EF4-FFF2-40B4-BE49-F238E27FC236}">
                  <a16:creationId xmlns:a16="http://schemas.microsoft.com/office/drawing/2014/main" id="{E446DEFD-F067-8E35-EDC4-54424127E51D}"/>
                </a:ext>
              </a:extLst>
            </p:cNvPr>
            <p:cNvPicPr>
              <a:picLocks noChangeAspect="1"/>
            </p:cNvPicPr>
            <p:nvPr/>
          </p:nvPicPr>
          <p:blipFill>
            <a:blip r:embed="rId5"/>
            <a:stretch>
              <a:fillRect/>
            </a:stretch>
          </p:blipFill>
          <p:spPr>
            <a:xfrm>
              <a:off x="10716541" y="2735108"/>
              <a:ext cx="454150" cy="454150"/>
            </a:xfrm>
            <a:prstGeom prst="rect">
              <a:avLst/>
            </a:prstGeom>
          </p:spPr>
        </p:pic>
      </p:grpSp>
      <p:pic>
        <p:nvPicPr>
          <p:cNvPr id="15" name="Picture 14" descr="image.png">
            <a:extLst>
              <a:ext uri="{FF2B5EF4-FFF2-40B4-BE49-F238E27FC236}">
                <a16:creationId xmlns:a16="http://schemas.microsoft.com/office/drawing/2014/main" id="{1414228F-959F-0DBF-3E38-8C5570913AEE}"/>
              </a:ext>
            </a:extLst>
          </p:cNvPr>
          <p:cNvPicPr>
            <a:picLocks noChangeAspect="1"/>
          </p:cNvPicPr>
          <p:nvPr/>
        </p:nvPicPr>
        <p:blipFill>
          <a:blip r:embed="rId4"/>
          <a:stretch>
            <a:fillRect/>
          </a:stretch>
        </p:blipFill>
        <p:spPr>
          <a:xfrm>
            <a:off x="10885932" y="436444"/>
            <a:ext cx="502920" cy="502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CITIZEN SELF-SERVICE</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A governed public agent guides a resident from question to a confirmed request.</a:t>
            </a:r>
            <a:endParaRPr lang="en-US" sz="24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Same platform patterns as the employee agent — a different, carefully drawn audience boundary.</a:t>
            </a:r>
            <a:endParaRPr lang="en-US" sz="1320" dirty="0"/>
          </a:p>
        </p:txBody>
      </p:sp>
      <p:pic>
        <p:nvPicPr>
          <p:cNvPr id="5" name="Image 0" descr="preencoded.png"/>
          <p:cNvPicPr>
            <a:picLocks noChangeAspect="1"/>
          </p:cNvPicPr>
          <p:nvPr/>
        </p:nvPicPr>
        <p:blipFill>
          <a:blip r:embed="rId3"/>
          <a:stretch>
            <a:fillRect/>
          </a:stretch>
        </p:blipFill>
        <p:spPr>
          <a:xfrm>
            <a:off x="9802368" y="438912"/>
            <a:ext cx="384048" cy="384048"/>
          </a:xfrm>
          <a:prstGeom prst="rect">
            <a:avLst/>
          </a:prstGeom>
        </p:spPr>
      </p:pic>
      <p:sp>
        <p:nvSpPr>
          <p:cNvPr id="6" name="Shape 3"/>
          <p:cNvSpPr/>
          <p:nvPr/>
        </p:nvSpPr>
        <p:spPr>
          <a:xfrm>
            <a:off x="10405872" y="484632"/>
            <a:ext cx="96012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7" name="Text 4"/>
          <p:cNvSpPr/>
          <p:nvPr/>
        </p:nvSpPr>
        <p:spPr>
          <a:xfrm>
            <a:off x="10405872" y="493776"/>
            <a:ext cx="96012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RECORDED</a:t>
            </a:r>
            <a:endParaRPr lang="en-US" sz="980" dirty="0"/>
          </a:p>
        </p:txBody>
      </p:sp>
      <p:sp>
        <p:nvSpPr>
          <p:cNvPr id="8" name="Shape 5"/>
          <p:cNvSpPr/>
          <p:nvPr/>
        </p:nvSpPr>
        <p:spPr>
          <a:xfrm>
            <a:off x="685800"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1832"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0078D4"/>
                </a:solidFill>
                <a:latin typeface="Segoe UI Semibold" pitchFamily="34" charset="0"/>
                <a:ea typeface="Segoe UI Semibold" pitchFamily="34" charset="-122"/>
                <a:cs typeface="Segoe UI Semibold" pitchFamily="34" charset="-120"/>
              </a:rPr>
              <a:t>1</a:t>
            </a:r>
            <a:endParaRPr lang="en-US" sz="2800" dirty="0"/>
          </a:p>
        </p:txBody>
      </p:sp>
      <p:pic>
        <p:nvPicPr>
          <p:cNvPr id="10" name="Image 1" descr="preencoded.png"/>
          <p:cNvPicPr>
            <a:picLocks noChangeAspect="1"/>
          </p:cNvPicPr>
          <p:nvPr/>
        </p:nvPicPr>
        <p:blipFill>
          <a:blip r:embed="rId4"/>
          <a:stretch>
            <a:fillRect/>
          </a:stretch>
        </p:blipFill>
        <p:spPr>
          <a:xfrm>
            <a:off x="2221992" y="3127248"/>
            <a:ext cx="530352" cy="530352"/>
          </a:xfrm>
          <a:prstGeom prst="rect">
            <a:avLst/>
          </a:prstGeom>
        </p:spPr>
      </p:pic>
      <p:sp>
        <p:nvSpPr>
          <p:cNvPr id="11" name="Text 7"/>
          <p:cNvSpPr/>
          <p:nvPr/>
        </p:nvSpPr>
        <p:spPr>
          <a:xfrm>
            <a:off x="941832"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Describe the need</a:t>
            </a:r>
            <a:endParaRPr lang="en-US" sz="1420" dirty="0"/>
          </a:p>
        </p:txBody>
      </p:sp>
      <p:sp>
        <p:nvSpPr>
          <p:cNvPr id="12" name="Text 8"/>
          <p:cNvSpPr/>
          <p:nvPr/>
        </p:nvSpPr>
        <p:spPr>
          <a:xfrm>
            <a:off x="941832"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explains it in plain language</a:t>
            </a:r>
            <a:endParaRPr lang="en-US" sz="1150" dirty="0"/>
          </a:p>
        </p:txBody>
      </p:sp>
      <p:sp>
        <p:nvSpPr>
          <p:cNvPr id="13" name="Shape 9"/>
          <p:cNvSpPr/>
          <p:nvPr/>
        </p:nvSpPr>
        <p:spPr>
          <a:xfrm>
            <a:off x="3584448"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3840480"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8661C5"/>
                </a:solidFill>
                <a:latin typeface="Segoe UI Semibold" pitchFamily="34" charset="0"/>
                <a:ea typeface="Segoe UI Semibold" pitchFamily="34" charset="-122"/>
                <a:cs typeface="Segoe UI Semibold" pitchFamily="34" charset="-120"/>
              </a:rPr>
              <a:t>2</a:t>
            </a:r>
            <a:endParaRPr lang="en-US" sz="2800" dirty="0"/>
          </a:p>
        </p:txBody>
      </p:sp>
      <p:pic>
        <p:nvPicPr>
          <p:cNvPr id="15" name="Image 2" descr="preencoded.png"/>
          <p:cNvPicPr>
            <a:picLocks noChangeAspect="1"/>
          </p:cNvPicPr>
          <p:nvPr/>
        </p:nvPicPr>
        <p:blipFill>
          <a:blip r:embed="rId5"/>
          <a:stretch>
            <a:fillRect/>
          </a:stretch>
        </p:blipFill>
        <p:spPr>
          <a:xfrm>
            <a:off x="5120640" y="3127248"/>
            <a:ext cx="530352" cy="530352"/>
          </a:xfrm>
          <a:prstGeom prst="rect">
            <a:avLst/>
          </a:prstGeom>
        </p:spPr>
      </p:pic>
      <p:sp>
        <p:nvSpPr>
          <p:cNvPr id="16" name="Text 11"/>
          <p:cNvSpPr/>
          <p:nvPr/>
        </p:nvSpPr>
        <p:spPr>
          <a:xfrm>
            <a:off x="3840480"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Navigate the service</a:t>
            </a:r>
            <a:endParaRPr lang="en-US" sz="1420" dirty="0"/>
          </a:p>
        </p:txBody>
      </p:sp>
      <p:sp>
        <p:nvSpPr>
          <p:cNvPr id="17" name="Text 12"/>
          <p:cNvSpPr/>
          <p:nvPr/>
        </p:nvSpPr>
        <p:spPr>
          <a:xfrm>
            <a:off x="3840480"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Approved public guidance finds the next step</a:t>
            </a:r>
            <a:endParaRPr lang="en-US" sz="1150" dirty="0"/>
          </a:p>
        </p:txBody>
      </p:sp>
      <p:sp>
        <p:nvSpPr>
          <p:cNvPr id="18" name="Shape 13"/>
          <p:cNvSpPr/>
          <p:nvPr/>
        </p:nvSpPr>
        <p:spPr>
          <a:xfrm>
            <a:off x="6483096"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6739128"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C03BC4"/>
                </a:solidFill>
                <a:latin typeface="Segoe UI Semibold" pitchFamily="34" charset="0"/>
                <a:ea typeface="Segoe UI Semibold" pitchFamily="34" charset="-122"/>
                <a:cs typeface="Segoe UI Semibold" pitchFamily="34" charset="-120"/>
              </a:rPr>
              <a:t>3</a:t>
            </a:r>
            <a:endParaRPr lang="en-US" sz="2800" dirty="0"/>
          </a:p>
        </p:txBody>
      </p:sp>
      <p:pic>
        <p:nvPicPr>
          <p:cNvPr id="20" name="Image 3" descr="preencoded.png"/>
          <p:cNvPicPr>
            <a:picLocks noChangeAspect="1"/>
          </p:cNvPicPr>
          <p:nvPr/>
        </p:nvPicPr>
        <p:blipFill>
          <a:blip r:embed="rId6"/>
          <a:stretch>
            <a:fillRect/>
          </a:stretch>
        </p:blipFill>
        <p:spPr>
          <a:xfrm>
            <a:off x="8019288" y="3127248"/>
            <a:ext cx="530352" cy="530352"/>
          </a:xfrm>
          <a:prstGeom prst="rect">
            <a:avLst/>
          </a:prstGeom>
        </p:spPr>
      </p:pic>
      <p:sp>
        <p:nvSpPr>
          <p:cNvPr id="21" name="Text 15"/>
          <p:cNvSpPr/>
          <p:nvPr/>
        </p:nvSpPr>
        <p:spPr>
          <a:xfrm>
            <a:off x="6739128"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Create the request</a:t>
            </a:r>
            <a:endParaRPr lang="en-US" sz="1420" dirty="0"/>
          </a:p>
        </p:txBody>
      </p:sp>
      <p:sp>
        <p:nvSpPr>
          <p:cNvPr id="22" name="Text 16"/>
          <p:cNvSpPr/>
          <p:nvPr/>
        </p:nvSpPr>
        <p:spPr>
          <a:xfrm>
            <a:off x="6739128"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 governed flow writes to the service system</a:t>
            </a:r>
            <a:endParaRPr lang="en-US" sz="1150" dirty="0"/>
          </a:p>
        </p:txBody>
      </p:sp>
      <p:sp>
        <p:nvSpPr>
          <p:cNvPr id="23" name="Shape 17"/>
          <p:cNvSpPr/>
          <p:nvPr/>
        </p:nvSpPr>
        <p:spPr>
          <a:xfrm>
            <a:off x="9381744"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24" name="Text 18"/>
          <p:cNvSpPr/>
          <p:nvPr/>
        </p:nvSpPr>
        <p:spPr>
          <a:xfrm>
            <a:off x="9637776"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FF5C39"/>
                </a:solidFill>
                <a:latin typeface="Segoe UI Semibold" pitchFamily="34" charset="0"/>
                <a:ea typeface="Segoe UI Semibold" pitchFamily="34" charset="-122"/>
                <a:cs typeface="Segoe UI Semibold" pitchFamily="34" charset="-120"/>
              </a:rPr>
              <a:t>4</a:t>
            </a:r>
            <a:endParaRPr lang="en-US" sz="2800" dirty="0"/>
          </a:p>
        </p:txBody>
      </p:sp>
      <p:pic>
        <p:nvPicPr>
          <p:cNvPr id="25" name="Image 4" descr="preencoded.png"/>
          <p:cNvPicPr>
            <a:picLocks noChangeAspect="1"/>
          </p:cNvPicPr>
          <p:nvPr/>
        </p:nvPicPr>
        <p:blipFill>
          <a:blip r:embed="rId7"/>
          <a:stretch>
            <a:fillRect/>
          </a:stretch>
        </p:blipFill>
        <p:spPr>
          <a:xfrm>
            <a:off x="10917936" y="3127248"/>
            <a:ext cx="530352" cy="530352"/>
          </a:xfrm>
          <a:prstGeom prst="rect">
            <a:avLst/>
          </a:prstGeom>
        </p:spPr>
      </p:pic>
      <p:sp>
        <p:nvSpPr>
          <p:cNvPr id="26" name="Text 19"/>
          <p:cNvSpPr/>
          <p:nvPr/>
        </p:nvSpPr>
        <p:spPr>
          <a:xfrm>
            <a:off x="9637776"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Confirm &amp; track</a:t>
            </a:r>
            <a:endParaRPr lang="en-US" sz="1420" dirty="0"/>
          </a:p>
        </p:txBody>
      </p:sp>
      <p:sp>
        <p:nvSpPr>
          <p:cNvPr id="27" name="Text 20"/>
          <p:cNvSpPr/>
          <p:nvPr/>
        </p:nvSpPr>
        <p:spPr>
          <a:xfrm>
            <a:off x="9637776"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gets a reference number</a:t>
            </a:r>
            <a:endParaRPr lang="en-US" sz="1150" dirty="0"/>
          </a:p>
        </p:txBody>
      </p:sp>
      <p:sp>
        <p:nvSpPr>
          <p:cNvPr id="28" name="Shape 21"/>
          <p:cNvSpPr/>
          <p:nvPr/>
        </p:nvSpPr>
        <p:spPr>
          <a:xfrm>
            <a:off x="685800" y="5669280"/>
            <a:ext cx="11027664" cy="475488"/>
          </a:xfrm>
          <a:prstGeom prst="roundRect">
            <a:avLst>
              <a:gd name="adj" fmla="val 17308"/>
            </a:avLst>
          </a:prstGeom>
          <a:solidFill>
            <a:srgbClr val="ECEAF6"/>
          </a:solidFill>
          <a:ln w="12700">
            <a:solidFill>
              <a:srgbClr val="ECEAF6"/>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914400" y="5742432"/>
            <a:ext cx="320040" cy="320040"/>
          </a:xfrm>
          <a:prstGeom prst="rect">
            <a:avLst/>
          </a:prstGeom>
        </p:spPr>
      </p:pic>
      <p:sp>
        <p:nvSpPr>
          <p:cNvPr id="30" name="Text 22"/>
          <p:cNvSpPr/>
          <p:nvPr/>
        </p:nvSpPr>
        <p:spPr>
          <a:xfrm>
            <a:off x="1371600" y="5733288"/>
            <a:ext cx="9875520" cy="310896"/>
          </a:xfrm>
          <a:prstGeom prst="rect">
            <a:avLst/>
          </a:prstGeom>
          <a:noFill/>
          <a:ln/>
        </p:spPr>
        <p:txBody>
          <a:bodyPr wrap="square" lIns="0" tIns="0" rIns="0" bIns="0" rtlCol="0" anchor="ctr">
            <a:normAutofit/>
          </a:bodyPr>
          <a:lstStyle/>
          <a:p>
            <a:pPr marL="0" indent="0">
              <a:buNone/>
            </a:pPr>
            <a:r>
              <a:rPr lang="en-US" sz="1120" b="1" dirty="0">
                <a:solidFill>
                  <a:srgbClr val="684189"/>
                </a:solidFill>
                <a:latin typeface="Segoe UI Semibold" pitchFamily="34" charset="0"/>
                <a:ea typeface="Segoe UI Semibold" pitchFamily="34" charset="-122"/>
                <a:cs typeface="Segoe UI Semibold" pitchFamily="34" charset="-120"/>
              </a:rPr>
              <a:t>Optional:  a supported AI Builder model extracts fields after submission — validated before use.</a:t>
            </a:r>
            <a:endParaRPr lang="en-US" sz="11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Each technology serves a different purpose, audience, and level of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customers, citizens, and partners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Automate business processes with actions, tools, and Agent Flows that connect to other systems · Orchestrate connected agents across a workflow</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and services are required · Advanced control over models, orchestration, and data is needed · Professional engineering teams own and operate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85800"/>
            <a:ext cx="438912" cy="438912"/>
          </a:xfrm>
          <a:prstGeom prst="rect">
            <a:avLst/>
          </a:prstGeom>
        </p:spPr>
      </p:pic>
      <p:sp>
        <p:nvSpPr>
          <p:cNvPr id="5" name="Text 0"/>
          <p:cNvSpPr/>
          <p:nvPr/>
        </p:nvSpPr>
        <p:spPr>
          <a:xfrm>
            <a:off x="1389888" y="758952"/>
            <a:ext cx="3657600" cy="256032"/>
          </a:xfrm>
          <a:prstGeom prst="rect">
            <a:avLst/>
          </a:prstGeom>
          <a:noFill/>
          <a:ln/>
        </p:spPr>
        <p:txBody>
          <a:bodyPr wrap="square" lIns="0" tIns="0" rIns="0" bIns="0" rtlCol="0" anchor="ctr">
            <a:normAutofit/>
          </a:bodyPr>
          <a:lstStyle/>
          <a:p>
            <a:pPr marL="0" indent="0">
              <a:buNone/>
            </a:pPr>
            <a:r>
              <a:rPr lang="en-US" sz="1200" b="1" kern="0" spc="100" dirty="0">
                <a:solidFill>
                  <a:srgbClr val="8DC8E8"/>
                </a:solidFill>
                <a:latin typeface="Segoe UI Semibold" pitchFamily="34" charset="0"/>
                <a:ea typeface="Segoe UI Semibold" pitchFamily="34" charset="-122"/>
                <a:cs typeface="Segoe UI Semibold" pitchFamily="34" charset="-120"/>
              </a:rPr>
              <a:t>DISCUSSION  ·  18:00–25:00</a:t>
            </a:r>
            <a:endParaRPr lang="en-US" sz="1200" dirty="0"/>
          </a:p>
        </p:txBody>
      </p:sp>
      <p:sp>
        <p:nvSpPr>
          <p:cNvPr id="6" name="Text 1"/>
          <p:cNvSpPr/>
          <p:nvPr/>
        </p:nvSpPr>
        <p:spPr>
          <a:xfrm>
            <a:off x="777240" y="1389888"/>
            <a:ext cx="9692640" cy="62179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Segoe UI Semibold" pitchFamily="34" charset="0"/>
                <a:ea typeface="Segoe UI Semibold" pitchFamily="34" charset="-122"/>
                <a:cs typeface="Segoe UI Semibold" pitchFamily="34" charset="-120"/>
              </a:rPr>
              <a:t>Discussion, product handoffs &amp; Q&amp;A</a:t>
            </a:r>
            <a:endParaRPr lang="en-US" sz="3100" dirty="0"/>
          </a:p>
        </p:txBody>
      </p:sp>
      <p:sp>
        <p:nvSpPr>
          <p:cNvPr id="7" name="Shape 2"/>
          <p:cNvSpPr/>
          <p:nvPr/>
        </p:nvSpPr>
        <p:spPr>
          <a:xfrm>
            <a:off x="822960" y="2679192"/>
            <a:ext cx="109728" cy="109728"/>
          </a:xfrm>
          <a:prstGeom prst="ellipse">
            <a:avLst/>
          </a:prstGeom>
          <a:solidFill>
            <a:srgbClr val="0078D4"/>
          </a:solidFill>
          <a:ln w="12700">
            <a:solidFill>
              <a:srgbClr val="0078D4"/>
            </a:solidFill>
            <a:prstDash val="solid"/>
          </a:ln>
        </p:spPr>
        <p:txBody>
          <a:bodyPr/>
          <a:lstStyle/>
          <a:p>
            <a:endParaRPr lang="en-US"/>
          </a:p>
        </p:txBody>
      </p:sp>
      <p:sp>
        <p:nvSpPr>
          <p:cNvPr id="8" name="Text 3"/>
          <p:cNvSpPr/>
          <p:nvPr/>
        </p:nvSpPr>
        <p:spPr>
          <a:xfrm>
            <a:off x="1051560" y="2587752"/>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Where is your center of gravity today — and where should it be?</a:t>
            </a:r>
            <a:endParaRPr lang="en-US" sz="1500" dirty="0"/>
          </a:p>
        </p:txBody>
      </p:sp>
      <p:sp>
        <p:nvSpPr>
          <p:cNvPr id="9" name="Shape 4"/>
          <p:cNvSpPr/>
          <p:nvPr/>
        </p:nvSpPr>
        <p:spPr>
          <a:xfrm>
            <a:off x="822960" y="3209544"/>
            <a:ext cx="109728" cy="109728"/>
          </a:xfrm>
          <a:prstGeom prst="ellipse">
            <a:avLst/>
          </a:prstGeom>
          <a:solidFill>
            <a:srgbClr val="8661C5"/>
          </a:solidFill>
          <a:ln w="12700">
            <a:solidFill>
              <a:srgbClr val="8661C5"/>
            </a:solidFill>
            <a:prstDash val="solid"/>
          </a:ln>
        </p:spPr>
        <p:txBody>
          <a:bodyPr/>
          <a:lstStyle/>
          <a:p>
            <a:endParaRPr lang="en-US"/>
          </a:p>
        </p:txBody>
      </p:sp>
      <p:sp>
        <p:nvSpPr>
          <p:cNvPr id="10" name="Text 5"/>
          <p:cNvSpPr/>
          <p:nvPr/>
        </p:nvSpPr>
        <p:spPr>
          <a:xfrm>
            <a:off x="1051560" y="3118104"/>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Which process deserves your first agent?</a:t>
            </a:r>
            <a:endParaRPr lang="en-US" sz="1500" dirty="0"/>
          </a:p>
        </p:txBody>
      </p:sp>
      <p:sp>
        <p:nvSpPr>
          <p:cNvPr id="11" name="Shape 6"/>
          <p:cNvSpPr/>
          <p:nvPr/>
        </p:nvSpPr>
        <p:spPr>
          <a:xfrm>
            <a:off x="822960" y="3739896"/>
            <a:ext cx="109728" cy="109728"/>
          </a:xfrm>
          <a:prstGeom prst="ellipse">
            <a:avLst/>
          </a:prstGeom>
          <a:solidFill>
            <a:srgbClr val="C03BC4"/>
          </a:solidFill>
          <a:ln w="12700">
            <a:solidFill>
              <a:srgbClr val="C03BC4"/>
            </a:solidFill>
            <a:prstDash val="solid"/>
          </a:ln>
        </p:spPr>
        <p:txBody>
          <a:bodyPr/>
          <a:lstStyle/>
          <a:p>
            <a:endParaRPr lang="en-US"/>
          </a:p>
        </p:txBody>
      </p:sp>
      <p:sp>
        <p:nvSpPr>
          <p:cNvPr id="12" name="Text 7"/>
          <p:cNvSpPr/>
          <p:nvPr/>
        </p:nvSpPr>
        <p:spPr>
          <a:xfrm>
            <a:off x="1051560" y="3648456"/>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What must “governed” mean for your audience?</a:t>
            </a:r>
            <a:endParaRPr lang="en-US" sz="1500" dirty="0"/>
          </a:p>
        </p:txBody>
      </p:sp>
      <p:sp>
        <p:nvSpPr>
          <p:cNvPr id="13" name="Text 8"/>
          <p:cNvSpPr/>
          <p:nvPr/>
        </p:nvSpPr>
        <p:spPr>
          <a:xfrm>
            <a:off x="786384" y="4754880"/>
            <a:ext cx="8778240" cy="713232"/>
          </a:xfrm>
          <a:prstGeom prst="rect">
            <a:avLst/>
          </a:prstGeom>
          <a:noFill/>
          <a:ln/>
        </p:spPr>
        <p:txBody>
          <a:bodyPr wrap="square" lIns="0" tIns="0" rIns="0" bIns="0" rtlCol="0" anchor="ctr">
            <a:normAutofit/>
          </a:bodyPr>
          <a:lstStyle/>
          <a:p>
            <a:pPr marL="0" indent="0">
              <a:buNone/>
            </a:pPr>
            <a:r>
              <a:rPr lang="en-US" sz="1150" dirty="0">
                <a:solidFill>
                  <a:srgbClr val="C8D8E5"/>
                </a:solidFill>
                <a:latin typeface="Segoe UI" pitchFamily="34" charset="0"/>
                <a:ea typeface="Segoe UI" pitchFamily="34" charset="-122"/>
                <a:cs typeface="Segoe UI" pitchFamily="34" charset="-120"/>
              </a:rPr>
              <a:t>Handoff: when the need shifts to custom models or code-first orchestration, Microsoft Foundry becomes the starting point — or the specialized service behind your Studio agent.</a:t>
            </a:r>
            <a:endParaRPr lang="en-US" sz="1150" dirty="0"/>
          </a:p>
        </p:txBody>
      </p:sp>
      <p:sp>
        <p:nvSpPr>
          <p:cNvPr id="14" name="Text 9"/>
          <p:cNvSpPr/>
          <p:nvPr/>
        </p:nvSpPr>
        <p:spPr>
          <a:xfrm>
            <a:off x="786384" y="5961888"/>
            <a:ext cx="8595360" cy="320040"/>
          </a:xfrm>
          <a:prstGeom prst="rect">
            <a:avLst/>
          </a:prstGeom>
          <a:noFill/>
          <a:ln/>
        </p:spPr>
        <p:txBody>
          <a:bodyPr wrap="square" lIns="0" tIns="0" rIns="0" bIns="0" rtlCol="0" anchor="ctr">
            <a:normAutofit/>
          </a:bodyPr>
          <a:lstStyle/>
          <a:p>
            <a:pPr marL="0" indent="0">
              <a:buNone/>
            </a:pPr>
            <a:r>
              <a:rPr lang="en-US" sz="1350" b="1" i="1" dirty="0">
                <a:solidFill>
                  <a:srgbClr val="8DC8E8"/>
                </a:solidFill>
                <a:latin typeface="Segoe UI Semibold" pitchFamily="34" charset="0"/>
                <a:ea typeface="Segoe UI Semibold" pitchFamily="34" charset="-122"/>
                <a:cs typeface="Segoe UI Semibold" pitchFamily="34" charset="-120"/>
              </a:rPr>
              <a:t>Better together — from AI-powered productivity to AI-powered processes.</a:t>
            </a:r>
            <a:endParaRPr lang="en-US" sz="1350" dirty="0"/>
          </a:p>
        </p:txBody>
      </p:sp>
      <p:pic>
        <p:nvPicPr>
          <p:cNvPr id="15" name="Image 3" descr="preencoded.png"/>
          <p:cNvPicPr>
            <a:picLocks noChangeAspect="1"/>
          </p:cNvPicPr>
          <p:nvPr/>
        </p:nvPicPr>
        <p:blipFill>
          <a:blip r:embed="rId6"/>
          <a:stretch>
            <a:fillRect/>
          </a:stretch>
        </p:blipFill>
        <p:spPr>
          <a:xfrm>
            <a:off x="10076688" y="5257800"/>
            <a:ext cx="1024128" cy="1024128"/>
          </a:xfrm>
          <a:prstGeom prst="rect">
            <a:avLst/>
          </a:prstGeom>
        </p:spPr>
      </p:pic>
      <p:sp>
        <p:nvSpPr>
          <p:cNvPr id="16" name="Text 1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7" name="Text 1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3775</TotalTime>
  <Words>1554</Words>
  <Application>Microsoft Office PowerPoint</Application>
  <PresentationFormat>Widescreen</PresentationFormat>
  <Paragraphs>196</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23</cp:revision>
  <dcterms:created xsi:type="dcterms:W3CDTF">2026-07-29T22:18:20Z</dcterms:created>
  <dcterms:modified xsi:type="dcterms:W3CDTF">2026-08-03T02:38:43Z</dcterms:modified>
</cp:coreProperties>
</file>